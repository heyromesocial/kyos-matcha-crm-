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3C603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94360"/>
            <a:ext cx="1920240" cy="603504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/>
        </p:spPr>
      </p:sp>
      <p:pic>
        <p:nvPicPr>
          <p:cNvPr id="3" name="Image 0" descr="/sessions/charming-confident-mayer/mnt/outputs/crm_build/Kyo_s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713232"/>
            <a:ext cx="1645920" cy="44165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40080" y="2331720"/>
            <a:ext cx="10058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B2B Weekly Report</a:t>
            </a:r>
            <a:endParaRPr lang="en-US" sz="4400" dirty="0"/>
          </a:p>
        </p:txBody>
      </p:sp>
      <p:sp>
        <p:nvSpPr>
          <p:cNvPr id="5" name="Text 2"/>
          <p:cNvSpPr/>
          <p:nvPr/>
        </p:nvSpPr>
        <p:spPr>
          <a:xfrm>
            <a:off x="640080" y="333756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D9E4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– 23 August 2026</a:t>
            </a:r>
            <a:endParaRPr lang="en-US" sz="2000" dirty="0"/>
          </a:p>
        </p:txBody>
      </p:sp>
      <p:sp>
        <p:nvSpPr>
          <p:cNvPr id="6" name="Text 3"/>
          <p:cNvSpPr/>
          <p:nvPr/>
        </p:nvSpPr>
        <p:spPr>
          <a:xfrm>
            <a:off x="640080" y="420624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9CB0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THIS WEEK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640080" y="4480560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£6,239</a:t>
            </a:r>
            <a:endParaRPr lang="en-US" sz="2600" dirty="0"/>
          </a:p>
        </p:txBody>
      </p:sp>
      <p:sp>
        <p:nvSpPr>
          <p:cNvPr id="8" name="Text 5"/>
          <p:cNvSpPr/>
          <p:nvPr/>
        </p:nvSpPr>
        <p:spPr>
          <a:xfrm>
            <a:off x="4206240" y="420624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9CB0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MATCHA SHIPPED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4206240" y="4480560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82.1 kg</a:t>
            </a:r>
            <a:endParaRPr lang="en-US" sz="2600" dirty="0"/>
          </a:p>
        </p:txBody>
      </p:sp>
      <p:sp>
        <p:nvSpPr>
          <p:cNvPr id="10" name="Text 7"/>
          <p:cNvSpPr/>
          <p:nvPr/>
        </p:nvSpPr>
        <p:spPr>
          <a:xfrm>
            <a:off x="7772400" y="420624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9CB0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KG GOAL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7772400" y="4480560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72.4%</a:t>
            </a:r>
            <a:endParaRPr lang="en-US" sz="2600" dirty="0"/>
          </a:p>
        </p:txBody>
      </p:sp>
      <p:sp>
        <p:nvSpPr>
          <p:cNvPr id="12" name="Text 9"/>
          <p:cNvSpPr/>
          <p:nvPr/>
        </p:nvSpPr>
        <p:spPr>
          <a:xfrm>
            <a:off x="640080" y="603504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CB0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Wholesale / Café Channel  ·  Prepared from the live Kyos Matcha CRM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029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This Week at a Glance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234440"/>
            <a:ext cx="3520440" cy="2331720"/>
          </a:xfrm>
          <a:prstGeom prst="roundRect">
            <a:avLst>
              <a:gd name="adj" fmla="val 3137"/>
            </a:avLst>
          </a:prstGeom>
          <a:solidFill>
            <a:srgbClr val="F4F7F2"/>
          </a:solidFill>
          <a:ln/>
          <a:effectLst>
            <a:outerShdw sx="100000" sy="100000" kx="0" ky="0" algn="bl" rotWithShape="0" blurRad="101600" dist="25400" dir="5400000">
              <a:srgbClr val="1B3A22">
                <a:alpha val="1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804672" y="1490472"/>
            <a:ext cx="502920" cy="502920"/>
          </a:xfrm>
          <a:prstGeom prst="ellipse">
            <a:avLst/>
          </a:prstGeom>
          <a:solidFill>
            <a:srgbClr val="3C6034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2688" y="1618488"/>
            <a:ext cx="246888" cy="24688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2377440" y="1527048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3C7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▲ 24% vs last wk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804672" y="2148840"/>
            <a:ext cx="300837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6E7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INVOICED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804672" y="2423160"/>
            <a:ext cx="300837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029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£6,239</a:t>
            </a:r>
            <a:endParaRPr lang="en-US" sz="2800" dirty="0"/>
          </a:p>
        </p:txBody>
      </p:sp>
      <p:sp>
        <p:nvSpPr>
          <p:cNvPr id="9" name="Text 6"/>
          <p:cNvSpPr/>
          <p:nvPr/>
        </p:nvSpPr>
        <p:spPr>
          <a:xfrm>
            <a:off x="804672" y="3108960"/>
            <a:ext cx="30083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E7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£5,006 paid · £1,233 outstanding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4389120" y="1234440"/>
            <a:ext cx="3520440" cy="2331720"/>
          </a:xfrm>
          <a:prstGeom prst="roundRect">
            <a:avLst>
              <a:gd name="adj" fmla="val 3137"/>
            </a:avLst>
          </a:prstGeom>
          <a:solidFill>
            <a:srgbClr val="F4F7F2"/>
          </a:solidFill>
          <a:ln/>
          <a:effectLst>
            <a:outerShdw sx="100000" sy="100000" kx="0" ky="0" algn="bl" rotWithShape="0" blurRad="101600" dist="25400" dir="5400000">
              <a:srgbClr val="1B3A22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645152" y="1490472"/>
            <a:ext cx="502920" cy="502920"/>
          </a:xfrm>
          <a:prstGeom prst="ellipse">
            <a:avLst/>
          </a:prstGeom>
          <a:solidFill>
            <a:srgbClr val="3C6034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73168" y="1618488"/>
            <a:ext cx="246888" cy="24688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6217920" y="1527048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3C7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▲ 5.9% vs last wk</a:t>
            </a:r>
            <a:endParaRPr lang="en-US" sz="1000" dirty="0"/>
          </a:p>
        </p:txBody>
      </p:sp>
      <p:sp>
        <p:nvSpPr>
          <p:cNvPr id="14" name="Text 10"/>
          <p:cNvSpPr/>
          <p:nvPr/>
        </p:nvSpPr>
        <p:spPr>
          <a:xfrm>
            <a:off x="4645152" y="2148840"/>
            <a:ext cx="300837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6E7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ORDERS</a:t>
            </a:r>
            <a:endParaRPr lang="en-US" sz="1100" dirty="0"/>
          </a:p>
        </p:txBody>
      </p:sp>
      <p:sp>
        <p:nvSpPr>
          <p:cNvPr id="15" name="Text 11"/>
          <p:cNvSpPr/>
          <p:nvPr/>
        </p:nvSpPr>
        <p:spPr>
          <a:xfrm>
            <a:off x="4645152" y="2423160"/>
            <a:ext cx="300837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029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18</a:t>
            </a:r>
            <a:endParaRPr lang="en-US" sz="2800" dirty="0"/>
          </a:p>
        </p:txBody>
      </p:sp>
      <p:sp>
        <p:nvSpPr>
          <p:cNvPr id="16" name="Text 12"/>
          <p:cNvSpPr/>
          <p:nvPr/>
        </p:nvSpPr>
        <p:spPr>
          <a:xfrm>
            <a:off x="4645152" y="3108960"/>
            <a:ext cx="30083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E7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AOV £347</a:t>
            </a:r>
            <a:endParaRPr lang="en-US" sz="1050" dirty="0"/>
          </a:p>
        </p:txBody>
      </p:sp>
      <p:sp>
        <p:nvSpPr>
          <p:cNvPr id="17" name="Shape 13"/>
          <p:cNvSpPr/>
          <p:nvPr/>
        </p:nvSpPr>
        <p:spPr>
          <a:xfrm>
            <a:off x="8229600" y="1234440"/>
            <a:ext cx="3520440" cy="2331720"/>
          </a:xfrm>
          <a:prstGeom prst="roundRect">
            <a:avLst>
              <a:gd name="adj" fmla="val 3137"/>
            </a:avLst>
          </a:prstGeom>
          <a:solidFill>
            <a:srgbClr val="F4F7F2"/>
          </a:solidFill>
          <a:ln/>
          <a:effectLst>
            <a:outerShdw sx="100000" sy="100000" kx="0" ky="0" algn="bl" rotWithShape="0" blurRad="101600" dist="25400" dir="5400000">
              <a:srgbClr val="1B3A22">
                <a:alpha val="10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8485632" y="1490472"/>
            <a:ext cx="502920" cy="502920"/>
          </a:xfrm>
          <a:prstGeom prst="ellipse">
            <a:avLst/>
          </a:prstGeom>
          <a:solidFill>
            <a:srgbClr val="3C6034"/>
          </a:solidFill>
          <a:ln/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13648" y="1618488"/>
            <a:ext cx="246888" cy="246888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10058400" y="1527048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3C7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▲ 164.3% vs last wk</a:t>
            </a:r>
            <a:endParaRPr lang="en-US" sz="1000" dirty="0"/>
          </a:p>
        </p:txBody>
      </p:sp>
      <p:sp>
        <p:nvSpPr>
          <p:cNvPr id="21" name="Text 16"/>
          <p:cNvSpPr/>
          <p:nvPr/>
        </p:nvSpPr>
        <p:spPr>
          <a:xfrm>
            <a:off x="8485632" y="2148840"/>
            <a:ext cx="300837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6E7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MATCHA SHIPPED</a:t>
            </a:r>
            <a:endParaRPr lang="en-US" sz="1100" dirty="0"/>
          </a:p>
        </p:txBody>
      </p:sp>
      <p:sp>
        <p:nvSpPr>
          <p:cNvPr id="22" name="Text 17"/>
          <p:cNvSpPr/>
          <p:nvPr/>
        </p:nvSpPr>
        <p:spPr>
          <a:xfrm>
            <a:off x="8485632" y="2423160"/>
            <a:ext cx="300837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029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82.1 kg</a:t>
            </a:r>
            <a:endParaRPr lang="en-US" sz="2800" dirty="0"/>
          </a:p>
        </p:txBody>
      </p:sp>
      <p:sp>
        <p:nvSpPr>
          <p:cNvPr id="23" name="Text 18"/>
          <p:cNvSpPr/>
          <p:nvPr/>
        </p:nvSpPr>
        <p:spPr>
          <a:xfrm>
            <a:off x="8485632" y="3108960"/>
            <a:ext cx="30083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E7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Invoiced this week</a:t>
            </a:r>
            <a:endParaRPr lang="en-US" sz="1050" dirty="0"/>
          </a:p>
        </p:txBody>
      </p:sp>
      <p:sp>
        <p:nvSpPr>
          <p:cNvPr id="24" name="Shape 19"/>
          <p:cNvSpPr/>
          <p:nvPr/>
        </p:nvSpPr>
        <p:spPr>
          <a:xfrm>
            <a:off x="548640" y="3886200"/>
            <a:ext cx="3520440" cy="2331720"/>
          </a:xfrm>
          <a:prstGeom prst="roundRect">
            <a:avLst>
              <a:gd name="adj" fmla="val 3137"/>
            </a:avLst>
          </a:prstGeom>
          <a:solidFill>
            <a:srgbClr val="F4F7F2"/>
          </a:solidFill>
          <a:ln/>
          <a:effectLst>
            <a:outerShdw sx="100000" sy="100000" kx="0" ky="0" algn="bl" rotWithShape="0" blurRad="101600" dist="25400" dir="5400000">
              <a:srgbClr val="1B3A22">
                <a:alpha val="10000"/>
              </a:srgbClr>
            </a:outerShdw>
          </a:effectLst>
        </p:spPr>
      </p:sp>
      <p:sp>
        <p:nvSpPr>
          <p:cNvPr id="25" name="Shape 20"/>
          <p:cNvSpPr/>
          <p:nvPr/>
        </p:nvSpPr>
        <p:spPr>
          <a:xfrm>
            <a:off x="804672" y="4142232"/>
            <a:ext cx="502920" cy="502920"/>
          </a:xfrm>
          <a:prstGeom prst="ellipse">
            <a:avLst/>
          </a:prstGeom>
          <a:solidFill>
            <a:srgbClr val="3C6034"/>
          </a:solidFill>
          <a:ln/>
        </p:spPr>
      </p:sp>
      <p:pic>
        <p:nvPicPr>
          <p:cNvPr id="2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2688" y="4270248"/>
            <a:ext cx="246888" cy="246888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804672" y="4800600"/>
            <a:ext cx="300837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6E7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SAMPLES SENT</a:t>
            </a:r>
            <a:endParaRPr lang="en-US" sz="1100" dirty="0"/>
          </a:p>
        </p:txBody>
      </p:sp>
      <p:sp>
        <p:nvSpPr>
          <p:cNvPr id="28" name="Text 22"/>
          <p:cNvSpPr/>
          <p:nvPr/>
        </p:nvSpPr>
        <p:spPr>
          <a:xfrm>
            <a:off x="804672" y="5074920"/>
            <a:ext cx="300837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029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2800" dirty="0"/>
          </a:p>
        </p:txBody>
      </p:sp>
      <p:sp>
        <p:nvSpPr>
          <p:cNvPr id="29" name="Text 23"/>
          <p:cNvSpPr/>
          <p:nvPr/>
        </p:nvSpPr>
        <p:spPr>
          <a:xfrm>
            <a:off x="804672" y="5760720"/>
            <a:ext cx="30083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E7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97 all-time</a:t>
            </a:r>
            <a:endParaRPr lang="en-US" sz="1050" dirty="0"/>
          </a:p>
        </p:txBody>
      </p:sp>
      <p:sp>
        <p:nvSpPr>
          <p:cNvPr id="30" name="Shape 24"/>
          <p:cNvSpPr/>
          <p:nvPr/>
        </p:nvSpPr>
        <p:spPr>
          <a:xfrm>
            <a:off x="4389120" y="3886200"/>
            <a:ext cx="3520440" cy="2331720"/>
          </a:xfrm>
          <a:prstGeom prst="roundRect">
            <a:avLst>
              <a:gd name="adj" fmla="val 3137"/>
            </a:avLst>
          </a:prstGeom>
          <a:solidFill>
            <a:srgbClr val="F4F7F2"/>
          </a:solidFill>
          <a:ln/>
          <a:effectLst>
            <a:outerShdw sx="100000" sy="100000" kx="0" ky="0" algn="bl" rotWithShape="0" blurRad="101600" dist="25400" dir="5400000">
              <a:srgbClr val="1B3A22">
                <a:alpha val="10000"/>
              </a:srgbClr>
            </a:outerShdw>
          </a:effectLst>
        </p:spPr>
      </p:sp>
      <p:sp>
        <p:nvSpPr>
          <p:cNvPr id="31" name="Shape 25"/>
          <p:cNvSpPr/>
          <p:nvPr/>
        </p:nvSpPr>
        <p:spPr>
          <a:xfrm>
            <a:off x="4645152" y="4142232"/>
            <a:ext cx="502920" cy="502920"/>
          </a:xfrm>
          <a:prstGeom prst="ellipse">
            <a:avLst/>
          </a:prstGeom>
          <a:solidFill>
            <a:srgbClr val="3C6034"/>
          </a:solidFill>
          <a:ln/>
        </p:spPr>
      </p:sp>
      <p:pic>
        <p:nvPicPr>
          <p:cNvPr id="3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73168" y="4270248"/>
            <a:ext cx="246888" cy="246888"/>
          </a:xfrm>
          <a:prstGeom prst="rect">
            <a:avLst/>
          </a:prstGeom>
        </p:spPr>
      </p:pic>
      <p:sp>
        <p:nvSpPr>
          <p:cNvPr id="33" name="Text 26"/>
          <p:cNvSpPr/>
          <p:nvPr/>
        </p:nvSpPr>
        <p:spPr>
          <a:xfrm>
            <a:off x="4645152" y="4800600"/>
            <a:ext cx="300837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6E7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CAFÉS ONBOARDED</a:t>
            </a:r>
            <a:endParaRPr lang="en-US" sz="1100" dirty="0"/>
          </a:p>
        </p:txBody>
      </p:sp>
      <p:sp>
        <p:nvSpPr>
          <p:cNvPr id="34" name="Text 27"/>
          <p:cNvSpPr/>
          <p:nvPr/>
        </p:nvSpPr>
        <p:spPr>
          <a:xfrm>
            <a:off x="4645152" y="5074920"/>
            <a:ext cx="300837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029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800" dirty="0"/>
          </a:p>
        </p:txBody>
      </p:sp>
      <p:sp>
        <p:nvSpPr>
          <p:cNvPr id="35" name="Text 28"/>
          <p:cNvSpPr/>
          <p:nvPr/>
        </p:nvSpPr>
        <p:spPr>
          <a:xfrm>
            <a:off x="4645152" y="5760720"/>
            <a:ext cx="30083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E7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paid order this week</a:t>
            </a:r>
            <a:endParaRPr lang="en-US" sz="1050" dirty="0"/>
          </a:p>
        </p:txBody>
      </p:sp>
      <p:sp>
        <p:nvSpPr>
          <p:cNvPr id="36" name="Shape 29"/>
          <p:cNvSpPr/>
          <p:nvPr/>
        </p:nvSpPr>
        <p:spPr>
          <a:xfrm>
            <a:off x="8229600" y="3886200"/>
            <a:ext cx="3520440" cy="2331720"/>
          </a:xfrm>
          <a:prstGeom prst="roundRect">
            <a:avLst>
              <a:gd name="adj" fmla="val 3137"/>
            </a:avLst>
          </a:prstGeom>
          <a:solidFill>
            <a:srgbClr val="F4F7F2"/>
          </a:solidFill>
          <a:ln/>
          <a:effectLst>
            <a:outerShdw sx="100000" sy="100000" kx="0" ky="0" algn="bl" rotWithShape="0" blurRad="101600" dist="25400" dir="5400000">
              <a:srgbClr val="1B3A22">
                <a:alpha val="10000"/>
              </a:srgbClr>
            </a:outerShdw>
          </a:effectLst>
        </p:spPr>
      </p:sp>
      <p:sp>
        <p:nvSpPr>
          <p:cNvPr id="37" name="Shape 30"/>
          <p:cNvSpPr/>
          <p:nvPr/>
        </p:nvSpPr>
        <p:spPr>
          <a:xfrm>
            <a:off x="8485632" y="4142232"/>
            <a:ext cx="502920" cy="502920"/>
          </a:xfrm>
          <a:prstGeom prst="ellipse">
            <a:avLst/>
          </a:prstGeom>
          <a:solidFill>
            <a:srgbClr val="3C6034"/>
          </a:solidFill>
          <a:ln/>
        </p:spPr>
      </p:sp>
      <p:pic>
        <p:nvPicPr>
          <p:cNvPr id="38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13648" y="4270248"/>
            <a:ext cx="246888" cy="246888"/>
          </a:xfrm>
          <a:prstGeom prst="rect">
            <a:avLst/>
          </a:prstGeom>
        </p:spPr>
      </p:pic>
      <p:sp>
        <p:nvSpPr>
          <p:cNvPr id="39" name="Text 31"/>
          <p:cNvSpPr/>
          <p:nvPr/>
        </p:nvSpPr>
        <p:spPr>
          <a:xfrm>
            <a:off x="8485632" y="4800600"/>
            <a:ext cx="300837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6E7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OUTSTANDING INVOICES</a:t>
            </a:r>
            <a:endParaRPr lang="en-US" sz="1100" dirty="0"/>
          </a:p>
        </p:txBody>
      </p:sp>
      <p:sp>
        <p:nvSpPr>
          <p:cNvPr id="40" name="Text 32"/>
          <p:cNvSpPr/>
          <p:nvPr/>
        </p:nvSpPr>
        <p:spPr>
          <a:xfrm>
            <a:off x="8485632" y="5074920"/>
            <a:ext cx="300837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029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£1,233</a:t>
            </a:r>
            <a:endParaRPr lang="en-US" sz="2800" dirty="0"/>
          </a:p>
        </p:txBody>
      </p:sp>
      <p:sp>
        <p:nvSpPr>
          <p:cNvPr id="41" name="Text 33"/>
          <p:cNvSpPr/>
          <p:nvPr/>
        </p:nvSpPr>
        <p:spPr>
          <a:xfrm>
            <a:off x="8485632" y="5760720"/>
            <a:ext cx="30083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E7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 — nothing overdue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029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Active Cafés &amp; New Cafés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23444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3C60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CAFÉS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4754880" cy="914400"/>
          </a:xfrm>
          <a:prstGeom prst="roundRect">
            <a:avLst>
              <a:gd name="adj" fmla="val 6000"/>
            </a:avLst>
          </a:prstGeom>
          <a:solidFill>
            <a:srgbClr val="F4F7F2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178308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E7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week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77240" y="2011680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029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17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4709160" y="1920240"/>
            <a:ext cx="457200" cy="457200"/>
          </a:xfrm>
          <a:prstGeom prst="ellipse">
            <a:avLst/>
          </a:prstGeom>
          <a:solidFill>
            <a:srgbClr val="3C6034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28032" y="2039112"/>
            <a:ext cx="219456" cy="219456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548640" y="2697480"/>
            <a:ext cx="4754880" cy="914400"/>
          </a:xfrm>
          <a:prstGeom prst="roundRect">
            <a:avLst>
              <a:gd name="adj" fmla="val 6000"/>
            </a:avLst>
          </a:prstGeom>
          <a:solidFill>
            <a:srgbClr val="F4F7F2"/>
          </a:solidFill>
          <a:ln/>
        </p:spPr>
      </p:sp>
      <p:sp>
        <p:nvSpPr>
          <p:cNvPr id="10" name="Text 7"/>
          <p:cNvSpPr/>
          <p:nvPr/>
        </p:nvSpPr>
        <p:spPr>
          <a:xfrm>
            <a:off x="777240" y="283464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E7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month (Aug MTD)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777240" y="3063240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029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50</a:t>
            </a:r>
            <a:endParaRPr lang="en-US" sz="2600" dirty="0"/>
          </a:p>
        </p:txBody>
      </p:sp>
      <p:sp>
        <p:nvSpPr>
          <p:cNvPr id="12" name="Shape 9"/>
          <p:cNvSpPr/>
          <p:nvPr/>
        </p:nvSpPr>
        <p:spPr>
          <a:xfrm>
            <a:off x="4709160" y="2971800"/>
            <a:ext cx="457200" cy="457200"/>
          </a:xfrm>
          <a:prstGeom prst="ellipse">
            <a:avLst/>
          </a:prstGeom>
          <a:solidFill>
            <a:srgbClr val="3C6034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28032" y="3090672"/>
            <a:ext cx="219456" cy="219456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548640" y="379476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E7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83 active partners all-time</a:t>
            </a:r>
            <a:endParaRPr lang="en-US" sz="1100" dirty="0"/>
          </a:p>
        </p:txBody>
      </p:sp>
      <p:sp>
        <p:nvSpPr>
          <p:cNvPr id="15" name="Text 11"/>
          <p:cNvSpPr/>
          <p:nvPr/>
        </p:nvSpPr>
        <p:spPr>
          <a:xfrm>
            <a:off x="5760720" y="1234440"/>
            <a:ext cx="5852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3C60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CAFÉS ONBOARDED THIS WEEK</a:t>
            </a:r>
            <a:endParaRPr lang="en-US" sz="1300" dirty="0"/>
          </a:p>
        </p:txBody>
      </p:sp>
      <p:sp>
        <p:nvSpPr>
          <p:cNvPr id="16" name="Text 12"/>
          <p:cNvSpPr/>
          <p:nvPr/>
        </p:nvSpPr>
        <p:spPr>
          <a:xfrm>
            <a:off x="5760720" y="1600200"/>
            <a:ext cx="585216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700"/>
              </a:spcAft>
              <a:buSzPct val="100000"/>
              <a:buChar char="●"/>
            </a:pPr>
            <a:r>
              <a:rPr lang="en-US" sz="1450" dirty="0">
                <a:solidFill>
                  <a:srgbClr val="202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Kitchen Coffee</a:t>
            </a:r>
            <a:endParaRPr lang="en-US" sz="1450" dirty="0"/>
          </a:p>
          <a:p>
            <a:pPr marL="342900" indent="-342900">
              <a:spcAft>
                <a:spcPts val="700"/>
              </a:spcAft>
              <a:buSzPct val="100000"/>
              <a:buChar char="●"/>
            </a:pPr>
            <a:r>
              <a:rPr lang="en-US" sz="1450" dirty="0">
                <a:solidFill>
                  <a:srgbClr val="202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Tamp Coffee, London (Pending Confirmation)</a:t>
            </a:r>
            <a:endParaRPr lang="en-US" sz="1450" dirty="0"/>
          </a:p>
          <a:p>
            <a:pPr marL="342900" indent="-342900">
              <a:spcAft>
                <a:spcPts val="700"/>
              </a:spcAft>
              <a:buSzPct val="100000"/>
              <a:buChar char="●"/>
            </a:pPr>
            <a:r>
              <a:rPr lang="en-US" sz="1450" dirty="0">
                <a:solidFill>
                  <a:srgbClr val="202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 Place, Soho London (Pending Confirmation)</a:t>
            </a:r>
            <a:endParaRPr lang="en-US" sz="1450" dirty="0"/>
          </a:p>
          <a:p>
            <a:pPr marL="342900" indent="-342900">
              <a:spcAft>
                <a:spcPts val="700"/>
              </a:spcAft>
              <a:buSzPct val="100000"/>
              <a:buChar char="●"/>
            </a:pPr>
            <a:r>
              <a:rPr lang="en-US" sz="1450" dirty="0">
                <a:solidFill>
                  <a:srgbClr val="202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Bakery, Cheshire (Pending Confirmation)</a:t>
            </a:r>
            <a:endParaRPr lang="en-US" sz="1450" dirty="0"/>
          </a:p>
          <a:p>
            <a:pPr marL="342900" indent="-342900">
              <a:spcAft>
                <a:spcPts val="700"/>
              </a:spcAft>
              <a:buSzPct val="100000"/>
              <a:buChar char="●"/>
            </a:pPr>
            <a:r>
              <a:rPr lang="en-US" sz="1450" dirty="0">
                <a:solidFill>
                  <a:srgbClr val="202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Ronnie'S Kitchen, Buxton (Pending Confirmation)</a:t>
            </a:r>
            <a:endParaRPr lang="en-US" sz="1450" dirty="0"/>
          </a:p>
        </p:txBody>
      </p:sp>
      <p:sp>
        <p:nvSpPr>
          <p:cNvPr id="17" name="Text 13"/>
          <p:cNvSpPr/>
          <p:nvPr/>
        </p:nvSpPr>
        <p:spPr>
          <a:xfrm>
            <a:off x="5760720" y="3886200"/>
            <a:ext cx="5852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3C60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REACTIVATED THIS WEEK — WELCOME BACK</a:t>
            </a:r>
            <a:endParaRPr lang="en-US" sz="1300" dirty="0"/>
          </a:p>
        </p:txBody>
      </p:sp>
      <p:sp>
        <p:nvSpPr>
          <p:cNvPr id="18" name="Text 14"/>
          <p:cNvSpPr/>
          <p:nvPr/>
        </p:nvSpPr>
        <p:spPr>
          <a:xfrm>
            <a:off x="5760720" y="4251960"/>
            <a:ext cx="5852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E7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returning cafés this week.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029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Highlights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23444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3C60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CAFÉS THIS MONTH</a:t>
            </a:r>
            <a:endParaRPr lang="en-US" sz="13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91640"/>
          <a:ext cx="11064240" cy="914400"/>
        </p:xfrm>
        <a:graphic>
          <a:graphicData uri="http://schemas.openxmlformats.org/drawingml/2006/table">
            <a:tbl>
              <a:tblPr/>
              <a:tblGrid>
                <a:gridCol w="7040880"/>
                <a:gridCol w="2011680"/>
                <a:gridCol w="2011680"/>
              </a:tblGrid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Café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C603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Orders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C603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Revenue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C6034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029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Sunday Coffee and Kitchen Ltd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029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2029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£2,952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029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Acai &amp; The Tribe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029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2029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£1,413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029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Her Days Cafe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029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2029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£1,326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029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Revival Fitness, Bournemouth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029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2029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£1,174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029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Chiya Cafe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029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2029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£979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48640" y="4279392"/>
            <a:ext cx="5349240" cy="1280160"/>
          </a:xfrm>
          <a:prstGeom prst="roundRect">
            <a:avLst>
              <a:gd name="adj" fmla="val 4286"/>
            </a:avLst>
          </a:prstGeom>
          <a:solidFill>
            <a:srgbClr val="F4F7F2"/>
          </a:solidFill>
          <a:ln/>
        </p:spPr>
      </p:sp>
      <p:sp>
        <p:nvSpPr>
          <p:cNvPr id="6" name="Shape 3"/>
          <p:cNvSpPr/>
          <p:nvPr/>
        </p:nvSpPr>
        <p:spPr>
          <a:xfrm>
            <a:off x="777240" y="4462272"/>
            <a:ext cx="457200" cy="457200"/>
          </a:xfrm>
          <a:prstGeom prst="ellipse">
            <a:avLst/>
          </a:prstGeom>
          <a:solidFill>
            <a:srgbClr val="3C6034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6968" y="4572000"/>
            <a:ext cx="237744" cy="237744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417320" y="4398264"/>
            <a:ext cx="44805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C60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£1,233 outstanding</a:t>
            </a:r>
            <a:endParaRPr lang="en-US" sz="1500" dirty="0"/>
          </a:p>
          <a:p>
            <a:pPr indent="0" marL="0">
              <a:buNone/>
            </a:pPr>
            <a:r>
              <a:rPr lang="en-US" sz="1200" dirty="0">
                <a:solidFill>
                  <a:srgbClr val="6E7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Recent invoices not yet due — normal for this point in the week, nothing overdue.</a:t>
            </a:r>
            <a:endParaRPr lang="en-US" sz="1500" dirty="0"/>
          </a:p>
        </p:txBody>
      </p:sp>
      <p:sp>
        <p:nvSpPr>
          <p:cNvPr id="9" name="Shape 5"/>
          <p:cNvSpPr/>
          <p:nvPr/>
        </p:nvSpPr>
        <p:spPr>
          <a:xfrm>
            <a:off x="6263640" y="4279392"/>
            <a:ext cx="5349240" cy="1280160"/>
          </a:xfrm>
          <a:prstGeom prst="roundRect">
            <a:avLst>
              <a:gd name="adj" fmla="val 4286"/>
            </a:avLst>
          </a:prstGeom>
          <a:solidFill>
            <a:srgbClr val="F4F7F2"/>
          </a:solidFill>
          <a:ln/>
        </p:spPr>
      </p:sp>
      <p:sp>
        <p:nvSpPr>
          <p:cNvPr id="10" name="Shape 6"/>
          <p:cNvSpPr/>
          <p:nvPr/>
        </p:nvSpPr>
        <p:spPr>
          <a:xfrm>
            <a:off x="6492240" y="4462272"/>
            <a:ext cx="457200" cy="457200"/>
          </a:xfrm>
          <a:prstGeom prst="ellipse">
            <a:avLst/>
          </a:prstGeom>
          <a:solidFill>
            <a:srgbClr val="3C6034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01968" y="4572000"/>
            <a:ext cx="237744" cy="237744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7132320" y="4398264"/>
            <a:ext cx="44805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C60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week's focus</a:t>
            </a:r>
            <a:endParaRPr lang="en-US" sz="1500" dirty="0"/>
          </a:p>
          <a:p>
            <a:pPr indent="0" marL="0">
              <a:buNone/>
            </a:pPr>
            <a:r>
              <a:rPr lang="en-US" sz="1200" dirty="0">
                <a:solidFill>
                  <a:srgbClr val="6E7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new café placed a first order this week — a good moment for a quick check-in call to lock in reorder habits early.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029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Monthly Kg Goal — August 2026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02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192.6 kg shipped</a:t>
            </a:r>
            <a:pPr indent="0" marL="0">
              <a:buNone/>
            </a:pPr>
            <a:r>
              <a:rPr lang="en-US" sz="1300" dirty="0">
                <a:solidFill>
                  <a:srgbClr val="6E7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of 266 kg target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0241280" y="941832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202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72.4%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325880"/>
            <a:ext cx="11064240" cy="365760"/>
          </a:xfrm>
          <a:prstGeom prst="roundRect">
            <a:avLst>
              <a:gd name="adj" fmla="val 15000"/>
            </a:avLst>
          </a:prstGeom>
          <a:solidFill>
            <a:srgbClr val="E7EDE3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1325880"/>
            <a:ext cx="7415829" cy="365760"/>
          </a:xfrm>
          <a:prstGeom prst="roundRect">
            <a:avLst>
              <a:gd name="adj" fmla="val 15000"/>
            </a:avLst>
          </a:prstGeom>
          <a:solidFill>
            <a:srgbClr val="3C6034"/>
          </a:solidFill>
          <a:ln/>
        </p:spPr>
      </p:sp>
      <p:sp>
        <p:nvSpPr>
          <p:cNvPr id="7" name="Shape 5"/>
          <p:cNvSpPr/>
          <p:nvPr/>
        </p:nvSpPr>
        <p:spPr>
          <a:xfrm>
            <a:off x="10784163" y="1261872"/>
            <a:ext cx="18288" cy="493776"/>
          </a:xfrm>
          <a:prstGeom prst="rect">
            <a:avLst/>
          </a:prstGeom>
          <a:solidFill>
            <a:srgbClr val="6E7568"/>
          </a:solidFill>
          <a:ln/>
        </p:spPr>
      </p:sp>
      <p:sp>
        <p:nvSpPr>
          <p:cNvPr id="8" name="Text 6"/>
          <p:cNvSpPr/>
          <p:nvPr/>
        </p:nvSpPr>
        <p:spPr>
          <a:xfrm>
            <a:off x="10107507" y="174650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E7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266 kg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548640" y="205740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 target: 208 kg  →  +58 kg growth target = 266 kg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548640" y="237744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E7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Tracking to ~206kg at the current 6.6kg/day pace (192.55kg through day 29) — about 60kg short of the 266kg floor, and July also missed its own 208kg target (134.75kg). Worth a push to close as much of the gap as possible before month-end.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548640" y="292608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3C60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KG GROWTH TRAJECTORY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48640" y="3291840"/>
            <a:ext cx="1131824" cy="960120"/>
          </a:xfrm>
          <a:prstGeom prst="roundRect">
            <a:avLst>
              <a:gd name="adj" fmla="val 5714"/>
            </a:avLst>
          </a:prstGeom>
          <a:solidFill>
            <a:srgbClr val="E7F0E3"/>
          </a:solidFill>
          <a:ln/>
        </p:spPr>
      </p:sp>
      <p:sp>
        <p:nvSpPr>
          <p:cNvPr id="13" name="Text 11"/>
          <p:cNvSpPr/>
          <p:nvPr/>
        </p:nvSpPr>
        <p:spPr>
          <a:xfrm>
            <a:off x="548640" y="3364992"/>
            <a:ext cx="11318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C7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48640" y="3602736"/>
            <a:ext cx="1131824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02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150.5 kg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48640" y="3913632"/>
            <a:ext cx="11318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C7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beat 150 kg tgt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1790192" y="3291840"/>
            <a:ext cx="1131824" cy="960120"/>
          </a:xfrm>
          <a:prstGeom prst="roundRect">
            <a:avLst>
              <a:gd name="adj" fmla="val 5714"/>
            </a:avLst>
          </a:prstGeom>
          <a:solidFill>
            <a:srgbClr val="F4F7F2"/>
          </a:solidFill>
          <a:ln/>
        </p:spPr>
      </p:sp>
      <p:sp>
        <p:nvSpPr>
          <p:cNvPr id="17" name="Text 15"/>
          <p:cNvSpPr/>
          <p:nvPr/>
        </p:nvSpPr>
        <p:spPr>
          <a:xfrm>
            <a:off x="1790192" y="3364992"/>
            <a:ext cx="11318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E7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1790192" y="3602736"/>
            <a:ext cx="1131824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02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134.8 kg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790192" y="3913632"/>
            <a:ext cx="11318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E7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208 kg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3031744" y="3291840"/>
            <a:ext cx="1131824" cy="960120"/>
          </a:xfrm>
          <a:prstGeom prst="roundRect">
            <a:avLst>
              <a:gd name="adj" fmla="val 5714"/>
            </a:avLst>
          </a:prstGeom>
          <a:solidFill>
            <a:srgbClr val="3C6034"/>
          </a:solidFill>
          <a:ln/>
        </p:spPr>
      </p:sp>
      <p:sp>
        <p:nvSpPr>
          <p:cNvPr id="21" name="Text 19"/>
          <p:cNvSpPr/>
          <p:nvPr/>
        </p:nvSpPr>
        <p:spPr>
          <a:xfrm>
            <a:off x="3031744" y="3364992"/>
            <a:ext cx="11318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9E4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 ·so far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3031744" y="3602736"/>
            <a:ext cx="1131824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192.6 kg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3031744" y="3913632"/>
            <a:ext cx="11318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D9E4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266 kg target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4273296" y="3291840"/>
            <a:ext cx="1131824" cy="960120"/>
          </a:xfrm>
          <a:prstGeom prst="roundRect">
            <a:avLst>
              <a:gd name="adj" fmla="val 5714"/>
            </a:avLst>
          </a:prstGeom>
          <a:solidFill>
            <a:srgbClr val="F4F7F2"/>
          </a:solidFill>
          <a:ln/>
        </p:spPr>
      </p:sp>
      <p:sp>
        <p:nvSpPr>
          <p:cNvPr id="25" name="Text 23"/>
          <p:cNvSpPr/>
          <p:nvPr/>
        </p:nvSpPr>
        <p:spPr>
          <a:xfrm>
            <a:off x="4273296" y="3364992"/>
            <a:ext cx="11318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E7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4273296" y="3602736"/>
            <a:ext cx="1131824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02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324 kg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4273296" y="3913632"/>
            <a:ext cx="11318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E7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5514848" y="3291840"/>
            <a:ext cx="1131824" cy="960120"/>
          </a:xfrm>
          <a:prstGeom prst="roundRect">
            <a:avLst>
              <a:gd name="adj" fmla="val 5714"/>
            </a:avLst>
          </a:prstGeom>
          <a:solidFill>
            <a:srgbClr val="F4F7F2"/>
          </a:solidFill>
          <a:ln/>
        </p:spPr>
      </p:sp>
      <p:sp>
        <p:nvSpPr>
          <p:cNvPr id="29" name="Text 27"/>
          <p:cNvSpPr/>
          <p:nvPr/>
        </p:nvSpPr>
        <p:spPr>
          <a:xfrm>
            <a:off x="5514848" y="3364992"/>
            <a:ext cx="11318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E7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Oct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5514848" y="3602736"/>
            <a:ext cx="1131824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02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382 kg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5514848" y="3913632"/>
            <a:ext cx="11318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E7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6756400" y="3291840"/>
            <a:ext cx="1131824" cy="960120"/>
          </a:xfrm>
          <a:prstGeom prst="roundRect">
            <a:avLst>
              <a:gd name="adj" fmla="val 5714"/>
            </a:avLst>
          </a:prstGeom>
          <a:solidFill>
            <a:srgbClr val="F4F7F2"/>
          </a:solidFill>
          <a:ln/>
        </p:spPr>
      </p:sp>
      <p:sp>
        <p:nvSpPr>
          <p:cNvPr id="33" name="Text 31"/>
          <p:cNvSpPr/>
          <p:nvPr/>
        </p:nvSpPr>
        <p:spPr>
          <a:xfrm>
            <a:off x="6756400" y="3364992"/>
            <a:ext cx="11318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E7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6756400" y="3602736"/>
            <a:ext cx="1131824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02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440 kg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6756400" y="3913632"/>
            <a:ext cx="11318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E7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7997952" y="3291840"/>
            <a:ext cx="1131824" cy="960120"/>
          </a:xfrm>
          <a:prstGeom prst="roundRect">
            <a:avLst>
              <a:gd name="adj" fmla="val 5714"/>
            </a:avLst>
          </a:prstGeom>
          <a:solidFill>
            <a:srgbClr val="F4F7F2"/>
          </a:solidFill>
          <a:ln/>
        </p:spPr>
      </p:sp>
      <p:sp>
        <p:nvSpPr>
          <p:cNvPr id="37" name="Text 35"/>
          <p:cNvSpPr/>
          <p:nvPr/>
        </p:nvSpPr>
        <p:spPr>
          <a:xfrm>
            <a:off x="7997952" y="3364992"/>
            <a:ext cx="11318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E7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7997952" y="3602736"/>
            <a:ext cx="1131824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02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498 kg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7997952" y="3913632"/>
            <a:ext cx="11318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E7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9239504" y="3291840"/>
            <a:ext cx="1131824" cy="960120"/>
          </a:xfrm>
          <a:prstGeom prst="roundRect">
            <a:avLst>
              <a:gd name="adj" fmla="val 5714"/>
            </a:avLst>
          </a:prstGeom>
          <a:solidFill>
            <a:srgbClr val="F4F7F2"/>
          </a:solidFill>
          <a:ln/>
        </p:spPr>
      </p:sp>
      <p:sp>
        <p:nvSpPr>
          <p:cNvPr id="41" name="Text 39"/>
          <p:cNvSpPr/>
          <p:nvPr/>
        </p:nvSpPr>
        <p:spPr>
          <a:xfrm>
            <a:off x="9239504" y="3364992"/>
            <a:ext cx="11318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E7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Jan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9239504" y="3602736"/>
            <a:ext cx="1131824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02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556 kg</a:t>
            </a:r>
            <a:endParaRPr lang="en-US" sz="1300" dirty="0"/>
          </a:p>
        </p:txBody>
      </p:sp>
      <p:sp>
        <p:nvSpPr>
          <p:cNvPr id="43" name="Text 41"/>
          <p:cNvSpPr/>
          <p:nvPr/>
        </p:nvSpPr>
        <p:spPr>
          <a:xfrm>
            <a:off x="9239504" y="3913632"/>
            <a:ext cx="11318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E7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10481056" y="3291840"/>
            <a:ext cx="1131824" cy="960120"/>
          </a:xfrm>
          <a:prstGeom prst="roundRect">
            <a:avLst>
              <a:gd name="adj" fmla="val 5714"/>
            </a:avLst>
          </a:prstGeom>
          <a:solidFill>
            <a:srgbClr val="F4F7F2"/>
          </a:solidFill>
          <a:ln/>
        </p:spPr>
      </p:sp>
      <p:sp>
        <p:nvSpPr>
          <p:cNvPr id="45" name="Text 43"/>
          <p:cNvSpPr/>
          <p:nvPr/>
        </p:nvSpPr>
        <p:spPr>
          <a:xfrm>
            <a:off x="10481056" y="3364992"/>
            <a:ext cx="11318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E7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Feb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10481056" y="3602736"/>
            <a:ext cx="1131824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02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614 kg</a:t>
            </a:r>
            <a:endParaRPr lang="en-US" sz="1300" dirty="0"/>
          </a:p>
        </p:txBody>
      </p:sp>
      <p:sp>
        <p:nvSpPr>
          <p:cNvPr id="47" name="Text 45"/>
          <p:cNvSpPr/>
          <p:nvPr/>
        </p:nvSpPr>
        <p:spPr>
          <a:xfrm>
            <a:off x="10481056" y="3913632"/>
            <a:ext cx="11318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E7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548640" y="4526280"/>
            <a:ext cx="11064240" cy="777240"/>
          </a:xfrm>
          <a:prstGeom prst="roundRect">
            <a:avLst>
              <a:gd name="adj" fmla="val 7059"/>
            </a:avLst>
          </a:prstGeom>
          <a:solidFill>
            <a:srgbClr val="F4F7F2"/>
          </a:solidFill>
          <a:ln/>
        </p:spPr>
      </p:sp>
      <p:sp>
        <p:nvSpPr>
          <p:cNvPr id="49" name="Shape 47"/>
          <p:cNvSpPr/>
          <p:nvPr/>
        </p:nvSpPr>
        <p:spPr>
          <a:xfrm>
            <a:off x="777240" y="4690872"/>
            <a:ext cx="457200" cy="457200"/>
          </a:xfrm>
          <a:prstGeom prst="ellipse">
            <a:avLst/>
          </a:prstGeom>
          <a:solidFill>
            <a:srgbClr val="3C6034"/>
          </a:solidFill>
          <a:ln/>
        </p:spPr>
      </p:sp>
      <p:pic>
        <p:nvPicPr>
          <p:cNvPr id="5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6968" y="4800600"/>
            <a:ext cx="237744" cy="237744"/>
          </a:xfrm>
          <a:prstGeom prst="rect">
            <a:avLst/>
          </a:prstGeom>
        </p:spPr>
      </p:pic>
      <p:sp>
        <p:nvSpPr>
          <p:cNvPr id="51" name="Text 48"/>
          <p:cNvSpPr/>
          <p:nvPr/>
        </p:nvSpPr>
        <p:spPr>
          <a:xfrm>
            <a:off x="1417320" y="4645152"/>
            <a:ext cx="9875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C60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Vision for the year</a:t>
            </a:r>
            <a:endParaRPr lang="en-US" sz="1300" dirty="0"/>
          </a:p>
          <a:p>
            <a:pPr indent="0" marL="0">
              <a:buNone/>
            </a:pPr>
            <a:r>
              <a:rPr lang="en-US" sz="1200" dirty="0">
                <a:solidFill>
                  <a:srgbClr val="202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the +58kg/month pace, monthly shipments reach 614 kg by February 2027 — about 6 months from now, roughly 4.1x June 2026's 150.5 kg actual.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029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Order in 21+ Days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E7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Follow-up candidates — not a churn verdict, just a nudge to reach out.</a:t>
            </a:r>
            <a:endParaRPr lang="en-US" sz="13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08760"/>
          <a:ext cx="11064240" cy="914400"/>
        </p:xfrm>
        <a:graphic>
          <a:graphicData uri="http://schemas.openxmlformats.org/drawingml/2006/table">
            <a:tbl>
              <a:tblPr/>
              <a:tblGrid>
                <a:gridCol w="6675120"/>
                <a:gridCol w="2651760"/>
                <a:gridCol w="173736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Café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C603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Last order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C603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Days since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C6034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2029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Charlotte's of Baslow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6E7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2026-06-04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50" b="1" dirty="0">
                          <a:solidFill>
                            <a:srgbClr val="A647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86 days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2029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Rosie Dailly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6E7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2026-06-05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50" b="1" dirty="0">
                          <a:solidFill>
                            <a:srgbClr val="A647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85 days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2029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Cheeky Goat Coffee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6E7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2026-06-09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50" b="1" dirty="0">
                          <a:solidFill>
                            <a:srgbClr val="A647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81 days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2029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Osoto Coffee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6E7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2026-06-11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50" b="1" dirty="0">
                          <a:solidFill>
                            <a:srgbClr val="A647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79 days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2029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Forrest Coffee, Warwickshire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6E7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2026-06-15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50" b="1" dirty="0">
                          <a:solidFill>
                            <a:srgbClr val="A647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75 days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2029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Kith, Leicester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6E7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2026-06-15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50" b="1" dirty="0">
                          <a:solidFill>
                            <a:srgbClr val="A647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75 days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2029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Chiya, Canterbury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6E7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2026-06-16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50" b="1" dirty="0">
                          <a:solidFill>
                            <a:srgbClr val="A647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74 days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2029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Village Bakery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6E7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2026-06-16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50" b="1" dirty="0">
                          <a:solidFill>
                            <a:srgbClr val="A647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74 days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48640" y="5422392"/>
            <a:ext cx="11064240" cy="777240"/>
          </a:xfrm>
          <a:prstGeom prst="roundRect">
            <a:avLst>
              <a:gd name="adj" fmla="val 7059"/>
            </a:avLst>
          </a:prstGeom>
          <a:solidFill>
            <a:srgbClr val="F4F7F2"/>
          </a:solidFill>
          <a:ln/>
        </p:spPr>
      </p:sp>
      <p:sp>
        <p:nvSpPr>
          <p:cNvPr id="6" name="Shape 3"/>
          <p:cNvSpPr/>
          <p:nvPr/>
        </p:nvSpPr>
        <p:spPr>
          <a:xfrm>
            <a:off x="777240" y="5586984"/>
            <a:ext cx="457200" cy="457200"/>
          </a:xfrm>
          <a:prstGeom prst="ellipse">
            <a:avLst/>
          </a:prstGeom>
          <a:solidFill>
            <a:srgbClr val="3C6034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6968" y="5696712"/>
            <a:ext cx="237744" cy="237744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417320" y="5541264"/>
            <a:ext cx="9966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02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 of 50 active partners this month</a:t>
            </a:r>
            <a:endParaRPr lang="en-US" sz="1300" dirty="0"/>
          </a:p>
          <a:p>
            <a:pPr indent="0" marL="0">
              <a:buNone/>
            </a:pPr>
            <a:r>
              <a:rPr lang="en-US" sz="1200" dirty="0">
                <a:solidFill>
                  <a:srgbClr val="6E7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84% have ordered within the last 21 days — this list is the exception, not the norm.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029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Insights &amp; How to Improve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E7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Data-driven notes from this week's numbers, not generic advice.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11064240" cy="841248"/>
          </a:xfrm>
          <a:prstGeom prst="roundRect">
            <a:avLst>
              <a:gd name="adj" fmla="val 6522"/>
            </a:avLst>
          </a:prstGeom>
          <a:solidFill>
            <a:srgbClr val="F4F7F2"/>
          </a:solidFill>
          <a:ln/>
        </p:spPr>
      </p:sp>
      <p:sp>
        <p:nvSpPr>
          <p:cNvPr id="5" name="Shape 3"/>
          <p:cNvSpPr/>
          <p:nvPr/>
        </p:nvSpPr>
        <p:spPr>
          <a:xfrm>
            <a:off x="777240" y="1600200"/>
            <a:ext cx="420624" cy="420624"/>
          </a:xfrm>
          <a:prstGeom prst="ellipse">
            <a:avLst/>
          </a:prstGeom>
          <a:solidFill>
            <a:srgbClr val="6E7568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6968" y="1709928"/>
            <a:ext cx="201168" cy="20116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17320" y="1527048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02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Outstanding sits at £1,233 this week, £5,254 MTD — none of it overdue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1417320" y="1856232"/>
            <a:ext cx="1005840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week's £1,233 outstanding (19.8% of the week's £6,239 invoiced) and August's £5,254 MTD (22.5% of £23,364 invoiced) are recent invoices not yet due, not a collections problem — no amount is currently flagged 30+ days old.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548640" y="2441448"/>
            <a:ext cx="11064240" cy="841248"/>
          </a:xfrm>
          <a:prstGeom prst="roundRect">
            <a:avLst>
              <a:gd name="adj" fmla="val 6522"/>
            </a:avLst>
          </a:prstGeom>
          <a:solidFill>
            <a:srgbClr val="F4F7F2"/>
          </a:solidFill>
          <a:ln/>
        </p:spPr>
      </p:sp>
      <p:sp>
        <p:nvSpPr>
          <p:cNvPr id="10" name="Shape 7"/>
          <p:cNvSpPr/>
          <p:nvPr/>
        </p:nvSpPr>
        <p:spPr>
          <a:xfrm>
            <a:off x="777240" y="2624328"/>
            <a:ext cx="420624" cy="420624"/>
          </a:xfrm>
          <a:prstGeom prst="ellipse">
            <a:avLst/>
          </a:prstGeom>
          <a:solidFill>
            <a:srgbClr val="6E7568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6968" y="2734056"/>
            <a:ext cx="201168" cy="20116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417320" y="2551176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02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1 of the sheet's 6 claimed new accounts holds up under verification</a:t>
            </a:r>
            <a:endParaRPr lang="en-US" sz="1450" dirty="0"/>
          </a:p>
        </p:txBody>
      </p:sp>
      <p:sp>
        <p:nvSpPr>
          <p:cNvPr id="13" name="Text 9"/>
          <p:cNvSpPr/>
          <p:nvPr/>
        </p:nvSpPr>
        <p:spPr>
          <a:xfrm>
            <a:off x="1417320" y="2880360"/>
            <a:ext cx="1005840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Weekly Log lists 6 new accounts for w/c 17 Aug, but Raw Partners confirms just 1 genuine first-timer (Kitchen Coffee, added to CRM 7 Aug). Four more single-order cafés (Tamp Coffee, My Place Soho London, The Bakery Cheshire, Ronnie's Kitchen) couldn't be verified — their Raw Partners rows fell past this fetch's truncation point — so they're marked pending confirmation rather than counted.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548640" y="3465576"/>
            <a:ext cx="11064240" cy="841248"/>
          </a:xfrm>
          <a:prstGeom prst="roundRect">
            <a:avLst>
              <a:gd name="adj" fmla="val 6522"/>
            </a:avLst>
          </a:prstGeom>
          <a:solidFill>
            <a:srgbClr val="F4F7F2"/>
          </a:solidFill>
          <a:ln/>
        </p:spPr>
      </p:sp>
      <p:sp>
        <p:nvSpPr>
          <p:cNvPr id="15" name="Shape 11"/>
          <p:cNvSpPr/>
          <p:nvPr/>
        </p:nvSpPr>
        <p:spPr>
          <a:xfrm>
            <a:off x="777240" y="3648456"/>
            <a:ext cx="420624" cy="420624"/>
          </a:xfrm>
          <a:prstGeom prst="ellipse">
            <a:avLst/>
          </a:prstGeom>
          <a:solidFill>
            <a:srgbClr val="C99A3A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968" y="3758184"/>
            <a:ext cx="201168" cy="20116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417320" y="3575304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02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August is tracking ~60kg short of its 266kg floor at the current pace</a:t>
            </a:r>
            <a:endParaRPr lang="en-US" sz="1450" dirty="0"/>
          </a:p>
        </p:txBody>
      </p:sp>
      <p:sp>
        <p:nvSpPr>
          <p:cNvPr id="18" name="Text 13"/>
          <p:cNvSpPr/>
          <p:nvPr/>
        </p:nvSpPr>
        <p:spPr>
          <a:xfrm>
            <a:off x="1417320" y="3904488"/>
            <a:ext cx="1005840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192.55kg shipped through day 29 (72.4% of target) works out to 6.6kg/day, projecting to roughly 206kg by month-end. July also missed its own 208kg floor (134.75kg) — with only two months of CRM history, the +58kg staircase hasn't been cleared yet, worth a final push in the last two days of August.</a:t>
            </a:r>
            <a:endParaRPr lang="en-US" sz="1150" dirty="0"/>
          </a:p>
        </p:txBody>
      </p:sp>
      <p:sp>
        <p:nvSpPr>
          <p:cNvPr id="19" name="Shape 14"/>
          <p:cNvSpPr/>
          <p:nvPr/>
        </p:nvSpPr>
        <p:spPr>
          <a:xfrm>
            <a:off x="548640" y="4489704"/>
            <a:ext cx="11064240" cy="841248"/>
          </a:xfrm>
          <a:prstGeom prst="roundRect">
            <a:avLst>
              <a:gd name="adj" fmla="val 6522"/>
            </a:avLst>
          </a:prstGeom>
          <a:solidFill>
            <a:srgbClr val="F4F7F2"/>
          </a:solidFill>
          <a:ln/>
        </p:spPr>
      </p:sp>
      <p:sp>
        <p:nvSpPr>
          <p:cNvPr id="20" name="Shape 15"/>
          <p:cNvSpPr/>
          <p:nvPr/>
        </p:nvSpPr>
        <p:spPr>
          <a:xfrm>
            <a:off x="777240" y="4672584"/>
            <a:ext cx="420624" cy="420624"/>
          </a:xfrm>
          <a:prstGeom prst="ellipse">
            <a:avLst/>
          </a:prstGeom>
          <a:solidFill>
            <a:srgbClr val="C99A3A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6968" y="4782312"/>
            <a:ext cx="201168" cy="201168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417320" y="4599432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02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partial follow-up candidates, led by Charlotte's of Baslow at 86 days quiet</a:t>
            </a:r>
            <a:endParaRPr lang="en-US" sz="1450" dirty="0"/>
          </a:p>
        </p:txBody>
      </p:sp>
      <p:sp>
        <p:nvSpPr>
          <p:cNvPr id="23" name="Text 17"/>
          <p:cNvSpPr/>
          <p:nvPr/>
        </p:nvSpPr>
        <p:spPr>
          <a:xfrm>
            <a:off x="1417320" y="4928616"/>
            <a:ext cx="1005840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Charlotte's of Baslow hasn't ordered since 4 Jun and still carries a £297 unpaid invoice with a follow-up email already sent; Rosie Dailly has been quiet since 5 Jun. This list is necessarily partial, since Raw Orders may not reach far enough back for every partner's true last order.</a:t>
            </a:r>
            <a:endParaRPr lang="en-US" sz="1150" dirty="0"/>
          </a:p>
        </p:txBody>
      </p:sp>
      <p:sp>
        <p:nvSpPr>
          <p:cNvPr id="24" name="Shape 18"/>
          <p:cNvSpPr/>
          <p:nvPr/>
        </p:nvSpPr>
        <p:spPr>
          <a:xfrm>
            <a:off x="548640" y="5513832"/>
            <a:ext cx="11064240" cy="841248"/>
          </a:xfrm>
          <a:prstGeom prst="roundRect">
            <a:avLst>
              <a:gd name="adj" fmla="val 6522"/>
            </a:avLst>
          </a:prstGeom>
          <a:solidFill>
            <a:srgbClr val="F4F7F2"/>
          </a:solidFill>
          <a:ln/>
        </p:spPr>
      </p:sp>
      <p:sp>
        <p:nvSpPr>
          <p:cNvPr id="25" name="Shape 19"/>
          <p:cNvSpPr/>
          <p:nvPr/>
        </p:nvSpPr>
        <p:spPr>
          <a:xfrm>
            <a:off x="777240" y="5696712"/>
            <a:ext cx="420624" cy="420624"/>
          </a:xfrm>
          <a:prstGeom prst="ellipse">
            <a:avLst/>
          </a:prstGeom>
          <a:solidFill>
            <a:srgbClr val="3C6034"/>
          </a:solidFill>
          <a:ln/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6968" y="5806440"/>
            <a:ext cx="201168" cy="201168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1417320" y="562356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02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Sunday Coffee and Kitchen Ltd is August's top café by a wide margin</a:t>
            </a:r>
            <a:endParaRPr lang="en-US" sz="1450" dirty="0"/>
          </a:p>
        </p:txBody>
      </p:sp>
      <p:sp>
        <p:nvSpPr>
          <p:cNvPr id="28" name="Text 21"/>
          <p:cNvSpPr/>
          <p:nvPr/>
        </p:nvSpPr>
        <p:spPr>
          <a:xfrm>
            <a:off x="1417320" y="5952744"/>
            <a:ext cx="1005840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£2,951.50 MTD across just 2 orders (avg. £1,475/order) — more than double the #2 spot. Worth a proactive check-in given how concentrated this relationship is; losing momentum there would show up immediately in the monthly total.</a:t>
            </a:r>
            <a:endParaRPr lang="en-US" sz="11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Kyos Matcha B2B Weekly Report — 2026-08-17 to 2026-08-23</dc:title>
  <dc:subject>PptxGenJS Presentation</dc:subject>
  <dc:creator>Kyos Matcha</dc:creator>
  <cp:lastModifiedBy>Kyos Matcha</cp:lastModifiedBy>
  <cp:revision>1</cp:revision>
  <dcterms:created xsi:type="dcterms:W3CDTF">2026-08-29T13:49:14Z</dcterms:created>
  <dcterms:modified xsi:type="dcterms:W3CDTF">2026-08-29T13:49:14Z</dcterms:modified>
</cp:coreProperties>
</file>