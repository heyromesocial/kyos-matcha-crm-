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6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pic>
        <p:nvPicPr>
          <p:cNvPr id="3" name="Image 0" descr="/sessions/lucid-admiring-euler/mnt/outputs/Kyo_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13232"/>
            <a:ext cx="1645920" cy="441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Weekly Report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26 July 2026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£3,132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20624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SHIPPED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22.3 kg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KG GOAL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63.2%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/ Café Channel  ·  Prepared from the live Kyos Matcha CRM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618488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6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32.8% vs last wk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467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INVOICED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£3,132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0467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£297 paid · £2,835 outstanding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618488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1792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6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66.7% vs last wk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64515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4515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64515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£522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2960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8563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618488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6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25.8% vs last wk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48563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SHIPPED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48563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22.3 kg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848563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this week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864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467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0248"/>
            <a:ext cx="246888" cy="2468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467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SENT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0467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80467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all-time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38912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64515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270248"/>
            <a:ext cx="246888" cy="2468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4515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64515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35" name="Text 28"/>
          <p:cNvSpPr/>
          <p:nvPr/>
        </p:nvSpPr>
        <p:spPr>
          <a:xfrm>
            <a:off x="464515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order this week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822960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485632" y="4142232"/>
            <a:ext cx="502920" cy="502920"/>
          </a:xfrm>
          <a:prstGeom prst="ellipse">
            <a:avLst/>
          </a:prstGeom>
          <a:solidFill>
            <a:srgbClr val="C99A3A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270248"/>
            <a:ext cx="246888" cy="2468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48563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INVOICES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848563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£2,835</a:t>
            </a:r>
            <a:endParaRPr lang="en-US" sz="2800" dirty="0"/>
          </a:p>
        </p:txBody>
      </p:sp>
      <p:sp>
        <p:nvSpPr>
          <p:cNvPr id="41" name="Text 33"/>
          <p:cNvSpPr/>
          <p:nvPr/>
        </p:nvSpPr>
        <p:spPr>
          <a:xfrm>
            <a:off x="848563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usual — worth a nudge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Cafés &amp; New Cafés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CAFÉS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4F7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709160" y="1920240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2039112"/>
            <a:ext cx="219456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69748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4F7F2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 (Jul MTD)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709160" y="2971800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30906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3794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active partners all-time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760720" y="12344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 THIS WEEK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760720" y="1600200"/>
            <a:ext cx="58521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BANDSTAND, Newcastle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760720" y="24871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REACTIVATED THIS WEEK — WELCOME BACK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760720" y="28529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returning cafés this week.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CAFÉS THIS MONTH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704088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ACAI&amp;THE TRIBE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£2,217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Chiya Cafe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£1,351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Riptide Espresso, Dorset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£1,326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Matcha Spot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£1,257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DAYS Cafe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79392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BF3E3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4462272"/>
            <a:ext cx="457200" cy="457200"/>
          </a:xfrm>
          <a:prstGeom prst="ellipse">
            <a:avLst/>
          </a:prstGeom>
          <a:solidFill>
            <a:srgbClr val="C99A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45720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439826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£2,835 outstanding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5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share of this week's revenue than usual is still unpaid. Nothing's overdue yet — worth a light nudge before it ages.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263640" y="4279392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4F7F2"/>
          </a:solidFill>
          <a:ln/>
        </p:spPr>
      </p:sp>
      <p:sp>
        <p:nvSpPr>
          <p:cNvPr id="10" name="Shape 6"/>
          <p:cNvSpPr/>
          <p:nvPr/>
        </p:nvSpPr>
        <p:spPr>
          <a:xfrm>
            <a:off x="6492240" y="4462272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457200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0" y="439826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focus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samples went out this week. Follow up on the batch from ~2-3 weeks ago now — that's the window most cafés convert to a first order.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Kg Goal — July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131.8 kg shipped</a:t>
            </a:r>
            <a:pPr indent="0" marL="0">
              <a:buNone/>
            </a:pPr>
            <a:r>
              <a:rPr lang="en-US" sz="13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of 208.5 kg target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0" y="941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365760"/>
          </a:xfrm>
          <a:prstGeom prst="roundRect">
            <a:avLst>
              <a:gd name="adj" fmla="val 15000"/>
            </a:avLst>
          </a:prstGeom>
          <a:solidFill>
            <a:srgbClr val="E7EDE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6473548" cy="365760"/>
          </a:xfrm>
          <a:prstGeom prst="roundRect">
            <a:avLst>
              <a:gd name="adj" fmla="val 15000"/>
            </a:avLst>
          </a:prstGeom>
          <a:solidFill>
            <a:srgbClr val="3C6034"/>
          </a:solidFill>
          <a:ln/>
        </p:spPr>
      </p:sp>
      <p:sp>
        <p:nvSpPr>
          <p:cNvPr id="7" name="Shape 5"/>
          <p:cNvSpPr/>
          <p:nvPr/>
        </p:nvSpPr>
        <p:spPr>
          <a:xfrm>
            <a:off x="10784163" y="1261872"/>
            <a:ext cx="18288" cy="493776"/>
          </a:xfrm>
          <a:prstGeom prst="rect">
            <a:avLst/>
          </a:prstGeom>
          <a:solidFill>
            <a:srgbClr val="6E7568"/>
          </a:solidFill>
          <a:ln/>
        </p:spPr>
      </p:sp>
      <p:sp>
        <p:nvSpPr>
          <p:cNvPr id="8" name="Text 6"/>
          <p:cNvSpPr/>
          <p:nvPr/>
        </p:nvSpPr>
        <p:spPr>
          <a:xfrm>
            <a:off x="10107507" y="17465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208.5 kg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actual: 150.5 kg  →  +58 kg growth target = 208.5 kg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closed at 131.75kg against the 208.5kg floor (June's 150.5kg + 58kg) - 76.75kg short, and actually below June's own total. First month under the dynamic-goal system to miss the floor, worth a look at what shifted before August gets underway.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KG GROWTH TRAJECTORY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 kg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90192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E7F0E3"/>
          </a:solidFill>
          <a:ln/>
        </p:spPr>
      </p:sp>
      <p:sp>
        <p:nvSpPr>
          <p:cNvPr id="17" name="Text 15"/>
          <p:cNvSpPr/>
          <p:nvPr/>
        </p:nvSpPr>
        <p:spPr>
          <a:xfrm>
            <a:off x="1790192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90192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150.5 kg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90192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150.5 kg tgt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1744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3C6034"/>
          </a:solidFill>
          <a:ln/>
        </p:spPr>
      </p:sp>
      <p:sp>
        <p:nvSpPr>
          <p:cNvPr id="21" name="Text 19"/>
          <p:cNvSpPr/>
          <p:nvPr/>
        </p:nvSpPr>
        <p:spPr>
          <a:xfrm>
            <a:off x="3031744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·so far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31744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131.8 kg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31744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208.5 kg target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73296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25" name="Text 23"/>
          <p:cNvSpPr/>
          <p:nvPr/>
        </p:nvSpPr>
        <p:spPr>
          <a:xfrm>
            <a:off x="4273296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73296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266.5 kg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73296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14848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29" name="Text 27"/>
          <p:cNvSpPr/>
          <p:nvPr/>
        </p:nvSpPr>
        <p:spPr>
          <a:xfrm>
            <a:off x="5514848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4848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324.5 kg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14848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56400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33" name="Text 31"/>
          <p:cNvSpPr/>
          <p:nvPr/>
        </p:nvSpPr>
        <p:spPr>
          <a:xfrm>
            <a:off x="6756400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56400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382.5 kg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56400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97952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37" name="Text 35"/>
          <p:cNvSpPr/>
          <p:nvPr/>
        </p:nvSpPr>
        <p:spPr>
          <a:xfrm>
            <a:off x="7997952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97952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440.5 kg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97952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239504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41" name="Text 39"/>
          <p:cNvSpPr/>
          <p:nvPr/>
        </p:nvSpPr>
        <p:spPr>
          <a:xfrm>
            <a:off x="9239504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39504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498.5 kg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39504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481056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45" name="Text 43"/>
          <p:cNvSpPr/>
          <p:nvPr/>
        </p:nvSpPr>
        <p:spPr>
          <a:xfrm>
            <a:off x="10481056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481056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556.5 kg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481056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45262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7F2"/>
          </a:solidFill>
          <a:ln/>
        </p:spPr>
      </p:sp>
      <p:sp>
        <p:nvSpPr>
          <p:cNvPr id="49" name="Shape 47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4800600"/>
            <a:ext cx="237744" cy="237744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417320" y="46451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for the year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+58kg/month pace, monthly shipments reach 556.5 kg by January 2027 - about 6 months from now, roughly 3.7x June 2026's 150.5 kg.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Order in 21+ Days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candidates — not a churn verdict, just a nudge to reach out.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26517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since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Charlotte's of Baslow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Farmhouse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 Coffee, Warwickshire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Revival Fitness, Bournemouth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Brew CAFE 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Greenhood Coffee, Nottingham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Lookumades, Canterbury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Kasa Cafe London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2239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7F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569671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554126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of 44 active partners this month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have ordered within the last 21 days — this list is the exception, not the norm.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How to Improve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worth Ellis's attention this week, all grounded in the live CRM data.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420624" cy="420624"/>
          </a:xfrm>
          <a:prstGeom prst="ellipse">
            <a:avLst/>
          </a:prstGeom>
          <a:solidFill>
            <a:srgbClr val="A647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27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closed 76.75kg short of its dynamic floor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1856232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shipped 131.75kg against a 208.5kg target (June's 150.5kg + 58kg) - the first month under the new dynamic-goal system to fall short, and actually below June's own total. Worth digging into what shifted pace-wise before August.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624328"/>
            <a:ext cx="420624" cy="420624"/>
          </a:xfrm>
          <a:prstGeom prst="ellipse">
            <a:avLst/>
          </a:prstGeom>
          <a:solidFill>
            <a:srgbClr val="C99A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73405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511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invoices are genuinely 30+ days overdue (£1,761)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2880360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Lab, Winchester (£732, since Jun 29), Revival Fitness, Bournemouth (£732, since Jun 23) and Charlotte's of Baslow (£297, since Jun 4, follow-up already logged) haven't moved since June - the only balances that are actually overdue, not just unpaid.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6557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648456"/>
            <a:ext cx="420624" cy="420624"/>
          </a:xfrm>
          <a:prstGeom prst="ellipse">
            <a:avLst/>
          </a:prstGeom>
          <a:solidFill>
            <a:srgbClr val="C99A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75818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753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active cafés are 36-58 days quiet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904488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Charlotte's of Baslow (58 days) and Modern Farmhouse (57 days) lead the follow-up list, and both also carry old outstanding balances. This list is partial - it only covers cafés with a visible order in the data pulled.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897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672584"/>
            <a:ext cx="420624" cy="420624"/>
          </a:xfrm>
          <a:prstGeom prst="ellipse">
            <a:avLst/>
          </a:prstGeom>
          <a:solidFill>
            <a:srgbClr val="6E756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78231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599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accounts: 1 confirmed, not the sheet's 2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17320" y="4928616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BANDSTAND, Newcastle checks out as genuinely new this week (Hist Orders 0, added to CRM Jul 23, first and only invoice this period). The Weekly Log's count of 2 couldn't be verified against Raw Partners for a second account.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51383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696712"/>
            <a:ext cx="420624" cy="420624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806440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Matcha Spot led the week with a single £1,257 order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17320" y="5952744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10kg order dwarfed every other partner this week and was also July's 4th-largest account overall - worth a personal check-in on whether this size repeats.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Kyos Matcha B2B Weekly Report — 2026-07-20 to 2026-07-26</dc:title>
  <dc:subject>PptxGenJS Presentation</dc:subject>
  <dc:creator>Kyos Matcha</dc:creator>
  <cp:lastModifiedBy>Kyos Matcha</cp:lastModifiedBy>
  <cp:revision>1</cp:revision>
  <dcterms:created xsi:type="dcterms:W3CDTF">2026-08-01T01:16:19Z</dcterms:created>
  <dcterms:modified xsi:type="dcterms:W3CDTF">2026-08-01T01:16:19Z</dcterms:modified>
</cp:coreProperties>
</file>