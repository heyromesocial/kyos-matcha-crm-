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6034"/>
        </a:solidFill>
      </p:bgPr>
    </p:bg>
    <p:spTree>
      <p:nvGrpSpPr>
        <p:cNvPr id="1" name=""/>
        <p:cNvGrpSpPr/>
        <p:nvPr/>
      </p:nvGrpSpPr>
      <p:grpSpPr>
        <a:xfrm>
          <a:off x="0" y="0"/>
          <a:ext cx="0" cy="0"/>
          <a:chOff x="0" y="0"/>
          <a:chExt cx="0" cy="0"/>
        </a:xfrm>
      </p:grpSpPr>
      <p:sp>
        <p:nvSpPr>
          <p:cNvPr id="2" name="Shape 0"/>
          <p:cNvSpPr/>
          <p:nvPr/>
        </p:nvSpPr>
        <p:spPr>
          <a:xfrm>
            <a:off x="640080" y="594360"/>
            <a:ext cx="1920240" cy="603504"/>
          </a:xfrm>
          <a:prstGeom prst="roundRect">
            <a:avLst>
              <a:gd name="adj" fmla="val 9091"/>
            </a:avLst>
          </a:prstGeom>
          <a:solidFill>
            <a:srgbClr val="FFFFFF"/>
          </a:solidFill>
          <a:ln/>
        </p:spPr>
      </p:sp>
      <p:pic>
        <p:nvPicPr>
          <p:cNvPr id="3" name="Image 0" descr="/sessions/cool-zealous-curie/mnt/Kyos Matcha/CRM Reports/Kyo_s_Logo.png">    </p:cNvPr>
          <p:cNvPicPr>
            <a:picLocks noChangeAspect="1"/>
          </p:cNvPicPr>
          <p:nvPr/>
        </p:nvPicPr>
        <p:blipFill>
          <a:blip r:embed="rId1"/>
          <a:stretch>
            <a:fillRect/>
          </a:stretch>
        </p:blipFill>
        <p:spPr>
          <a:xfrm>
            <a:off x="777240" y="713232"/>
            <a:ext cx="1645920" cy="441655"/>
          </a:xfrm>
          <a:prstGeom prst="rect">
            <a:avLst/>
          </a:prstGeom>
        </p:spPr>
      </p:pic>
      <p:sp>
        <p:nvSpPr>
          <p:cNvPr id="4" name="Text 1"/>
          <p:cNvSpPr/>
          <p:nvPr/>
        </p:nvSpPr>
        <p:spPr>
          <a:xfrm>
            <a:off x="640080" y="2194560"/>
            <a:ext cx="10058400"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B2B Monthly Report</a:t>
            </a:r>
            <a:endParaRPr lang="en-US" sz="4400" dirty="0"/>
          </a:p>
        </p:txBody>
      </p:sp>
      <p:sp>
        <p:nvSpPr>
          <p:cNvPr id="5" name="Text 2"/>
          <p:cNvSpPr/>
          <p:nvPr/>
        </p:nvSpPr>
        <p:spPr>
          <a:xfrm>
            <a:off x="640080" y="3200400"/>
            <a:ext cx="9144000" cy="502920"/>
          </a:xfrm>
          <a:prstGeom prst="rect">
            <a:avLst/>
          </a:prstGeom>
          <a:noFill/>
          <a:ln/>
        </p:spPr>
        <p:txBody>
          <a:bodyPr wrap="square" lIns="0" tIns="0" rIns="0" bIns="0" rtlCol="0" anchor="ctr"/>
          <a:lstStyle/>
          <a:p>
            <a:pPr indent="0" marL="0">
              <a:buNone/>
            </a:pPr>
            <a:r>
              <a:rPr lang="en-US" sz="2000" dirty="0">
                <a:solidFill>
                  <a:srgbClr val="D9E4D3"/>
                </a:solidFill>
                <a:latin typeface="Calibri" pitchFamily="34" charset="0"/>
                <a:ea typeface="Calibri" pitchFamily="34" charset="-122"/>
                <a:cs typeface="Calibri" pitchFamily="34" charset="-120"/>
              </a:rPr>
              <a:t>September 2026  ·  Wholesale / Café Channel</a:t>
            </a:r>
            <a:endParaRPr lang="en-US" sz="2000" dirty="0"/>
          </a:p>
        </p:txBody>
      </p:sp>
      <p:sp>
        <p:nvSpPr>
          <p:cNvPr id="6" name="Text 3"/>
          <p:cNvSpPr/>
          <p:nvPr/>
        </p:nvSpPr>
        <p:spPr>
          <a:xfrm>
            <a:off x="640080" y="3703320"/>
            <a:ext cx="9875520" cy="457200"/>
          </a:xfrm>
          <a:prstGeom prst="rect">
            <a:avLst/>
          </a:prstGeom>
          <a:noFill/>
          <a:ln/>
        </p:spPr>
        <p:txBody>
          <a:bodyPr wrap="square" lIns="0" tIns="0" rIns="0" bIns="0" rtlCol="0" anchor="ctr"/>
          <a:lstStyle/>
          <a:p>
            <a:pPr indent="0" marL="0">
              <a:buNone/>
            </a:pPr>
            <a:r>
              <a:rPr lang="en-US" sz="1400" i="1" dirty="0">
                <a:solidFill>
                  <a:srgbClr val="9CB08F"/>
                </a:solidFill>
                <a:latin typeface="Calibri" pitchFamily="34" charset="0"/>
                <a:ea typeface="Calibri" pitchFamily="34" charset="-122"/>
                <a:cs typeface="Calibri" pitchFamily="34" charset="-120"/>
              </a:rPr>
              <a:t>Fifth reporting period — compared against August 2026</a:t>
            </a:r>
            <a:endParaRPr lang="en-US" sz="1400" dirty="0"/>
          </a:p>
        </p:txBody>
      </p:sp>
      <p:sp>
        <p:nvSpPr>
          <p:cNvPr id="7" name="Text 4"/>
          <p:cNvSpPr/>
          <p:nvPr/>
        </p:nvSpPr>
        <p:spPr>
          <a:xfrm>
            <a:off x="640080" y="6035040"/>
            <a:ext cx="9144000" cy="365760"/>
          </a:xfrm>
          <a:prstGeom prst="rect">
            <a:avLst/>
          </a:prstGeom>
          <a:noFill/>
          <a:ln/>
        </p:spPr>
        <p:txBody>
          <a:bodyPr wrap="square" lIns="0" tIns="0" rIns="0" bIns="0" rtlCol="0" anchor="ctr"/>
          <a:lstStyle/>
          <a:p>
            <a:pPr indent="0" marL="0">
              <a:buNone/>
            </a:pPr>
            <a:r>
              <a:rPr lang="en-US" sz="1200" dirty="0">
                <a:solidFill>
                  <a:srgbClr val="9CB08F"/>
                </a:solidFill>
                <a:latin typeface="Calibri" pitchFamily="34" charset="0"/>
                <a:ea typeface="Calibri" pitchFamily="34" charset="-122"/>
                <a:cs typeface="Calibri" pitchFamily="34" charset="-120"/>
              </a:rPr>
              <a:t>Prepared from the Partner Hub CRM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lIns="0" tIns="0" rIns="0" bIns="0" rtlCol="0" anchor="ctr"/>
          <a:lstStyle/>
          <a:p>
            <a:pPr indent="0" marL="0">
              <a:buNone/>
            </a:pPr>
            <a:r>
              <a:rPr lang="en-US" sz="2600" b="1" dirty="0">
                <a:solidFill>
                  <a:srgbClr val="20291F"/>
                </a:solidFill>
                <a:latin typeface="Cambria" pitchFamily="34" charset="0"/>
                <a:ea typeface="Cambria" pitchFamily="34" charset="-122"/>
                <a:cs typeface="Cambria" pitchFamily="34" charset="-120"/>
              </a:rPr>
              <a:t>Headline Metrics — August 2026 vs September 2026</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3749040"/>
                <a:gridCol w="1828800"/>
                <a:gridCol w="1828800"/>
                <a:gridCol w="1828800"/>
                <a:gridCol w="18288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August 2026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September 2026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Change</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566928">
                <a:tc>
                  <a:txBody>
                    <a:bodyPr/>
                    <a:lstStyle/>
                    <a:p>
                      <a:pPr indent="0" marL="0">
                        <a:buNone/>
                      </a:pPr>
                      <a:r>
                        <a:rPr lang="en-US" sz="1300" b="1" dirty="0">
                          <a:solidFill>
                            <a:srgbClr val="20291F"/>
                          </a:solidFill>
                          <a:latin typeface="Calibri" pitchFamily="34" charset="0"/>
                          <a:ea typeface="Calibri" pitchFamily="34" charset="-122"/>
                          <a:cs typeface="Calibri" pitchFamily="34" charset="-120"/>
                        </a:rPr>
                        <a:t>Total B2B revenue (paid)</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6E7568"/>
                          </a:solidFill>
                          <a:latin typeface="Calibri" pitchFamily="34" charset="0"/>
                          <a:ea typeface="Calibri" pitchFamily="34" charset="-122"/>
                          <a:cs typeface="Calibri" pitchFamily="34" charset="-120"/>
                        </a:rPr>
                        <a:t>£23,963</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400" b="1" dirty="0">
                          <a:solidFill>
                            <a:srgbClr val="20291F"/>
                          </a:solidFill>
                          <a:latin typeface="Calibri" pitchFamily="34" charset="0"/>
                          <a:ea typeface="Calibri" pitchFamily="34" charset="-122"/>
                          <a:cs typeface="Calibri" pitchFamily="34" charset="-120"/>
                        </a:rPr>
                        <a:t>£15,132</a:t>
                      </a:r>
                      <a:endParaRPr lang="en-US" sz="14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A6472B"/>
                          </a:solidFill>
                          <a:latin typeface="Calibri" pitchFamily="34" charset="0"/>
                          <a:ea typeface="Calibri" pitchFamily="34" charset="-122"/>
                          <a:cs typeface="Calibri" pitchFamily="34" charset="-120"/>
                        </a:rPr>
                        <a:t>−£8,831</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A6472B"/>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566928">
                <a:tc>
                  <a:txBody>
                    <a:bodyPr/>
                    <a:lstStyle/>
                    <a:p>
                      <a:pPr indent="0" marL="0">
                        <a:buNone/>
                      </a:pPr>
                      <a:r>
                        <a:rPr lang="en-US" sz="1300" b="1" dirty="0">
                          <a:solidFill>
                            <a:srgbClr val="20291F"/>
                          </a:solidFill>
                          <a:latin typeface="Calibri" pitchFamily="34" charset="0"/>
                          <a:ea typeface="Calibri" pitchFamily="34" charset="-122"/>
                          <a:cs typeface="Calibri" pitchFamily="34" charset="-120"/>
                        </a:rPr>
                        <a:t>Volume sold</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6E7568"/>
                          </a:solidFill>
                          <a:latin typeface="Calibri" pitchFamily="34" charset="0"/>
                          <a:ea typeface="Calibri" pitchFamily="34" charset="-122"/>
                          <a:cs typeface="Calibri" pitchFamily="34" charset="-120"/>
                        </a:rPr>
                        <a:t>204.05 kg</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400" b="1" dirty="0">
                          <a:solidFill>
                            <a:srgbClr val="20291F"/>
                          </a:solidFill>
                          <a:latin typeface="Calibri" pitchFamily="34" charset="0"/>
                          <a:ea typeface="Calibri" pitchFamily="34" charset="-122"/>
                          <a:cs typeface="Calibri" pitchFamily="34" charset="-120"/>
                        </a:rPr>
                        <a:t>134.8 kg</a:t>
                      </a:r>
                      <a:endParaRPr lang="en-US" sz="14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A6472B"/>
                          </a:solidFill>
                          <a:latin typeface="Calibri" pitchFamily="34" charset="0"/>
                          <a:ea typeface="Calibri" pitchFamily="34" charset="-122"/>
                          <a:cs typeface="Calibri" pitchFamily="34" charset="-120"/>
                        </a:rPr>
                        <a:t>−69.25 kg</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A6472B"/>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566928">
                <a:tc>
                  <a:txBody>
                    <a:bodyPr/>
                    <a:lstStyle/>
                    <a:p>
                      <a:pPr indent="0" marL="0">
                        <a:buNone/>
                      </a:pPr>
                      <a:r>
                        <a:rPr lang="en-US" sz="1300" b="1" dirty="0">
                          <a:solidFill>
                            <a:srgbClr val="20291F"/>
                          </a:solidFill>
                          <a:latin typeface="Calibri" pitchFamily="34" charset="0"/>
                          <a:ea typeface="Calibri" pitchFamily="34" charset="-122"/>
                          <a:cs typeface="Calibri" pitchFamily="34" charset="-120"/>
                        </a:rPr>
                        <a:t>Total orders (invoices)</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6E7568"/>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400" b="1" dirty="0">
                          <a:solidFill>
                            <a:srgbClr val="20291F"/>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A6472B"/>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A6472B"/>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566928">
                <a:tc>
                  <a:txBody>
                    <a:bodyPr/>
                    <a:lstStyle/>
                    <a:p>
                      <a:pPr indent="0" marL="0">
                        <a:buNone/>
                      </a:pPr>
                      <a:r>
                        <a:rPr lang="en-US" sz="1300" b="1" dirty="0">
                          <a:solidFill>
                            <a:srgbClr val="20291F"/>
                          </a:solidFill>
                          <a:latin typeface="Calibri" pitchFamily="34" charset="0"/>
                          <a:ea typeface="Calibri" pitchFamily="34" charset="-122"/>
                          <a:cs typeface="Calibri" pitchFamily="34" charset="-120"/>
                        </a:rPr>
                        <a:t>Active café accounts</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6E7568"/>
                          </a:solidFill>
                          <a:latin typeface="Calibri" pitchFamily="34" charset="0"/>
                          <a:ea typeface="Calibri" pitchFamily="34" charset="-122"/>
                          <a:cs typeface="Calibri" pitchFamily="34" charset="-120"/>
                        </a:rPr>
                        <a:t>54</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400" b="1" dirty="0">
                          <a:solidFill>
                            <a:srgbClr val="20291F"/>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A6472B"/>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A6472B"/>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566928">
                <a:tc>
                  <a:txBody>
                    <a:bodyPr/>
                    <a:lstStyle/>
                    <a:p>
                      <a:pPr indent="0" marL="0">
                        <a:buNone/>
                      </a:pPr>
                      <a:r>
                        <a:rPr lang="en-US" sz="1300" b="1" dirty="0">
                          <a:solidFill>
                            <a:srgbClr val="20291F"/>
                          </a:solidFill>
                          <a:latin typeface="Calibri" pitchFamily="34" charset="0"/>
                          <a:ea typeface="Calibri" pitchFamily="34" charset="-122"/>
                          <a:cs typeface="Calibri" pitchFamily="34" charset="-120"/>
                        </a:rPr>
                        <a:t>New accounts onboarded</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6E7568"/>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400" b="1" dirty="0">
                          <a:solidFill>
                            <a:srgbClr val="20291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dirty="0">
                          <a:solidFill>
                            <a:srgbClr val="A6472B"/>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A6472B"/>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
        <p:nvSpPr>
          <p:cNvPr id="4" name="Text 1"/>
          <p:cNvSpPr/>
          <p:nvPr/>
        </p:nvSpPr>
        <p:spPr>
          <a:xfrm>
            <a:off x="548640" y="4709160"/>
            <a:ext cx="11064240" cy="457200"/>
          </a:xfrm>
          <a:prstGeom prst="rect">
            <a:avLst/>
          </a:prstGeom>
          <a:noFill/>
          <a:ln/>
        </p:spPr>
        <p:txBody>
          <a:bodyPr wrap="square" lIns="0" tIns="0" rIns="0" bIns="0" rtlCol="0" anchor="ctr"/>
          <a:lstStyle/>
          <a:p>
            <a:pPr indent="0" marL="0">
              <a:buNone/>
            </a:pPr>
            <a:r>
              <a:rPr lang="en-US" sz="1400" i="1" dirty="0">
                <a:solidFill>
                  <a:srgbClr val="6E7568"/>
                </a:solidFill>
                <a:latin typeface="Calibri" pitchFamily="34" charset="0"/>
                <a:ea typeface="Calibri" pitchFamily="34" charset="-122"/>
                <a:cs typeface="Calibri" pitchFamily="34" charset="-120"/>
              </a:rPr>
              <a:t>Revenue is paid-only per the CRM; £3,194 of September invoices (13 of 60) are still unpaid, so invoiced total was £18,326 (−27%). August kg includes KM-349 (52.5kg logged alongside 50 retail pouches), which looks anomalous.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lIns="0" tIns="0" rIns="0" bIns="0" rtlCol="0" anchor="ctr"/>
          <a:lstStyle/>
          <a:p>
            <a:pPr indent="0" marL="0">
              <a:buNone/>
            </a:pPr>
            <a:r>
              <a:rPr lang="en-US" sz="2600" b="1" dirty="0">
                <a:solidFill>
                  <a:srgbClr val="20291F"/>
                </a:solidFill>
                <a:latin typeface="Cambria" pitchFamily="34" charset="0"/>
                <a:ea typeface="Cambria" pitchFamily="34" charset="-122"/>
                <a:cs typeface="Cambria" pitchFamily="34" charset="-120"/>
              </a:rPr>
              <a:t>Derived Metrics — August 2026 vs September 2026</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4206240"/>
                <a:gridCol w="1691640"/>
                <a:gridCol w="1691640"/>
                <a:gridCol w="1737360"/>
                <a:gridCol w="1737360"/>
              </a:tblGrid>
              <a:tr h="46863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August 2026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September 2026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Change</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Average order value (AOV, paid)</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£320</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£322</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3C7A3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3C7A3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Average selling price / kg *</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£123</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£136</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3C7A3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3C7A3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Average volume / order</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2.65 kg</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2.25 kg</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A6472B"/>
                          </a:solidFill>
                          <a:latin typeface="Calibri" pitchFamily="34" charset="0"/>
                          <a:ea typeface="Calibri" pitchFamily="34" charset="-122"/>
                          <a:cs typeface="Calibri" pitchFamily="34" charset="-120"/>
                        </a:rPr>
                        <a:t>−0.40 kg</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A6472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Orders per active café</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1.43</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1.46</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3C7A3F"/>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3C7A3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Revenue per active café *</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£465</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£447</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A6472B"/>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A6472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Prior-month cafés that reordered</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54% (25/46)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46% (25/54)</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A6472B"/>
                          </a:solidFill>
                          <a:latin typeface="Calibri" pitchFamily="34" charset="0"/>
                          <a:ea typeface="Calibri" pitchFamily="34" charset="-122"/>
                          <a:cs typeface="Calibri" pitchFamily="34" charset="-120"/>
                        </a:rPr>
                        <a:t>−8 pts</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A64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New-account share of active base</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25.9%</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7.3%</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A6472B"/>
                          </a:solidFill>
                          <a:latin typeface="Calibri" pitchFamily="34" charset="0"/>
                          <a:ea typeface="Calibri" pitchFamily="34" charset="-122"/>
                          <a:cs typeface="Calibri" pitchFamily="34" charset="-120"/>
                        </a:rPr>
                        <a:t>−18.6 pts</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A64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468630">
                <a:tc>
                  <a:txBody>
                    <a:bodyPr/>
                    <a:lstStyle/>
                    <a:p>
                      <a:pPr indent="0" marL="0">
                        <a:buNone/>
                      </a:pPr>
                      <a:r>
                        <a:rPr lang="en-US" sz="1200" b="1" dirty="0">
                          <a:solidFill>
                            <a:srgbClr val="20291F"/>
                          </a:solidFill>
                          <a:latin typeface="Calibri" pitchFamily="34" charset="0"/>
                          <a:ea typeface="Calibri" pitchFamily="34" charset="-122"/>
                          <a:cs typeface="Calibri" pitchFamily="34" charset="-120"/>
                        </a:rPr>
                        <a:t>Unpaid share of invoiced value</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6E7568"/>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300" b="1" dirty="0">
                          <a:solidFill>
                            <a:srgbClr val="20291F"/>
                          </a:solidFill>
                          <a:latin typeface="Calibri" pitchFamily="34" charset="0"/>
                          <a:ea typeface="Calibri" pitchFamily="34" charset="-122"/>
                          <a:cs typeface="Calibri" pitchFamily="34" charset="-120"/>
                        </a:rPr>
                        <a:t>17.4%</a:t>
                      </a:r>
                      <a:endParaRPr lang="en-US" sz="13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dirty="0">
                          <a:solidFill>
                            <a:srgbClr val="A6472B"/>
                          </a:solidFill>
                          <a:latin typeface="Calibri" pitchFamily="34" charset="0"/>
                          <a:ea typeface="Calibri" pitchFamily="34" charset="-122"/>
                          <a:cs typeface="Calibri" pitchFamily="34" charset="-120"/>
                        </a:rPr>
                        <a:t>+12.7 pts</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A647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
        <p:nvSpPr>
          <p:cNvPr id="4" name="Text 1"/>
          <p:cNvSpPr/>
          <p:nvPr/>
        </p:nvSpPr>
        <p:spPr>
          <a:xfrm>
            <a:off x="548640" y="5589270"/>
            <a:ext cx="11064240" cy="457200"/>
          </a:xfrm>
          <a:prstGeom prst="rect">
            <a:avLst/>
          </a:prstGeom>
          <a:noFill/>
          <a:ln/>
        </p:spPr>
        <p:txBody>
          <a:bodyPr wrap="square" lIns="0" tIns="0" rIns="0" bIns="0" rtlCol="0" anchor="ctr"/>
          <a:lstStyle/>
          <a:p>
            <a:pPr indent="0" marL="0">
              <a:buNone/>
            </a:pPr>
            <a:r>
              <a:rPr lang="en-US" sz="1100" i="1" dirty="0">
                <a:solidFill>
                  <a:srgbClr val="6E7568"/>
                </a:solidFill>
                <a:latin typeface="Calibri" pitchFamily="34" charset="0"/>
                <a:ea typeface="Calibri" pitchFamily="34" charset="-122"/>
                <a:cs typeface="Calibri" pitchFamily="34" charset="-120"/>
              </a:rPr>
              <a:t>* Invoiced basis (paid + unpaid), so price and kg are measured on the same invoices. New accounts verified via Raw Partners (Hist Orders = 0, added to CRM ≤14 days before month start); 2 reactivated + 1 unconfirmed excluded.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2"/>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Performance Statement</a:t>
            </a:r>
            <a:endParaRPr lang="en-US" sz="2800" dirty="0"/>
          </a:p>
        </p:txBody>
      </p:sp>
      <p:sp>
        <p:nvSpPr>
          <p:cNvPr id="3" name="Shape 1"/>
          <p:cNvSpPr/>
          <p:nvPr/>
        </p:nvSpPr>
        <p:spPr>
          <a:xfrm>
            <a:off x="548640" y="1188720"/>
            <a:ext cx="11064240" cy="2148840"/>
          </a:xfrm>
          <a:prstGeom prst="roundRect">
            <a:avLst>
              <a:gd name="adj" fmla="val 2553"/>
            </a:avLst>
          </a:prstGeom>
          <a:solidFill>
            <a:srgbClr val="FFFFFF"/>
          </a:solidFill>
          <a:ln/>
          <a:effectLst>
            <a:outerShdw sx="100000" sy="100000" kx="0" ky="0" algn="bl" rotWithShape="0" blurRad="101600" dist="25400" dir="5400000">
              <a:srgbClr val="1B3A22">
                <a:alpha val="8000"/>
              </a:srgbClr>
            </a:outerShdw>
          </a:effectLst>
        </p:spPr>
      </p:sp>
      <p:sp>
        <p:nvSpPr>
          <p:cNvPr id="4" name="Text 2"/>
          <p:cNvSpPr/>
          <p:nvPr/>
        </p:nvSpPr>
        <p:spPr>
          <a:xfrm>
            <a:off x="868680" y="1417320"/>
            <a:ext cx="10424160" cy="1737360"/>
          </a:xfrm>
          <a:prstGeom prst="rect">
            <a:avLst/>
          </a:prstGeom>
          <a:noFill/>
          <a:ln/>
        </p:spPr>
        <p:txBody>
          <a:bodyPr wrap="square" lIns="0" tIns="0" rIns="0" bIns="0" rtlCol="0" anchor="ctr"/>
          <a:lstStyle/>
          <a:p>
            <a:pPr indent="0" marL="0">
              <a:lnSpc>
                <a:spcPct val="122000"/>
              </a:lnSpc>
              <a:buNone/>
            </a:pPr>
            <a:r>
              <a:rPr lang="en-US" sz="1400" dirty="0">
                <a:solidFill>
                  <a:srgbClr val="20291F"/>
                </a:solidFill>
                <a:latin typeface="Calibri" pitchFamily="34" charset="0"/>
                <a:ea typeface="Calibri" pitchFamily="34" charset="-122"/>
                <a:cs typeface="Calibri" pitchFamily="34" charset="-120"/>
              </a:rPr>
              <a:t>September was a down month: paid revenue fell 37% to £15,132 and volume 34% to 134.8kg, across 41 active cafés (−24%) and 60 invoices. Some of the drop is the comparison. August's kg includes one Sunday Coffee invoice (KM-349) logging 52.5kg next to 50 retail pouches, which looks like a data-entry issue. Excluding it, kg fell 11%. Some is timing too: £3,194 is still unpaid, mostly from the last week. Per-café numbers held up. AOV was steady at £322, orders per café rose slightly and price/kg rose 10%. The real problem is the funnel. Zero samples went out, only 4 partners were added and just 3 genuinely new cafés ordered. Only 46% of August's cafés reordered. September shipped 42% of its 324kg target.</a:t>
            </a:r>
            <a:endParaRPr lang="en-US" sz="1400" dirty="0"/>
          </a:p>
        </p:txBody>
      </p:sp>
      <p:sp>
        <p:nvSpPr>
          <p:cNvPr id="5" name="Shape 3"/>
          <p:cNvSpPr/>
          <p:nvPr/>
        </p:nvSpPr>
        <p:spPr>
          <a:xfrm>
            <a:off x="548640" y="3566160"/>
            <a:ext cx="11064240" cy="868680"/>
          </a:xfrm>
          <a:prstGeom prst="roundRect">
            <a:avLst>
              <a:gd name="adj" fmla="val 6316"/>
            </a:avLst>
          </a:prstGeom>
          <a:solidFill>
            <a:srgbClr val="3C6034"/>
          </a:solidFill>
          <a:ln/>
        </p:spPr>
      </p:sp>
      <p:sp>
        <p:nvSpPr>
          <p:cNvPr id="6" name="Text 4"/>
          <p:cNvSpPr/>
          <p:nvPr/>
        </p:nvSpPr>
        <p:spPr>
          <a:xfrm>
            <a:off x="868680" y="3675888"/>
            <a:ext cx="1042416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Net: </a:t>
            </a:r>
            <a:pPr indent="0" marL="0">
              <a:buNone/>
            </a:pPr>
            <a:r>
              <a:rPr lang="en-US" sz="1350" dirty="0">
                <a:solidFill>
                  <a:srgbClr val="E4EDDF"/>
                </a:solidFill>
                <a:latin typeface="Calibri" pitchFamily="34" charset="0"/>
                <a:ea typeface="Calibri" pitchFamily="34" charset="-122"/>
                <a:cs typeface="Calibri" pitchFamily="34" charset="-120"/>
              </a:rPr>
              <a:t>a soft month where existing customers still ordered at healthy value, but the new-business pipeline stalled and the gap to the kg target is now large.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What the Numbers Tell Us</a:t>
            </a:r>
            <a:endParaRPr lang="en-US" sz="2800" dirty="0"/>
          </a:p>
        </p:txBody>
      </p:sp>
      <p:sp>
        <p:nvSpPr>
          <p:cNvPr id="3" name="Shape 1"/>
          <p:cNvSpPr/>
          <p:nvPr/>
        </p:nvSpPr>
        <p:spPr>
          <a:xfrm>
            <a:off x="548640" y="1097280"/>
            <a:ext cx="457200" cy="457200"/>
          </a:xfrm>
          <a:prstGeom prst="ellipse">
            <a:avLst/>
          </a:prstGeom>
          <a:solidFill>
            <a:srgbClr val="A6472B"/>
          </a:solidFill>
          <a:ln/>
        </p:spPr>
      </p:sp>
      <p:pic>
        <p:nvPicPr>
          <p:cNvPr id="4" name="Image 0" descr="preencoded.png">    </p:cNvPr>
          <p:cNvPicPr>
            <a:picLocks noChangeAspect="1"/>
          </p:cNvPicPr>
          <p:nvPr/>
        </p:nvPicPr>
        <p:blipFill>
          <a:blip r:embed="rId1"/>
          <a:stretch>
            <a:fillRect/>
          </a:stretch>
        </p:blipFill>
        <p:spPr>
          <a:xfrm>
            <a:off x="658368" y="1207008"/>
            <a:ext cx="237744" cy="237744"/>
          </a:xfrm>
          <a:prstGeom prst="rect">
            <a:avLst/>
          </a:prstGeom>
        </p:spPr>
      </p:pic>
      <p:sp>
        <p:nvSpPr>
          <p:cNvPr id="5" name="Text 2"/>
          <p:cNvSpPr/>
          <p:nvPr/>
        </p:nvSpPr>
        <p:spPr>
          <a:xfrm>
            <a:off x="1234440" y="1069848"/>
            <a:ext cx="10241280" cy="320040"/>
          </a:xfrm>
          <a:prstGeom prst="rect">
            <a:avLst/>
          </a:prstGeom>
          <a:noFill/>
          <a:ln/>
        </p:spPr>
        <p:txBody>
          <a:bodyPr wrap="square" lIns="0" tIns="0" rIns="0" bIns="0" rtlCol="0" anchor="ctr"/>
          <a:lstStyle/>
          <a:p>
            <a:pPr indent="0" marL="0">
              <a:buNone/>
            </a:pPr>
            <a:r>
              <a:rPr lang="en-US" sz="1500" b="1" dirty="0">
                <a:solidFill>
                  <a:srgbClr val="20291F"/>
                </a:solidFill>
                <a:latin typeface="Calibri" pitchFamily="34" charset="0"/>
                <a:ea typeface="Calibri" pitchFamily="34" charset="-122"/>
                <a:cs typeface="Calibri" pitchFamily="34" charset="-120"/>
              </a:rPr>
              <a:t>Acquisition stalled</a:t>
            </a:r>
            <a:endParaRPr lang="en-US" sz="1500" dirty="0"/>
          </a:p>
        </p:txBody>
      </p:sp>
      <p:sp>
        <p:nvSpPr>
          <p:cNvPr id="6" name="Text 3"/>
          <p:cNvSpPr/>
          <p:nvPr/>
        </p:nvSpPr>
        <p:spPr>
          <a:xfrm>
            <a:off x="1234440" y="1399032"/>
            <a:ext cx="10241280" cy="45720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0 samples sent, 4 partners added and 3 verified new cafés (vs 28 / 38 / 14 in August). The drop in active cafés follows directly.</a:t>
            </a:r>
            <a:endParaRPr lang="en-US" sz="1200" dirty="0"/>
          </a:p>
        </p:txBody>
      </p:sp>
      <p:sp>
        <p:nvSpPr>
          <p:cNvPr id="7" name="Shape 4"/>
          <p:cNvSpPr/>
          <p:nvPr/>
        </p:nvSpPr>
        <p:spPr>
          <a:xfrm>
            <a:off x="548640" y="2084832"/>
            <a:ext cx="457200" cy="457200"/>
          </a:xfrm>
          <a:prstGeom prst="ellipse">
            <a:avLst/>
          </a:prstGeom>
          <a:solidFill>
            <a:srgbClr val="C99A3A"/>
          </a:solidFill>
          <a:ln/>
        </p:spPr>
      </p:sp>
      <p:pic>
        <p:nvPicPr>
          <p:cNvPr id="8" name="Image 1" descr="preencoded.png">    </p:cNvPr>
          <p:cNvPicPr>
            <a:picLocks noChangeAspect="1"/>
          </p:cNvPicPr>
          <p:nvPr/>
        </p:nvPicPr>
        <p:blipFill>
          <a:blip r:embed="rId2"/>
          <a:stretch>
            <a:fillRect/>
          </a:stretch>
        </p:blipFill>
        <p:spPr>
          <a:xfrm>
            <a:off x="658368" y="2194560"/>
            <a:ext cx="237744" cy="237744"/>
          </a:xfrm>
          <a:prstGeom prst="rect">
            <a:avLst/>
          </a:prstGeom>
        </p:spPr>
      </p:pic>
      <p:sp>
        <p:nvSpPr>
          <p:cNvPr id="9" name="Text 5"/>
          <p:cNvSpPr/>
          <p:nvPr/>
        </p:nvSpPr>
        <p:spPr>
          <a:xfrm>
            <a:off x="1234440" y="2057400"/>
            <a:ext cx="10241280" cy="320040"/>
          </a:xfrm>
          <a:prstGeom prst="rect">
            <a:avLst/>
          </a:prstGeom>
          <a:noFill/>
          <a:ln/>
        </p:spPr>
        <p:txBody>
          <a:bodyPr wrap="square" lIns="0" tIns="0" rIns="0" bIns="0" rtlCol="0" anchor="ctr"/>
          <a:lstStyle/>
          <a:p>
            <a:pPr indent="0" marL="0">
              <a:buNone/>
            </a:pPr>
            <a:r>
              <a:rPr lang="en-US" sz="1500" b="1" dirty="0">
                <a:solidFill>
                  <a:srgbClr val="20291F"/>
                </a:solidFill>
                <a:latin typeface="Calibri" pitchFamily="34" charset="0"/>
                <a:ea typeface="Calibri" pitchFamily="34" charset="-122"/>
                <a:cs typeface="Calibri" pitchFamily="34" charset="-120"/>
              </a:rPr>
              <a:t>August's kg is likely overstated</a:t>
            </a:r>
            <a:endParaRPr lang="en-US" sz="1500" dirty="0"/>
          </a:p>
        </p:txBody>
      </p:sp>
      <p:sp>
        <p:nvSpPr>
          <p:cNvPr id="10" name="Text 6"/>
          <p:cNvSpPr/>
          <p:nvPr/>
        </p:nvSpPr>
        <p:spPr>
          <a:xfrm>
            <a:off x="1234440" y="2386584"/>
            <a:ext cx="10241280" cy="45720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KM-349 (Sunday Coffee) logs 52.5kg next to 50 retail pouches for £1,494.50, which looks like pouches entered as kg. Excluding it, kg fell 11% (151.6 → 134.8), not 34%.</a:t>
            </a:r>
            <a:endParaRPr lang="en-US" sz="1200" dirty="0"/>
          </a:p>
        </p:txBody>
      </p:sp>
      <p:sp>
        <p:nvSpPr>
          <p:cNvPr id="11" name="Shape 7"/>
          <p:cNvSpPr/>
          <p:nvPr/>
        </p:nvSpPr>
        <p:spPr>
          <a:xfrm>
            <a:off x="548640" y="3072384"/>
            <a:ext cx="457200" cy="457200"/>
          </a:xfrm>
          <a:prstGeom prst="ellipse">
            <a:avLst/>
          </a:prstGeom>
          <a:solidFill>
            <a:srgbClr val="3C7A3F"/>
          </a:solidFill>
          <a:ln/>
        </p:spPr>
      </p:sp>
      <p:pic>
        <p:nvPicPr>
          <p:cNvPr id="12" name="Image 2" descr="preencoded.png">    </p:cNvPr>
          <p:cNvPicPr>
            <a:picLocks noChangeAspect="1"/>
          </p:cNvPicPr>
          <p:nvPr/>
        </p:nvPicPr>
        <p:blipFill>
          <a:blip r:embed="rId3"/>
          <a:stretch>
            <a:fillRect/>
          </a:stretch>
        </p:blipFill>
        <p:spPr>
          <a:xfrm>
            <a:off x="658368" y="3182112"/>
            <a:ext cx="237744" cy="237744"/>
          </a:xfrm>
          <a:prstGeom prst="rect">
            <a:avLst/>
          </a:prstGeom>
        </p:spPr>
      </p:pic>
      <p:sp>
        <p:nvSpPr>
          <p:cNvPr id="13" name="Text 8"/>
          <p:cNvSpPr/>
          <p:nvPr/>
        </p:nvSpPr>
        <p:spPr>
          <a:xfrm>
            <a:off x="1234440" y="3044952"/>
            <a:ext cx="10241280" cy="320040"/>
          </a:xfrm>
          <a:prstGeom prst="rect">
            <a:avLst/>
          </a:prstGeom>
          <a:noFill/>
          <a:ln/>
        </p:spPr>
        <p:txBody>
          <a:bodyPr wrap="square" lIns="0" tIns="0" rIns="0" bIns="0" rtlCol="0" anchor="ctr"/>
          <a:lstStyle/>
          <a:p>
            <a:pPr indent="0" marL="0">
              <a:buNone/>
            </a:pPr>
            <a:r>
              <a:rPr lang="en-US" sz="1500" b="1" dirty="0">
                <a:solidFill>
                  <a:srgbClr val="20291F"/>
                </a:solidFill>
                <a:latin typeface="Calibri" pitchFamily="34" charset="0"/>
                <a:ea typeface="Calibri" pitchFamily="34" charset="-122"/>
                <a:cs typeface="Calibri" pitchFamily="34" charset="-120"/>
              </a:rPr>
              <a:t>Order quality held</a:t>
            </a:r>
            <a:endParaRPr lang="en-US" sz="1500" dirty="0"/>
          </a:p>
        </p:txBody>
      </p:sp>
      <p:sp>
        <p:nvSpPr>
          <p:cNvPr id="14" name="Text 9"/>
          <p:cNvSpPr/>
          <p:nvPr/>
        </p:nvSpPr>
        <p:spPr>
          <a:xfrm>
            <a:off x="1234440" y="3374136"/>
            <a:ext cx="10241280" cy="45720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AOV £322 (flat), orders per café 1.46 (up slightly) and price/kg up 10%. Cafés that ordered still ordered at good value.</a:t>
            </a:r>
            <a:endParaRPr lang="en-US" sz="1200" dirty="0"/>
          </a:p>
        </p:txBody>
      </p:sp>
      <p:sp>
        <p:nvSpPr>
          <p:cNvPr id="15" name="Shape 10"/>
          <p:cNvSpPr/>
          <p:nvPr/>
        </p:nvSpPr>
        <p:spPr>
          <a:xfrm>
            <a:off x="548640" y="4059936"/>
            <a:ext cx="457200" cy="457200"/>
          </a:xfrm>
          <a:prstGeom prst="ellipse">
            <a:avLst/>
          </a:prstGeom>
          <a:solidFill>
            <a:srgbClr val="3C7A3F"/>
          </a:solidFill>
          <a:ln/>
        </p:spPr>
      </p:sp>
      <p:pic>
        <p:nvPicPr>
          <p:cNvPr id="16" name="Image 3" descr="preencoded.png">    </p:cNvPr>
          <p:cNvPicPr>
            <a:picLocks noChangeAspect="1"/>
          </p:cNvPicPr>
          <p:nvPr/>
        </p:nvPicPr>
        <p:blipFill>
          <a:blip r:embed="rId4"/>
          <a:stretch>
            <a:fillRect/>
          </a:stretch>
        </p:blipFill>
        <p:spPr>
          <a:xfrm>
            <a:off x="658368" y="4169664"/>
            <a:ext cx="237744" cy="237744"/>
          </a:xfrm>
          <a:prstGeom prst="rect">
            <a:avLst/>
          </a:prstGeom>
        </p:spPr>
      </p:pic>
      <p:sp>
        <p:nvSpPr>
          <p:cNvPr id="17" name="Text 11"/>
          <p:cNvSpPr/>
          <p:nvPr/>
        </p:nvSpPr>
        <p:spPr>
          <a:xfrm>
            <a:off x="1234440" y="4032504"/>
            <a:ext cx="10241280" cy="320040"/>
          </a:xfrm>
          <a:prstGeom prst="rect">
            <a:avLst/>
          </a:prstGeom>
          <a:noFill/>
          <a:ln/>
        </p:spPr>
        <p:txBody>
          <a:bodyPr wrap="square" lIns="0" tIns="0" rIns="0" bIns="0" rtlCol="0" anchor="ctr"/>
          <a:lstStyle/>
          <a:p>
            <a:pPr indent="0" marL="0">
              <a:buNone/>
            </a:pPr>
            <a:r>
              <a:rPr lang="en-US" sz="1500" b="1" dirty="0">
                <a:solidFill>
                  <a:srgbClr val="20291F"/>
                </a:solidFill>
                <a:latin typeface="Calibri" pitchFamily="34" charset="0"/>
                <a:ea typeface="Calibri" pitchFamily="34" charset="-122"/>
                <a:cs typeface="Calibri" pitchFamily="34" charset="-120"/>
              </a:rPr>
              <a:t>Reorders are slipping</a:t>
            </a:r>
            <a:endParaRPr lang="en-US" sz="1500" dirty="0"/>
          </a:p>
        </p:txBody>
      </p:sp>
      <p:sp>
        <p:nvSpPr>
          <p:cNvPr id="18" name="Text 12"/>
          <p:cNvSpPr/>
          <p:nvPr/>
        </p:nvSpPr>
        <p:spPr>
          <a:xfrm>
            <a:off x="1234440" y="4361688"/>
            <a:ext cx="10241280" cy="45720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Only 25 of August's 54 cafés reordered in September (46%, vs 54% Jul→Aug). 57 cafés that have ever ordered are now 30+ days quiet.</a:t>
            </a:r>
            <a:endParaRPr lang="en-US" sz="1200" dirty="0"/>
          </a:p>
        </p:txBody>
      </p:sp>
      <p:sp>
        <p:nvSpPr>
          <p:cNvPr id="19" name="Shape 13"/>
          <p:cNvSpPr/>
          <p:nvPr/>
        </p:nvSpPr>
        <p:spPr>
          <a:xfrm>
            <a:off x="548640" y="5047488"/>
            <a:ext cx="457200" cy="457200"/>
          </a:xfrm>
          <a:prstGeom prst="ellipse">
            <a:avLst/>
          </a:prstGeom>
          <a:solidFill>
            <a:srgbClr val="C99A3A"/>
          </a:solidFill>
          <a:ln/>
        </p:spPr>
      </p:sp>
      <p:pic>
        <p:nvPicPr>
          <p:cNvPr id="20" name="Image 4" descr="preencoded.png">    </p:cNvPr>
          <p:cNvPicPr>
            <a:picLocks noChangeAspect="1"/>
          </p:cNvPicPr>
          <p:nvPr/>
        </p:nvPicPr>
        <p:blipFill>
          <a:blip r:embed="rId5"/>
          <a:stretch>
            <a:fillRect/>
          </a:stretch>
        </p:blipFill>
        <p:spPr>
          <a:xfrm>
            <a:off x="658368" y="5157216"/>
            <a:ext cx="237744" cy="237744"/>
          </a:xfrm>
          <a:prstGeom prst="rect">
            <a:avLst/>
          </a:prstGeom>
        </p:spPr>
      </p:pic>
      <p:sp>
        <p:nvSpPr>
          <p:cNvPr id="21" name="Text 14"/>
          <p:cNvSpPr/>
          <p:nvPr/>
        </p:nvSpPr>
        <p:spPr>
          <a:xfrm>
            <a:off x="1234440" y="5020056"/>
            <a:ext cx="10241280" cy="320040"/>
          </a:xfrm>
          <a:prstGeom prst="rect">
            <a:avLst/>
          </a:prstGeom>
          <a:noFill/>
          <a:ln/>
        </p:spPr>
        <p:txBody>
          <a:bodyPr wrap="square" lIns="0" tIns="0" rIns="0" bIns="0" rtlCol="0" anchor="ctr"/>
          <a:lstStyle/>
          <a:p>
            <a:pPr indent="0" marL="0">
              <a:buNone/>
            </a:pPr>
            <a:r>
              <a:rPr lang="en-US" sz="1500" b="1" dirty="0">
                <a:solidFill>
                  <a:srgbClr val="20291F"/>
                </a:solidFill>
                <a:latin typeface="Calibri" pitchFamily="34" charset="0"/>
                <a:ea typeface="Calibri" pitchFamily="34" charset="-122"/>
                <a:cs typeface="Calibri" pitchFamily="34" charset="-120"/>
              </a:rPr>
              <a:t>Unpaid balance building</a:t>
            </a:r>
            <a:endParaRPr lang="en-US" sz="1500" dirty="0"/>
          </a:p>
        </p:txBody>
      </p:sp>
      <p:sp>
        <p:nvSpPr>
          <p:cNvPr id="22" name="Text 15"/>
          <p:cNvSpPr/>
          <p:nvPr/>
        </p:nvSpPr>
        <p:spPr>
          <a:xfrm>
            <a:off x="1234440" y="5349240"/>
            <a:ext cx="10241280" cy="457200"/>
          </a:xfrm>
          <a:prstGeom prst="rect">
            <a:avLst/>
          </a:prstGeom>
          <a:noFill/>
          <a:ln/>
        </p:spPr>
        <p:txBody>
          <a:bodyPr wrap="square" lIns="0" tIns="0" rIns="0" bIns="0" rtlCol="0" anchor="ctr"/>
          <a:lstStyle/>
          <a:p>
            <a:pPr indent="0" marL="0">
              <a:buNone/>
            </a:pPr>
            <a:r>
              <a:rPr lang="en-US" sz="1200" dirty="0">
                <a:solidFill>
                  <a:srgbClr val="6E7568"/>
                </a:solidFill>
                <a:latin typeface="Calibri" pitchFamily="34" charset="0"/>
                <a:ea typeface="Calibri" pitchFamily="34" charset="-122"/>
                <a:cs typeface="Calibri" pitchFamily="34" charset="-120"/>
              </a:rPr>
              <a:t>£3,194 (17% of invoiced value) is unpaid, mostly invoiced 23–30 Sept. Likely timing, but it's the highest share so far. Chase it in the first week of October.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502920"/>
          </a:xfrm>
          <a:prstGeom prst="rect">
            <a:avLst/>
          </a:prstGeom>
          <a:noFill/>
          <a:ln/>
        </p:spPr>
        <p:txBody>
          <a:bodyPr wrap="square" lIns="0" tIns="0" rIns="0" bIns="0" rtlCol="0" anchor="ctr"/>
          <a:lstStyle/>
          <a:p>
            <a:pPr indent="0" marL="0">
              <a:buNone/>
            </a:pPr>
            <a:r>
              <a:rPr lang="en-US" sz="2800" b="1" dirty="0">
                <a:solidFill>
                  <a:srgbClr val="20291F"/>
                </a:solidFill>
                <a:latin typeface="Cambria" pitchFamily="34" charset="0"/>
                <a:ea typeface="Cambria" pitchFamily="34" charset="-122"/>
                <a:cs typeface="Cambria" pitchFamily="34" charset="-120"/>
              </a:rPr>
              <a:t>KPI Dashboard</a:t>
            </a:r>
            <a:endParaRPr lang="en-US" sz="2800" dirty="0"/>
          </a:p>
        </p:txBody>
      </p:sp>
      <p:sp>
        <p:nvSpPr>
          <p:cNvPr id="3" name="Text 1"/>
          <p:cNvSpPr/>
          <p:nvPr/>
        </p:nvSpPr>
        <p:spPr>
          <a:xfrm>
            <a:off x="548640" y="841248"/>
            <a:ext cx="10972800" cy="320040"/>
          </a:xfrm>
          <a:prstGeom prst="rect">
            <a:avLst/>
          </a:prstGeom>
          <a:noFill/>
          <a:ln/>
        </p:spPr>
        <p:txBody>
          <a:bodyPr wrap="square" lIns="0" tIns="0" rIns="0" bIns="0" rtlCol="0" anchor="ctr"/>
          <a:lstStyle/>
          <a:p>
            <a:pPr indent="0" marL="0">
              <a:buNone/>
            </a:pPr>
            <a:r>
              <a:rPr lang="en-US" sz="1200" i="1" dirty="0">
                <a:solidFill>
                  <a:srgbClr val="6E7568"/>
                </a:solidFill>
                <a:latin typeface="Calibri" pitchFamily="34" charset="0"/>
                <a:ea typeface="Calibri" pitchFamily="34" charset="-122"/>
                <a:cs typeface="Calibri" pitchFamily="34" charset="-120"/>
              </a:rPr>
              <a:t>August vs September. Margin, reorder rate and churn rows unlock once the data-capture items are in place.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834640"/>
                <a:gridCol w="1554480"/>
                <a:gridCol w="1554480"/>
                <a:gridCol w="1645920"/>
                <a:gridCol w="34747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August 2026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September 2026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 Change</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Revenue (paid)</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£23,963</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£15,132</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A6472B"/>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A6472B"/>
                          </a:solidFill>
                          <a:latin typeface="Calibri" pitchFamily="34" charset="0"/>
                          <a:ea typeface="Calibri" pitchFamily="34" charset="-122"/>
                          <a:cs typeface="Calibri" pitchFamily="34" charset="-120"/>
                        </a:rPr>
                        <a:t>down — partly unpaid timing</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Volume (kg)</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204.05</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134.8</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A6472B"/>
                          </a:solidFill>
                          <a:latin typeface="Calibri" pitchFamily="34" charset="0"/>
                          <a:ea typeface="Calibri" pitchFamily="34" charset="-122"/>
                          <a:cs typeface="Calibri" pitchFamily="34" charset="-120"/>
                        </a:rPr>
                        <a:t>−34%</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A6472B"/>
                          </a:solidFill>
                          <a:latin typeface="Calibri" pitchFamily="34" charset="0"/>
                          <a:ea typeface="Calibri" pitchFamily="34" charset="-122"/>
                          <a:cs typeface="Calibri" pitchFamily="34" charset="-120"/>
                        </a:rPr>
                        <a:t>−11% excl. KM-349</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Kg vs monthly target</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77% (266)</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42% (324)</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A647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A6472B"/>
                          </a:solidFill>
                          <a:latin typeface="Calibri" pitchFamily="34" charset="0"/>
                          <a:ea typeface="Calibri" pitchFamily="34" charset="-122"/>
                          <a:cs typeface="Calibri" pitchFamily="34" charset="-120"/>
                        </a:rPr>
                        <a:t>gap widening</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Active accounts</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54</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A6472B"/>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A6472B"/>
                          </a:solidFill>
                          <a:latin typeface="Calibri" pitchFamily="34" charset="0"/>
                          <a:ea typeface="Calibri" pitchFamily="34" charset="-122"/>
                          <a:cs typeface="Calibri" pitchFamily="34" charset="-120"/>
                        </a:rPr>
                        <a:t>down</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New accounts</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A6472B"/>
                          </a:solidFill>
                          <a:latin typeface="Calibri" pitchFamily="34" charset="0"/>
                          <a:ea typeface="Calibri" pitchFamily="34" charset="-122"/>
                          <a:cs typeface="Calibri" pitchFamily="34" charset="-120"/>
                        </a:rPr>
                        <a:t>−79%</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A6472B"/>
                          </a:solidFill>
                          <a:latin typeface="Calibri" pitchFamily="34" charset="0"/>
                          <a:ea typeface="Calibri" pitchFamily="34" charset="-122"/>
                          <a:cs typeface="Calibri" pitchFamily="34" charset="-120"/>
                        </a:rPr>
                        <a:t>pipeline stalled</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AOV</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£320</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£322</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3C7A3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3C7A3F"/>
                          </a:solidFill>
                          <a:latin typeface="Calibri" pitchFamily="34" charset="0"/>
                          <a:ea typeface="Calibri" pitchFamily="34" charset="-122"/>
                          <a:cs typeface="Calibri" pitchFamily="34" charset="-120"/>
                        </a:rPr>
                        <a:t>stable</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Avg price / kg</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£123</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£136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3C7A3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3C7A3F"/>
                          </a:solidFill>
                          <a:latin typeface="Calibri" pitchFamily="34" charset="0"/>
                          <a:ea typeface="Calibri" pitchFamily="34" charset="-122"/>
                          <a:cs typeface="Calibri" pitchFamily="34" charset="-120"/>
                        </a:rPr>
                        <a:t>up — Aug diluted by KM-349</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Orders / active café</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1.43</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3C7A3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3C7A3F"/>
                          </a:solidFill>
                          <a:latin typeface="Calibri" pitchFamily="34" charset="0"/>
                          <a:ea typeface="Calibri" pitchFamily="34" charset="-122"/>
                          <a:cs typeface="Calibri" pitchFamily="34" charset="-120"/>
                        </a:rPr>
                        <a:t>stable</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Prior-month reorder rate</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54%</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A6472B"/>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A6472B"/>
                          </a:solidFill>
                          <a:latin typeface="Calibri" pitchFamily="34" charset="0"/>
                          <a:ea typeface="Calibri" pitchFamily="34" charset="-122"/>
                          <a:cs typeface="Calibri" pitchFamily="34" charset="-120"/>
                        </a:rPr>
                        <a:t>watch closely</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Gross margin %</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TBC</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6E7568"/>
                          </a:solidFill>
                          <a:latin typeface="Calibri" pitchFamily="34" charset="0"/>
                          <a:ea typeface="Calibri" pitchFamily="34" charset="-122"/>
                          <a:cs typeface="Calibri" pitchFamily="34" charset="-120"/>
                        </a:rPr>
                        <a:t>still not tracked</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384048">
                <a:tc>
                  <a:txBody>
                    <a:bodyPr/>
                    <a:lstStyle/>
                    <a:p>
                      <a:pPr indent="0" marL="0">
                        <a:buNone/>
                      </a:pPr>
                      <a:r>
                        <a:rPr lang="en-US" sz="1150" b="1" dirty="0">
                          <a:solidFill>
                            <a:srgbClr val="20291F"/>
                          </a:solidFill>
                          <a:latin typeface="Calibri" pitchFamily="34" charset="0"/>
                          <a:ea typeface="Calibri" pitchFamily="34" charset="-122"/>
                          <a:cs typeface="Calibri" pitchFamily="34" charset="-120"/>
                        </a:rPr>
                        <a:t>Account churn</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TBC</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200" b="1" dirty="0">
                          <a:solidFill>
                            <a:srgbClr val="20291F"/>
                          </a:solidFill>
                          <a:latin typeface="Calibri" pitchFamily="34" charset="0"/>
                          <a:ea typeface="Calibri" pitchFamily="34" charset="-122"/>
                          <a:cs typeface="Calibri" pitchFamily="34" charset="-120"/>
                        </a:rPr>
                        <a:t>TBC</a:t>
                      </a:r>
                      <a:endParaRPr lang="en-US" sz="12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ctr" indent="0" marL="0">
                        <a:buNone/>
                      </a:pPr>
                      <a:r>
                        <a:rPr lang="en-US" sz="1150" dirty="0">
                          <a:solidFill>
                            <a:srgbClr val="6E756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algn="l" indent="0" marL="0">
                        <a:buNone/>
                      </a:pPr>
                      <a:r>
                        <a:rPr lang="en-US" sz="1150" dirty="0">
                          <a:solidFill>
                            <a:srgbClr val="6E7568"/>
                          </a:solidFill>
                          <a:latin typeface="Calibri" pitchFamily="34" charset="0"/>
                          <a:ea typeface="Calibri" pitchFamily="34" charset="-122"/>
                          <a:cs typeface="Calibri" pitchFamily="34" charset="-120"/>
                        </a:rPr>
                        <a:t>need data</a:t>
                      </a:r>
                      <a:endParaRPr lang="en-US" sz="11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548640"/>
          </a:xfrm>
          <a:prstGeom prst="rect">
            <a:avLst/>
          </a:prstGeom>
          <a:noFill/>
          <a:ln/>
        </p:spPr>
        <p:txBody>
          <a:bodyPr wrap="square" lIns="0" tIns="0" rIns="0" bIns="0" rtlCol="0" anchor="ctr"/>
          <a:lstStyle/>
          <a:p>
            <a:pPr indent="0" marL="0">
              <a:buNone/>
            </a:pPr>
            <a:r>
              <a:rPr lang="en-US" sz="2600" b="1" dirty="0">
                <a:solidFill>
                  <a:srgbClr val="20291F"/>
                </a:solidFill>
                <a:latin typeface="Cambria" pitchFamily="34" charset="0"/>
                <a:ea typeface="Cambria" pitchFamily="34" charset="-122"/>
                <a:cs typeface="Cambria" pitchFamily="34" charset="-120"/>
              </a:rPr>
              <a:t>Data to Capture  ·  Definitions</a:t>
            </a:r>
            <a:endParaRPr lang="en-US" sz="2600" dirty="0"/>
          </a:p>
        </p:txBody>
      </p:sp>
      <p:sp>
        <p:nvSpPr>
          <p:cNvPr id="3" name="Text 1"/>
          <p:cNvSpPr/>
          <p:nvPr/>
        </p:nvSpPr>
        <p:spPr>
          <a:xfrm>
            <a:off x="548640" y="1188720"/>
            <a:ext cx="5486400" cy="320040"/>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TOP PRIORITY GAPS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486400" cy="914400"/>
        </p:xfrm>
        <a:graphic>
          <a:graphicData uri="http://schemas.openxmlformats.org/drawingml/2006/table">
            <a:tbl>
              <a:tblPr/>
              <a:tblGrid>
                <a:gridCol w="2286000"/>
                <a:gridCol w="2286000"/>
                <a:gridCol w="914400"/>
              </a:tblGrid>
              <a:tr h="7772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 to capture</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Unlocks</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Priority</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777240">
                <a:tc>
                  <a:txBody>
                    <a:bodyPr/>
                    <a:lstStyle/>
                    <a:p>
                      <a:pPr indent="0" marL="0">
                        <a:buNone/>
                      </a:pPr>
                      <a:r>
                        <a:rPr lang="en-US" sz="1100" dirty="0">
                          <a:solidFill>
                            <a:srgbClr val="20291F"/>
                          </a:solidFill>
                          <a:latin typeface="Calibri" pitchFamily="34" charset="0"/>
                          <a:ea typeface="Calibri" pitchFamily="34" charset="-122"/>
                          <a:cs typeface="Calibri" pitchFamily="34" charset="-120"/>
                        </a:rPr>
                        <a:t>Cost per kg (COGS) + fulfilment cost</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dirty="0">
                          <a:solidFill>
                            <a:srgbClr val="6E7568"/>
                          </a:solidFill>
                          <a:latin typeface="Calibri" pitchFamily="34" charset="0"/>
                          <a:ea typeface="Calibri" pitchFamily="34" charset="-122"/>
                          <a:cs typeface="Calibri" pitchFamily="34" charset="-120"/>
                        </a:rPr>
                        <a:t>Confirms whether growth (and bulk deals) is profitable</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b="1" dirty="0">
                          <a:solidFill>
                            <a:srgbClr val="C99A3A"/>
                          </a:solidFill>
                          <a:latin typeface="Calibri" pitchFamily="34" charset="0"/>
                          <a:ea typeface="Calibri" pitchFamily="34" charset="-122"/>
                          <a:cs typeface="Calibri" pitchFamily="34" charset="-120"/>
                        </a:rPr>
                        <a:t>1 — Critical</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777240">
                <a:tc>
                  <a:txBody>
                    <a:bodyPr/>
                    <a:lstStyle/>
                    <a:p>
                      <a:pPr indent="0" marL="0">
                        <a:buNone/>
                      </a:pPr>
                      <a:r>
                        <a:rPr lang="en-US" sz="1100" dirty="0">
                          <a:solidFill>
                            <a:srgbClr val="20291F"/>
                          </a:solidFill>
                          <a:latin typeface="Calibri" pitchFamily="34" charset="0"/>
                          <a:ea typeface="Calibri" pitchFamily="34" charset="-122"/>
                          <a:cs typeface="Calibri" pitchFamily="34" charset="-120"/>
                        </a:rPr>
                        <a:t>Order history tagged by account</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dirty="0">
                          <a:solidFill>
                            <a:srgbClr val="6E7568"/>
                          </a:solidFill>
                          <a:latin typeface="Calibri" pitchFamily="34" charset="0"/>
                          <a:ea typeface="Calibri" pitchFamily="34" charset="-122"/>
                          <a:cs typeface="Calibri" pitchFamily="34" charset="-120"/>
                        </a:rPr>
                        <a:t>Reorder rate, churn, growth quality</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b="1" dirty="0">
                          <a:solidFill>
                            <a:srgbClr val="C99A3A"/>
                          </a:solidFill>
                          <a:latin typeface="Calibri" pitchFamily="34" charset="0"/>
                          <a:ea typeface="Calibri" pitchFamily="34" charset="-122"/>
                          <a:cs typeface="Calibri" pitchFamily="34" charset="-120"/>
                        </a:rPr>
                        <a:t>2 — Critical</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777240">
                <a:tc>
                  <a:txBody>
                    <a:bodyPr/>
                    <a:lstStyle/>
                    <a:p>
                      <a:pPr indent="0" marL="0">
                        <a:buNone/>
                      </a:pPr>
                      <a:r>
                        <a:rPr lang="en-US" sz="1100" dirty="0">
                          <a:solidFill>
                            <a:srgbClr val="20291F"/>
                          </a:solidFill>
                          <a:latin typeface="Calibri" pitchFamily="34" charset="0"/>
                          <a:ea typeface="Calibri" pitchFamily="34" charset="-122"/>
                          <a:cs typeface="Calibri" pitchFamily="34" charset="-120"/>
                        </a:rPr>
                        <a:t>New vs returning revenue split</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dirty="0">
                          <a:solidFill>
                            <a:srgbClr val="6E7568"/>
                          </a:solidFill>
                          <a:latin typeface="Calibri" pitchFamily="34" charset="0"/>
                          <a:ea typeface="Calibri" pitchFamily="34" charset="-122"/>
                          <a:cs typeface="Calibri" pitchFamily="34" charset="-120"/>
                        </a:rPr>
                        <a:t>How much of each month's change came from new vs existing</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b="1" dirty="0">
                          <a:solidFill>
                            <a:srgbClr val="C99A3A"/>
                          </a:solidFill>
                          <a:latin typeface="Calibri" pitchFamily="34" charset="0"/>
                          <a:ea typeface="Calibri" pitchFamily="34" charset="-122"/>
                          <a:cs typeface="Calibri" pitchFamily="34" charset="-120"/>
                        </a:rPr>
                        <a:t>3 — High</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
        <p:nvSpPr>
          <p:cNvPr id="5" name="Text 2"/>
          <p:cNvSpPr/>
          <p:nvPr/>
        </p:nvSpPr>
        <p:spPr>
          <a:xfrm>
            <a:off x="6309360" y="1188720"/>
            <a:ext cx="5486400" cy="320040"/>
          </a:xfrm>
          <a:prstGeom prst="rect">
            <a:avLst/>
          </a:prstGeom>
          <a:noFill/>
          <a:ln/>
        </p:spPr>
        <p:txBody>
          <a:bodyPr wrap="square" lIns="0" tIns="0" rIns="0" bIns="0" rtlCol="0" anchor="ctr"/>
          <a:lstStyle/>
          <a:p>
            <a:pPr indent="0" marL="0">
              <a:buNone/>
            </a:pPr>
            <a:r>
              <a:rPr lang="en-US" sz="1300" b="1" spc="100" kern="0" dirty="0">
                <a:solidFill>
                  <a:srgbClr val="3C6034"/>
                </a:solidFill>
                <a:latin typeface="Calibri" pitchFamily="34" charset="0"/>
                <a:ea typeface="Calibri" pitchFamily="34" charset="-122"/>
                <a:cs typeface="Calibri" pitchFamily="34" charset="-120"/>
              </a:rPr>
              <a:t>LOCKED DEFINITIONS</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309360" y="1554480"/>
          <a:ext cx="5303520" cy="914400"/>
        </p:xfrm>
        <a:graphic>
          <a:graphicData uri="http://schemas.openxmlformats.org/drawingml/2006/table">
            <a:tbl>
              <a:tblPr/>
              <a:tblGrid>
                <a:gridCol w="1737360"/>
                <a:gridCol w="3566160"/>
              </a:tblGrid>
              <a:tr h="7772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Working definition</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solidFill>
                      <a:srgbClr val="3C6034"/>
                    </a:solidFill>
                  </a:tcPr>
                </a:tc>
              </a:tr>
              <a:tr h="777240">
                <a:tc>
                  <a:txBody>
                    <a:bodyPr/>
                    <a:lstStyle/>
                    <a:p>
                      <a:pPr indent="0" marL="0">
                        <a:buNone/>
                      </a:pPr>
                      <a:r>
                        <a:rPr lang="en-US" sz="1100" b="1" dirty="0">
                          <a:solidFill>
                            <a:srgbClr val="20291F"/>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dirty="0">
                          <a:solidFill>
                            <a:srgbClr val="6E7568"/>
                          </a:solidFill>
                          <a:latin typeface="Calibri" pitchFamily="34" charset="0"/>
                          <a:ea typeface="Calibri" pitchFamily="34" charset="-122"/>
                          <a:cs typeface="Calibri" pitchFamily="34" charset="-120"/>
                        </a:rPr>
                        <a:t>Net of VAT/refunds; counted on order date within the calendar month.</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777240">
                <a:tc>
                  <a:txBody>
                    <a:bodyPr/>
                    <a:lstStyle/>
                    <a:p>
                      <a:pPr indent="0" marL="0">
                        <a:buNone/>
                      </a:pPr>
                      <a:r>
                        <a:rPr lang="en-US" sz="1100" b="1" dirty="0">
                          <a:solidFill>
                            <a:srgbClr val="20291F"/>
                          </a:solidFill>
                          <a:latin typeface="Calibri" pitchFamily="34" charset="0"/>
                          <a:ea typeface="Calibri" pitchFamily="34" charset="-122"/>
                          <a:cs typeface="Calibri" pitchFamily="34" charset="-120"/>
                        </a:rPr>
                        <a:t>Active account</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dirty="0">
                          <a:solidFill>
                            <a:srgbClr val="6E7568"/>
                          </a:solidFill>
                          <a:latin typeface="Calibri" pitchFamily="34" charset="0"/>
                          <a:ea typeface="Calibri" pitchFamily="34" charset="-122"/>
                          <a:cs typeface="Calibri" pitchFamily="34" charset="-120"/>
                        </a:rPr>
                        <a:t>A café that placed ≥1 paid order in the month.</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777240">
                <a:tc>
                  <a:txBody>
                    <a:bodyPr/>
                    <a:lstStyle/>
                    <a:p>
                      <a:pPr indent="0" marL="0">
                        <a:buNone/>
                      </a:pPr>
                      <a:r>
                        <a:rPr lang="en-US" sz="1100" b="1" dirty="0">
                          <a:solidFill>
                            <a:srgbClr val="20291F"/>
                          </a:solidFill>
                          <a:latin typeface="Calibri" pitchFamily="34" charset="0"/>
                          <a:ea typeface="Calibri" pitchFamily="34" charset="-122"/>
                          <a:cs typeface="Calibri" pitchFamily="34" charset="-120"/>
                        </a:rPr>
                        <a:t>Onboarded / new account</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dirty="0">
                          <a:solidFill>
                            <a:srgbClr val="6E7568"/>
                          </a:solidFill>
                          <a:latin typeface="Calibri" pitchFamily="34" charset="0"/>
                          <a:ea typeface="Calibri" pitchFamily="34" charset="-122"/>
                          <a:cs typeface="Calibri" pitchFamily="34" charset="-120"/>
                        </a:rPr>
                        <a:t>First-ever paid order fell in this month.</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r h="777240">
                <a:tc>
                  <a:txBody>
                    <a:bodyPr/>
                    <a:lstStyle/>
                    <a:p>
                      <a:pPr indent="0" marL="0">
                        <a:buNone/>
                      </a:pPr>
                      <a:r>
                        <a:rPr lang="en-US" sz="1100" b="1" dirty="0">
                          <a:solidFill>
                            <a:srgbClr val="20291F"/>
                          </a:solidFill>
                          <a:latin typeface="Calibri" pitchFamily="34" charset="0"/>
                          <a:ea typeface="Calibri" pitchFamily="34" charset="-122"/>
                          <a:cs typeface="Calibri" pitchFamily="34" charset="-120"/>
                        </a:rPr>
                        <a:t>Volume</a:t>
                      </a:r>
                      <a:endParaRPr lang="en-US" sz="110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c>
                  <a:txBody>
                    <a:bodyPr/>
                    <a:lstStyle/>
                    <a:p>
                      <a:pPr indent="0" marL="0">
                        <a:buNone/>
                      </a:pPr>
                      <a:r>
                        <a:rPr lang="en-US" sz="1050" dirty="0">
                          <a:solidFill>
                            <a:srgbClr val="6E7568"/>
                          </a:solidFill>
                          <a:latin typeface="Calibri" pitchFamily="34" charset="0"/>
                          <a:ea typeface="Calibri" pitchFamily="34" charset="-122"/>
                          <a:cs typeface="Calibri" pitchFamily="34" charset="-120"/>
                        </a:rPr>
                        <a:t>Total kg of matcha shipped/invoiced in the month.</a:t>
                      </a:r>
                      <a:endParaRPr lang="en-US" sz="1050" dirty="0">
                        <a:latin typeface="Calibri" charset="0"/>
                        <a:ea typeface="Calibri" charset="0"/>
                        <a:cs typeface="Calibri" charset="0"/>
                      </a:endParaRPr>
                    </a:p>
                  </a:txBody>
                  <a:tcPr marL="91440" marR="91440" marT="45720" marB="45720" anchor="ctr">
                    <a:lnL w="9525" cap="flat" cmpd="sng" algn="ctr">
                      <a:solidFill>
                        <a:srgbClr val="E1E8DD"/>
                      </a:solidFill>
                      <a:prstDash val="solid"/>
                      <a:round/>
                      <a:headEnd type="none" w="med" len="med"/>
                      <a:tailEnd type="none" w="med" len="med"/>
                    </a:lnL>
                    <a:lnR w="9525" cap="flat" cmpd="sng" algn="ctr">
                      <a:solidFill>
                        <a:srgbClr val="E1E8DD"/>
                      </a:solidFill>
                      <a:prstDash val="solid"/>
                      <a:round/>
                      <a:headEnd type="none" w="med" len="med"/>
                      <a:tailEnd type="none" w="med" len="med"/>
                    </a:lnR>
                    <a:lnT w="9525" cap="flat" cmpd="sng" algn="ctr">
                      <a:solidFill>
                        <a:srgbClr val="E1E8DD"/>
                      </a:solidFill>
                      <a:prstDash val="solid"/>
                      <a:round/>
                      <a:headEnd type="none" w="med" len="med"/>
                      <a:tailEnd type="none" w="med" len="med"/>
                    </a:lnT>
                    <a:lnB w="9525" cap="flat" cmpd="sng" algn="ctr">
                      <a:solidFill>
                        <a:srgbClr val="E1E8DD"/>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C6034"/>
        </a:solidFill>
      </p:bgPr>
    </p:bg>
    <p:spTree>
      <p:nvGrpSpPr>
        <p:cNvPr id="1" name=""/>
        <p:cNvGrpSpPr/>
        <p:nvPr/>
      </p:nvGrpSpPr>
      <p:grpSpPr>
        <a:xfrm>
          <a:off x="0" y="0"/>
          <a:ext cx="0" cy="0"/>
          <a:chOff x="0" y="0"/>
          <a:chExt cx="0" cy="0"/>
        </a:xfrm>
      </p:grpSpPr>
      <p:sp>
        <p:nvSpPr>
          <p:cNvPr id="2" name="Text 0"/>
          <p:cNvSpPr/>
          <p:nvPr/>
        </p:nvSpPr>
        <p:spPr>
          <a:xfrm>
            <a:off x="640080" y="5486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Recommendations to Grow the Brand</a:t>
            </a:r>
            <a:endParaRPr lang="en-US" sz="3000" dirty="0"/>
          </a:p>
        </p:txBody>
      </p:sp>
      <p:sp>
        <p:nvSpPr>
          <p:cNvPr id="3" name="Text 1"/>
          <p:cNvSpPr/>
          <p:nvPr/>
        </p:nvSpPr>
        <p:spPr>
          <a:xfrm>
            <a:off x="640080" y="1170432"/>
            <a:ext cx="10515600" cy="457200"/>
          </a:xfrm>
          <a:prstGeom prst="rect">
            <a:avLst/>
          </a:prstGeom>
          <a:noFill/>
          <a:ln/>
        </p:spPr>
        <p:txBody>
          <a:bodyPr wrap="square" lIns="0" tIns="0" rIns="0" bIns="0" rtlCol="0" anchor="ctr"/>
          <a:lstStyle/>
          <a:p>
            <a:pPr indent="0" marL="0">
              <a:buNone/>
            </a:pPr>
            <a:r>
              <a:rPr lang="en-US" sz="1300" i="1" dirty="0">
                <a:solidFill>
                  <a:srgbClr val="C7D6BE"/>
                </a:solidFill>
                <a:latin typeface="Calibri" pitchFamily="34" charset="0"/>
                <a:ea typeface="Calibri" pitchFamily="34" charset="-122"/>
                <a:cs typeface="Calibri" pitchFamily="34" charset="-120"/>
              </a:rPr>
              <a:t>Grounded in this month's numbers, not generic advice.</a:t>
            </a:r>
            <a:endParaRPr lang="en-US" sz="1300" dirty="0"/>
          </a:p>
        </p:txBody>
      </p:sp>
      <p:sp>
        <p:nvSpPr>
          <p:cNvPr id="4" name="Shape 2"/>
          <p:cNvSpPr/>
          <p:nvPr/>
        </p:nvSpPr>
        <p:spPr>
          <a:xfrm>
            <a:off x="640080" y="1828800"/>
            <a:ext cx="5257800" cy="1417320"/>
          </a:xfrm>
          <a:prstGeom prst="roundRect">
            <a:avLst>
              <a:gd name="adj" fmla="val 3871"/>
            </a:avLst>
          </a:prstGeom>
          <a:solidFill>
            <a:srgbClr val="FFFFFF"/>
          </a:solidFill>
          <a:ln/>
        </p:spPr>
      </p:sp>
      <p:sp>
        <p:nvSpPr>
          <p:cNvPr id="5" name="Shape 3"/>
          <p:cNvSpPr/>
          <p:nvPr/>
        </p:nvSpPr>
        <p:spPr>
          <a:xfrm>
            <a:off x="868680" y="2029968"/>
            <a:ext cx="384048" cy="384048"/>
          </a:xfrm>
          <a:prstGeom prst="ellipse">
            <a:avLst/>
          </a:prstGeom>
          <a:solidFill>
            <a:srgbClr val="3C6034"/>
          </a:solidFill>
          <a:ln/>
        </p:spPr>
      </p:sp>
      <p:pic>
        <p:nvPicPr>
          <p:cNvPr id="6" name="Image 0" descr="preencoded.png">    </p:cNvPr>
          <p:cNvPicPr>
            <a:picLocks noChangeAspect="1"/>
          </p:cNvPicPr>
          <p:nvPr/>
        </p:nvPicPr>
        <p:blipFill>
          <a:blip r:embed="rId1"/>
          <a:stretch>
            <a:fillRect/>
          </a:stretch>
        </p:blipFill>
        <p:spPr>
          <a:xfrm>
            <a:off x="960120" y="2121408"/>
            <a:ext cx="201168" cy="201168"/>
          </a:xfrm>
          <a:prstGeom prst="rect">
            <a:avLst/>
          </a:prstGeom>
        </p:spPr>
      </p:pic>
      <p:sp>
        <p:nvSpPr>
          <p:cNvPr id="7" name="Text 4"/>
          <p:cNvSpPr/>
          <p:nvPr/>
        </p:nvSpPr>
        <p:spPr>
          <a:xfrm>
            <a:off x="1371600" y="1975104"/>
            <a:ext cx="4297680" cy="365760"/>
          </a:xfrm>
          <a:prstGeom prst="rect">
            <a:avLst/>
          </a:prstGeom>
          <a:noFill/>
          <a:ln/>
        </p:spPr>
        <p:txBody>
          <a:bodyPr wrap="square" lIns="0" tIns="0" rIns="0" bIns="0" rtlCol="0" anchor="ctr"/>
          <a:lstStyle/>
          <a:p>
            <a:pPr indent="0" marL="0">
              <a:buNone/>
            </a:pPr>
            <a:r>
              <a:rPr lang="en-US" sz="1350" b="1" dirty="0">
                <a:solidFill>
                  <a:srgbClr val="20291F"/>
                </a:solidFill>
                <a:latin typeface="Calibri" pitchFamily="34" charset="0"/>
                <a:ea typeface="Calibri" pitchFamily="34" charset="-122"/>
                <a:cs typeface="Calibri" pitchFamily="34" charset="-120"/>
              </a:rPr>
              <a:t>1. Work the 114-café sample backlog now</a:t>
            </a:r>
            <a:endParaRPr lang="en-US" sz="1350" dirty="0"/>
          </a:p>
        </p:txBody>
      </p:sp>
      <p:sp>
        <p:nvSpPr>
          <p:cNvPr id="8" name="Text 5"/>
          <p:cNvSpPr/>
          <p:nvPr/>
        </p:nvSpPr>
        <p:spPr>
          <a:xfrm>
            <a:off x="1371600" y="2340864"/>
            <a:ext cx="4297680" cy="777240"/>
          </a:xfrm>
          <a:prstGeom prst="rect">
            <a:avLst/>
          </a:prstGeom>
          <a:noFill/>
          <a:ln/>
        </p:spPr>
        <p:txBody>
          <a:bodyPr wrap="square" lIns="0" tIns="0" rIns="0" bIns="0" rtlCol="0" anchor="ctr"/>
          <a:lstStyle/>
          <a:p>
            <a:pPr indent="0" marL="0">
              <a:buNone/>
            </a:pPr>
            <a:r>
              <a:rPr lang="en-US" sz="1100" dirty="0">
                <a:solidFill>
                  <a:srgbClr val="6E7568"/>
                </a:solidFill>
                <a:latin typeface="Calibri" pitchFamily="34" charset="0"/>
                <a:ea typeface="Calibri" pitchFamily="34" charset="-122"/>
                <a:cs typeface="Calibri" pitchFamily="34" charset="-120"/>
              </a:rPr>
              <a:t>114 partners sit at 'sample sent', nearly 3x September's 41 active cafés, and 76 were sampled in Jul–Aug. With no new samples going out, converting this pool is the fastest route to new accounts. A follow-up call or WhatsApp to each in October costs little.</a:t>
            </a:r>
            <a:endParaRPr lang="en-US" sz="1100" dirty="0"/>
          </a:p>
        </p:txBody>
      </p:sp>
      <p:sp>
        <p:nvSpPr>
          <p:cNvPr id="9" name="Shape 6"/>
          <p:cNvSpPr/>
          <p:nvPr/>
        </p:nvSpPr>
        <p:spPr>
          <a:xfrm>
            <a:off x="6263640" y="1828800"/>
            <a:ext cx="5257800" cy="1417320"/>
          </a:xfrm>
          <a:prstGeom prst="roundRect">
            <a:avLst>
              <a:gd name="adj" fmla="val 3871"/>
            </a:avLst>
          </a:prstGeom>
          <a:solidFill>
            <a:srgbClr val="FFFFFF"/>
          </a:solidFill>
          <a:ln/>
        </p:spPr>
      </p:sp>
      <p:sp>
        <p:nvSpPr>
          <p:cNvPr id="10" name="Shape 7"/>
          <p:cNvSpPr/>
          <p:nvPr/>
        </p:nvSpPr>
        <p:spPr>
          <a:xfrm>
            <a:off x="6492240" y="2029968"/>
            <a:ext cx="384048" cy="384048"/>
          </a:xfrm>
          <a:prstGeom prst="ellipse">
            <a:avLst/>
          </a:prstGeom>
          <a:solidFill>
            <a:srgbClr val="3C6034"/>
          </a:solidFill>
          <a:ln/>
        </p:spPr>
      </p:sp>
      <p:pic>
        <p:nvPicPr>
          <p:cNvPr id="11" name="Image 1" descr="preencoded.png">    </p:cNvPr>
          <p:cNvPicPr>
            <a:picLocks noChangeAspect="1"/>
          </p:cNvPicPr>
          <p:nvPr/>
        </p:nvPicPr>
        <p:blipFill>
          <a:blip r:embed="rId2"/>
          <a:stretch>
            <a:fillRect/>
          </a:stretch>
        </p:blipFill>
        <p:spPr>
          <a:xfrm>
            <a:off x="6583680" y="2121408"/>
            <a:ext cx="201168" cy="201168"/>
          </a:xfrm>
          <a:prstGeom prst="rect">
            <a:avLst/>
          </a:prstGeom>
        </p:spPr>
      </p:pic>
      <p:sp>
        <p:nvSpPr>
          <p:cNvPr id="12" name="Text 8"/>
          <p:cNvSpPr/>
          <p:nvPr/>
        </p:nvSpPr>
        <p:spPr>
          <a:xfrm>
            <a:off x="6995160" y="1975104"/>
            <a:ext cx="4297680" cy="365760"/>
          </a:xfrm>
          <a:prstGeom prst="rect">
            <a:avLst/>
          </a:prstGeom>
          <a:noFill/>
          <a:ln/>
        </p:spPr>
        <p:txBody>
          <a:bodyPr wrap="square" lIns="0" tIns="0" rIns="0" bIns="0" rtlCol="0" anchor="ctr"/>
          <a:lstStyle/>
          <a:p>
            <a:pPr indent="0" marL="0">
              <a:buNone/>
            </a:pPr>
            <a:r>
              <a:rPr lang="en-US" sz="1350" b="1" dirty="0">
                <a:solidFill>
                  <a:srgbClr val="20291F"/>
                </a:solidFill>
                <a:latin typeface="Calibri" pitchFamily="34" charset="0"/>
                <a:ea typeface="Calibri" pitchFamily="34" charset="-122"/>
                <a:cs typeface="Calibri" pitchFamily="34" charset="-120"/>
              </a:rPr>
              <a:t>2. Run a reorder sweep on the 57 quiet cafés</a:t>
            </a:r>
            <a:endParaRPr lang="en-US" sz="1350" dirty="0"/>
          </a:p>
        </p:txBody>
      </p:sp>
      <p:sp>
        <p:nvSpPr>
          <p:cNvPr id="13" name="Text 9"/>
          <p:cNvSpPr/>
          <p:nvPr/>
        </p:nvSpPr>
        <p:spPr>
          <a:xfrm>
            <a:off x="6995160" y="2340864"/>
            <a:ext cx="4297680" cy="777240"/>
          </a:xfrm>
          <a:prstGeom prst="rect">
            <a:avLst/>
          </a:prstGeom>
          <a:noFill/>
          <a:ln/>
        </p:spPr>
        <p:txBody>
          <a:bodyPr wrap="square" lIns="0" tIns="0" rIns="0" bIns="0" rtlCol="0" anchor="ctr"/>
          <a:lstStyle/>
          <a:p>
            <a:pPr indent="0" marL="0">
              <a:buNone/>
            </a:pPr>
            <a:r>
              <a:rPr lang="en-US" sz="1100" dirty="0">
                <a:solidFill>
                  <a:srgbClr val="6E7568"/>
                </a:solidFill>
                <a:latin typeface="Calibri" pitchFamily="34" charset="0"/>
                <a:ea typeface="Calibri" pitchFamily="34" charset="-122"/>
                <a:cs typeface="Calibri" pitchFamily="34" charset="-120"/>
              </a:rPr>
              <a:t>57 cafés that have ordered before are 30+ days quiet, and only 46% of August's buyers came back. Start with Sunday Coffee: £1,457 orders on 29 Jun and 3 Aug, but nothing in September. A reminder 3–4 weeks after each café's last order would protect the base.</a:t>
            </a:r>
            <a:endParaRPr lang="en-US" sz="1100" dirty="0"/>
          </a:p>
        </p:txBody>
      </p:sp>
      <p:sp>
        <p:nvSpPr>
          <p:cNvPr id="14" name="Shape 10"/>
          <p:cNvSpPr/>
          <p:nvPr/>
        </p:nvSpPr>
        <p:spPr>
          <a:xfrm>
            <a:off x="640080" y="3474720"/>
            <a:ext cx="5257800" cy="1417320"/>
          </a:xfrm>
          <a:prstGeom prst="roundRect">
            <a:avLst>
              <a:gd name="adj" fmla="val 3871"/>
            </a:avLst>
          </a:prstGeom>
          <a:solidFill>
            <a:srgbClr val="FFFFFF"/>
          </a:solidFill>
          <a:ln/>
        </p:spPr>
      </p:sp>
      <p:sp>
        <p:nvSpPr>
          <p:cNvPr id="15" name="Shape 11"/>
          <p:cNvSpPr/>
          <p:nvPr/>
        </p:nvSpPr>
        <p:spPr>
          <a:xfrm>
            <a:off x="868680" y="3675888"/>
            <a:ext cx="384048" cy="384048"/>
          </a:xfrm>
          <a:prstGeom prst="ellipse">
            <a:avLst/>
          </a:prstGeom>
          <a:solidFill>
            <a:srgbClr val="3C6034"/>
          </a:solidFill>
          <a:ln/>
        </p:spPr>
      </p:sp>
      <p:pic>
        <p:nvPicPr>
          <p:cNvPr id="16" name="Image 2" descr="preencoded.png">    </p:cNvPr>
          <p:cNvPicPr>
            <a:picLocks noChangeAspect="1"/>
          </p:cNvPicPr>
          <p:nvPr/>
        </p:nvPicPr>
        <p:blipFill>
          <a:blip r:embed="rId3"/>
          <a:stretch>
            <a:fillRect/>
          </a:stretch>
        </p:blipFill>
        <p:spPr>
          <a:xfrm>
            <a:off x="960120" y="3767328"/>
            <a:ext cx="201168" cy="201168"/>
          </a:xfrm>
          <a:prstGeom prst="rect">
            <a:avLst/>
          </a:prstGeom>
        </p:spPr>
      </p:pic>
      <p:sp>
        <p:nvSpPr>
          <p:cNvPr id="17" name="Text 12"/>
          <p:cNvSpPr/>
          <p:nvPr/>
        </p:nvSpPr>
        <p:spPr>
          <a:xfrm>
            <a:off x="1371600" y="3621024"/>
            <a:ext cx="4297680" cy="365760"/>
          </a:xfrm>
          <a:prstGeom prst="rect">
            <a:avLst/>
          </a:prstGeom>
          <a:noFill/>
          <a:ln/>
        </p:spPr>
        <p:txBody>
          <a:bodyPr wrap="square" lIns="0" tIns="0" rIns="0" bIns="0" rtlCol="0" anchor="ctr"/>
          <a:lstStyle/>
          <a:p>
            <a:pPr indent="0" marL="0">
              <a:buNone/>
            </a:pPr>
            <a:r>
              <a:rPr lang="en-US" sz="1350" b="1" dirty="0">
                <a:solidFill>
                  <a:srgbClr val="20291F"/>
                </a:solidFill>
                <a:latin typeface="Calibri" pitchFamily="34" charset="0"/>
                <a:ea typeface="Calibri" pitchFamily="34" charset="-122"/>
                <a:cs typeface="Calibri" pitchFamily="34" charset="-120"/>
              </a:rPr>
              <a:t>3. Restart top-of-funnel outreach</a:t>
            </a:r>
            <a:endParaRPr lang="en-US" sz="1350" dirty="0"/>
          </a:p>
        </p:txBody>
      </p:sp>
      <p:sp>
        <p:nvSpPr>
          <p:cNvPr id="18" name="Text 13"/>
          <p:cNvSpPr/>
          <p:nvPr/>
        </p:nvSpPr>
        <p:spPr>
          <a:xfrm>
            <a:off x="1371600" y="3986784"/>
            <a:ext cx="4297680" cy="777240"/>
          </a:xfrm>
          <a:prstGeom prst="rect">
            <a:avLst/>
          </a:prstGeom>
          <a:noFill/>
          <a:ln/>
        </p:spPr>
        <p:txBody>
          <a:bodyPr wrap="square" lIns="0" tIns="0" rIns="0" bIns="0" rtlCol="0" anchor="ctr"/>
          <a:lstStyle/>
          <a:p>
            <a:pPr indent="0" marL="0">
              <a:buNone/>
            </a:pPr>
            <a:r>
              <a:rPr lang="en-US" sz="1100" dirty="0">
                <a:solidFill>
                  <a:srgbClr val="6E7568"/>
                </a:solidFill>
                <a:latin typeface="Calibri" pitchFamily="34" charset="0"/>
                <a:ea typeface="Calibri" pitchFamily="34" charset="-122"/>
                <a:cs typeface="Calibri" pitchFamily="34" charset="-120"/>
              </a:rPr>
              <a:t>Partners added fell from 38 to 4 and samples from 28 to 0. October's target is 382kg, nearly 3x September's actual. Set a weekly floor (e.g. 10 new samples) so the pipeline doesn't run dry again.</a:t>
            </a:r>
            <a:endParaRPr lang="en-US" sz="1100" dirty="0"/>
          </a:p>
        </p:txBody>
      </p:sp>
      <p:sp>
        <p:nvSpPr>
          <p:cNvPr id="19" name="Shape 14"/>
          <p:cNvSpPr/>
          <p:nvPr/>
        </p:nvSpPr>
        <p:spPr>
          <a:xfrm>
            <a:off x="6263640" y="3474720"/>
            <a:ext cx="5257800" cy="1417320"/>
          </a:xfrm>
          <a:prstGeom prst="roundRect">
            <a:avLst>
              <a:gd name="adj" fmla="val 3871"/>
            </a:avLst>
          </a:prstGeom>
          <a:solidFill>
            <a:srgbClr val="FFFFFF"/>
          </a:solidFill>
          <a:ln/>
        </p:spPr>
      </p:sp>
      <p:sp>
        <p:nvSpPr>
          <p:cNvPr id="20" name="Shape 15"/>
          <p:cNvSpPr/>
          <p:nvPr/>
        </p:nvSpPr>
        <p:spPr>
          <a:xfrm>
            <a:off x="6492240" y="3675888"/>
            <a:ext cx="384048" cy="384048"/>
          </a:xfrm>
          <a:prstGeom prst="ellipse">
            <a:avLst/>
          </a:prstGeom>
          <a:solidFill>
            <a:srgbClr val="3C6034"/>
          </a:solidFill>
          <a:ln/>
        </p:spPr>
      </p:sp>
      <p:pic>
        <p:nvPicPr>
          <p:cNvPr id="21" name="Image 3" descr="preencoded.png">    </p:cNvPr>
          <p:cNvPicPr>
            <a:picLocks noChangeAspect="1"/>
          </p:cNvPicPr>
          <p:nvPr/>
        </p:nvPicPr>
        <p:blipFill>
          <a:blip r:embed="rId4"/>
          <a:stretch>
            <a:fillRect/>
          </a:stretch>
        </p:blipFill>
        <p:spPr>
          <a:xfrm>
            <a:off x="6583680" y="3767328"/>
            <a:ext cx="201168" cy="201168"/>
          </a:xfrm>
          <a:prstGeom prst="rect">
            <a:avLst/>
          </a:prstGeom>
        </p:spPr>
      </p:pic>
      <p:sp>
        <p:nvSpPr>
          <p:cNvPr id="22" name="Text 16"/>
          <p:cNvSpPr/>
          <p:nvPr/>
        </p:nvSpPr>
        <p:spPr>
          <a:xfrm>
            <a:off x="6995160" y="3621024"/>
            <a:ext cx="4297680" cy="365760"/>
          </a:xfrm>
          <a:prstGeom prst="rect">
            <a:avLst/>
          </a:prstGeom>
          <a:noFill/>
          <a:ln/>
        </p:spPr>
        <p:txBody>
          <a:bodyPr wrap="square" lIns="0" tIns="0" rIns="0" bIns="0" rtlCol="0" anchor="ctr"/>
          <a:lstStyle/>
          <a:p>
            <a:pPr indent="0" marL="0">
              <a:buNone/>
            </a:pPr>
            <a:r>
              <a:rPr lang="en-US" sz="1350" b="1" dirty="0">
                <a:solidFill>
                  <a:srgbClr val="20291F"/>
                </a:solidFill>
                <a:latin typeface="Calibri" pitchFamily="34" charset="0"/>
                <a:ea typeface="Calibri" pitchFamily="34" charset="-122"/>
                <a:cs typeface="Calibri" pitchFamily="34" charset="-120"/>
              </a:rPr>
              <a:t>4. Fix the KM-349 entry, then capture margin</a:t>
            </a:r>
            <a:endParaRPr lang="en-US" sz="1350" dirty="0"/>
          </a:p>
        </p:txBody>
      </p:sp>
      <p:sp>
        <p:nvSpPr>
          <p:cNvPr id="23" name="Text 17"/>
          <p:cNvSpPr/>
          <p:nvPr/>
        </p:nvSpPr>
        <p:spPr>
          <a:xfrm>
            <a:off x="6995160" y="3986784"/>
            <a:ext cx="4297680" cy="777240"/>
          </a:xfrm>
          <a:prstGeom prst="rect">
            <a:avLst/>
          </a:prstGeom>
          <a:noFill/>
          <a:ln/>
        </p:spPr>
        <p:txBody>
          <a:bodyPr wrap="square" lIns="0" tIns="0" rIns="0" bIns="0" rtlCol="0" anchor="ctr"/>
          <a:lstStyle/>
          <a:p>
            <a:pPr indent="0" marL="0">
              <a:buNone/>
            </a:pPr>
            <a:r>
              <a:rPr lang="en-US" sz="1100" dirty="0">
                <a:solidFill>
                  <a:srgbClr val="6E7568"/>
                </a:solidFill>
                <a:latin typeface="Calibri" pitchFamily="34" charset="0"/>
                <a:ea typeface="Calibri" pitchFamily="34" charset="-122"/>
                <a:cs typeface="Calibri" pitchFamily="34" charset="-120"/>
              </a:rPr>
              <a:t>Confirm whether KM-349's 52.5kg is really pouches. If it is, August kg and price/kg need restating. Then capture cost per kg so bulk and retail-pouch orders can be judged on profit, not just volume.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Kyos Matcha B2B Monthly Report — September 2026</dc:title>
  <dc:subject>PptxGenJS Presentation</dc:subject>
  <dc:creator>Kyos Matcha</dc:creator>
  <cp:lastModifiedBy>Kyos Matcha</cp:lastModifiedBy>
  <cp:revision>1</cp:revision>
  <dcterms:created xsi:type="dcterms:W3CDTF">2026-10-01T01:28:15Z</dcterms:created>
  <dcterms:modified xsi:type="dcterms:W3CDTF">2026-10-01T01:28:15Z</dcterms:modified>
</cp:coreProperties>
</file>