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60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1920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pic>
        <p:nvPicPr>
          <p:cNvPr id="3" name="Image 0" descr="/sessions/adoring-cool-bohr/mnt/outputs/Kyo_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13232"/>
            <a:ext cx="1645920" cy="4416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945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Monthly Report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32004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Wholesale / Café Channel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3703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reporting period — compared against May 2026 (baseline)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B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 the Partner Hub CRM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Metrics — May 2026 vs June 2026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828800"/>
                <a:gridCol w="1828800"/>
                <a:gridCol w="1828800"/>
                <a:gridCol w="1828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June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B2B 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£15,500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£21,042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+£5,542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sold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 kg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150.5 kg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+20.5 kg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orders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café accounts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accounts onboarded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709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36% on 16% more volume — driven mainly by breadth: 20 more active cafés and double the new-account intake.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Derived Metrics — May 2026 vs June 2026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691640"/>
                <a:gridCol w="1691640"/>
                <a:gridCol w="1737360"/>
                <a:gridCol w="1737360"/>
              </a:tblGrid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June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order value (AOV)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+£30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selling price / kg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+£21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volume / 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2.17 kg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2.06 kg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−0.11 kg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per active café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per active café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£376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−£55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New-account share of active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+5.6 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returning / reactivated accounts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656217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Assumption: new accounts are counted within active cafés and each placed ~1 order. June's 56 active exceeds May's 36 + 14 new (50) — at least 6 dormant accounts likely reactivated.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3A22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41732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June's headline is strong: revenue grew 36% to £21,042 on 150.5kg, 73 orders and 56 active cafés, with 14 new accounts onboarded — double May's intake. But the growth was led by breadth, not depth: the active base grew 56% while revenue grew 36%, so revenue per café fell 13% and orders per café fell 22%. At the same time, realised price per kg rose 17% and AOV rose 12% — when cafés order, they order higher-value. The open question: is the drop in order frequency healthy dilution from a big onboarding month, or early softening in the existing base? We can't yet tell without account-level order tracking — paired with the continued absence of margin data, that's the gap to close before July.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3C603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67588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Net: </a:t>
            </a:r>
            <a:pPr indent="0" marL="0">
              <a:buNone/>
            </a:pPr>
            <a:r>
              <a:rPr lang="en-US" sz="1350" dirty="0">
                <a:solidFill>
                  <a:srgbClr val="E4E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strong, encouraging month with genuine positives — revenue, pricing power, and a widening returning base — alongside one metric to watch closely: per-account order frequency.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Numbers Tell 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57200" cy="457200"/>
          </a:xfrm>
          <a:prstGeom prst="ellipse">
            <a:avLst/>
          </a:prstGeom>
          <a:solidFill>
            <a:srgbClr val="3C7A3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07008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0698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breadth-led month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34440" y="139903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rose 36% to £21,042, but the active base grew faster (+56%). More cafés buying, not each café buying more.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457200" cy="457200"/>
          </a:xfrm>
          <a:prstGeom prst="ellipse">
            <a:avLst/>
          </a:prstGeom>
          <a:solidFill>
            <a:srgbClr val="3C7A3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9456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0574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power showed up (+17%/kg)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234440" y="238658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more than twice as fast as volume — the gap is price/mix. Confirm the cause before banking on it.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3072384"/>
            <a:ext cx="457200" cy="457200"/>
          </a:xfrm>
          <a:prstGeom prst="ellipse">
            <a:avLst/>
          </a:prstGeom>
          <a:solidFill>
            <a:srgbClr val="A6472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18211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04495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frequency softened (−22%)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234440" y="337413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dilution from doubling onboards, but the returning base still appears to have slowed. Timing or real softening — can't yet tell.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4059936"/>
            <a:ext cx="457200" cy="457200"/>
          </a:xfrm>
          <a:prstGeom prst="ellipse">
            <a:avLst/>
          </a:prstGeom>
          <a:solidFill>
            <a:srgbClr val="3C7A3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16966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403250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widening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234440" y="436168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Returning/reactivated accounts grew ~29 → ~42 (+45%), partly offsetting the frequency dip.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8640" y="5047488"/>
            <a:ext cx="457200" cy="457200"/>
          </a:xfrm>
          <a:prstGeom prst="ellipse">
            <a:avLst/>
          </a:prstGeom>
          <a:solidFill>
            <a:srgbClr val="C99A3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157216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34440" y="502005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still invisible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1234440" y="53492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margin data (is £21k more profitable than May's £15.5k?) and no account-level order history. Closing these is the highest-value move for July.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view across our first two months. TBC rows unlock once July's data-capture items are in place.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554480"/>
                <a:gridCol w="1554480"/>
                <a:gridCol w="1645920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June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£15,500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£21,042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growing fast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(kg)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accounts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strongly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accounts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price / kg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7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— check mix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/ active café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closely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/ active café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£376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not tracked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/ reorder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not tracked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churn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to Capture  ·  Definitions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PRIORITY GAPS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486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91440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to capture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Unlocks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kg (COGS) + fulfilment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whether £21k is profitable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9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Critical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history tagged by account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Reorder rate, churn, growth quality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9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Critical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vs returning revenue 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of +36% came from new vs existing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9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DEFINITIONS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554480"/>
          <a:ext cx="53035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56616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definition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of VAT/refunds; counted on order date within the calendar month.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account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café that placed ≥1 paid order in the month.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Onboarded / new account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First-ever paid order fell in this month.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kg of matcha shipped/invoiced in the month.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C60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to Grow the Brand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this month's numbers — not generic advice.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29968"/>
            <a:ext cx="384048" cy="384048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2140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9751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Convert the sample backlog first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71600" y="234086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cafés currently sit at 'sample sent' vs 71 active — a bigger pool than the entire active base. A simple 2-3 week follow-up after each sample (call or WhatsApp) is likely the cheapest lever available for new-account growth right now.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029968"/>
            <a:ext cx="384048" cy="384048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2140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9751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Protect reorder frequency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995160" y="234086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per active café fell 22% this month. A lightweight reorder reminder timed to each café's typical cycle (e.g. 3-4 weeks after last order) could arrest the slide before it becomes a trend.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47472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3675888"/>
            <a:ext cx="384048" cy="384048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767328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6210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Close the margin gap before scaling further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371600" y="398678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can't yet confirm whether June's £21k is more profitable than May's £15.5k. Capture cost-per-kg and fulfilment cost next — it's the single highest-value data investment on the table.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63640" y="347472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3675888"/>
            <a:ext cx="384048" cy="384048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767328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95160" y="36210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Lean into the pricing signal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995160" y="398678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Realised price/kg rose 17% this month. Worth testing whether that holds for new accounts too, or introducing a premium SKU — early evidence suggests cafés will pay for quality.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Kyos Matcha B2B Monthly Report — June 2026</dc:title>
  <dc:subject>PptxGenJS Presentation</dc:subject>
  <dc:creator>Kyos Matcha</dc:creator>
  <cp:lastModifiedBy>Kyos Matcha</cp:lastModifiedBy>
  <cp:revision>1</cp:revision>
  <dcterms:created xsi:type="dcterms:W3CDTF">2026-07-10T12:52:55Z</dcterms:created>
  <dcterms:modified xsi:type="dcterms:W3CDTF">2026-07-10T12:52:55Z</dcterms:modified>
</cp:coreProperties>
</file>