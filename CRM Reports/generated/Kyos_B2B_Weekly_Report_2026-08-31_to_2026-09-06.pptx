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C60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19202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pic>
        <p:nvPicPr>
          <p:cNvPr id="3" name="Image 0" descr="/sessions/gallant-dazzling-faraday/mnt/Kyos Matcha/CRM Reports/Kyo_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13232"/>
            <a:ext cx="1645920" cy="4416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3317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Weekly Report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40080" y="33375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August – 6 September 2026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0080" y="4206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CB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THIS WEEK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44805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£4,896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206240" y="4206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CB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MATCHA SHIPPED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206240" y="44805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31.5 kg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772400" y="4206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CB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KG GOAL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0" y="44805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16.1%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4008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B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/ Café Channel  ·  Prepared from the live Kyos Matcha CRM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 at a Glance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2"/>
          </a:solidFill>
          <a:ln/>
          <a:effectLst>
            <a:outerShdw sx="100000" sy="100000" kx="0" ky="0" algn="bl" rotWithShape="0" blurRad="101600" dist="25400" dir="5400000">
              <a:srgbClr val="1B3A22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490472"/>
            <a:ext cx="502920" cy="50292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618488"/>
            <a:ext cx="246888" cy="246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377440" y="1527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15.8% vs last wk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04672" y="214884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INVOICED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04672" y="2423160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£4,896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804672" y="310896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£3,389 paid · £1,507 outstanding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89120" y="12344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2"/>
          </a:solidFill>
          <a:ln/>
          <a:effectLst>
            <a:outerShdw sx="100000" sy="100000" kx="0" ky="0" algn="bl" rotWithShape="0" blurRad="101600" dist="25400" dir="5400000">
              <a:srgbClr val="1B3A22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45152" y="1490472"/>
            <a:ext cx="502920" cy="50292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1618488"/>
            <a:ext cx="246888" cy="2468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217920" y="1527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14.3% vs last wk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645152" y="214884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645152" y="2423160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4645152" y="310896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 £306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229600" y="12344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2"/>
          </a:solidFill>
          <a:ln/>
          <a:effectLst>
            <a:outerShdw sx="100000" sy="100000" kx="0" ky="0" algn="bl" rotWithShape="0" blurRad="101600" dist="25400" dir="5400000">
              <a:srgbClr val="1B3A22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485632" y="1490472"/>
            <a:ext cx="502920" cy="50292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1618488"/>
            <a:ext cx="246888" cy="2468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058400" y="1527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10.3% vs last wk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8485632" y="214884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MATCHA SHIPPED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485632" y="2423160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31.5 kg</a:t>
            </a:r>
            <a:endParaRPr lang="en-US" sz="2800" dirty="0"/>
          </a:p>
        </p:txBody>
      </p:sp>
      <p:sp>
        <p:nvSpPr>
          <p:cNvPr id="23" name="Text 18"/>
          <p:cNvSpPr/>
          <p:nvPr/>
        </p:nvSpPr>
        <p:spPr>
          <a:xfrm>
            <a:off x="8485632" y="310896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Invoiced this week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548640" y="38862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2"/>
          </a:solidFill>
          <a:ln/>
          <a:effectLst>
            <a:outerShdw sx="100000" sy="100000" kx="0" ky="0" algn="bl" rotWithShape="0" blurRad="101600" dist="25400" dir="5400000">
              <a:srgbClr val="1B3A22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04672" y="4142232"/>
            <a:ext cx="502920" cy="50292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270248"/>
            <a:ext cx="246888" cy="24688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04672" y="480060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SENT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804672" y="5074920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29" name="Text 23"/>
          <p:cNvSpPr/>
          <p:nvPr/>
        </p:nvSpPr>
        <p:spPr>
          <a:xfrm>
            <a:off x="804672" y="576072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 all-time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4389120" y="38862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2"/>
          </a:solidFill>
          <a:ln/>
          <a:effectLst>
            <a:outerShdw sx="100000" sy="100000" kx="0" ky="0" algn="bl" rotWithShape="0" blurRad="101600" dist="25400" dir="5400000">
              <a:srgbClr val="1B3A22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645152" y="4142232"/>
            <a:ext cx="502920" cy="50292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4270248"/>
            <a:ext cx="246888" cy="24688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645152" y="480060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CAFÉS ONBOARDED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4645152" y="5074920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35" name="Text 28"/>
          <p:cNvSpPr/>
          <p:nvPr/>
        </p:nvSpPr>
        <p:spPr>
          <a:xfrm>
            <a:off x="4645152" y="576072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paid order this week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8229600" y="38862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2"/>
          </a:solidFill>
          <a:ln/>
          <a:effectLst>
            <a:outerShdw sx="100000" sy="100000" kx="0" ky="0" algn="bl" rotWithShape="0" blurRad="101600" dist="25400" dir="5400000">
              <a:srgbClr val="1B3A22">
                <a:alpha val="10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8485632" y="4142232"/>
            <a:ext cx="502920" cy="50292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3648" y="4270248"/>
            <a:ext cx="246888" cy="24688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8485632" y="480060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INVOICES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8485632" y="5074920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£1,507</a:t>
            </a:r>
            <a:endParaRPr lang="en-US" sz="2800" dirty="0"/>
          </a:p>
        </p:txBody>
      </p:sp>
      <p:sp>
        <p:nvSpPr>
          <p:cNvPr id="41" name="Text 33"/>
          <p:cNvSpPr/>
          <p:nvPr/>
        </p:nvSpPr>
        <p:spPr>
          <a:xfrm>
            <a:off x="8485632" y="576072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— nothing overdue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Cafés &amp; New Cafés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C6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CAFÉS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754880" cy="914400"/>
          </a:xfrm>
          <a:prstGeom prst="roundRect">
            <a:avLst>
              <a:gd name="adj" fmla="val 6000"/>
            </a:avLst>
          </a:prstGeom>
          <a:solidFill>
            <a:srgbClr val="F4F7F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709160" y="1920240"/>
            <a:ext cx="457200" cy="45720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8032" y="2039112"/>
            <a:ext cx="219456" cy="21945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2697480"/>
            <a:ext cx="4754880" cy="914400"/>
          </a:xfrm>
          <a:prstGeom prst="roundRect">
            <a:avLst>
              <a:gd name="adj" fmla="val 6000"/>
            </a:avLst>
          </a:prstGeom>
          <a:solidFill>
            <a:srgbClr val="F4F7F2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834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month (Sep MTD)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" y="3063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4709160" y="2971800"/>
            <a:ext cx="457200" cy="45720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309067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" y="37947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 active partners all-time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760720" y="123444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C6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CAFÉS ONBOARDED THIS WEEK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760720" y="1600200"/>
            <a:ext cx="5852160" cy="1289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4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Cafe, Liverpool (Pending Confirmation)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4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TheMatchaMam (Pending Confirmation)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4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Veloce Coffee (Pending Confirmation)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5760720" y="325526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C6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REACTIVATED THIS WEEK — WELCOME BACK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760720" y="3621024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returning cafés this week.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Highlights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C6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CAFÉS THIS MONTH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7040880"/>
                <a:gridCol w="2011680"/>
                <a:gridCol w="20116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Café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0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03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03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ARE LARDER, CARELTON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£1,200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Chiya Cafe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£924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Riptide Espresso, Dorset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£442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DAYS Cafe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£442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KOVA CAFE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£442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79392"/>
            <a:ext cx="5349240" cy="1280160"/>
          </a:xfrm>
          <a:prstGeom prst="roundRect">
            <a:avLst>
              <a:gd name="adj" fmla="val 4286"/>
            </a:avLst>
          </a:prstGeom>
          <a:solidFill>
            <a:srgbClr val="F4F7F2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4462272"/>
            <a:ext cx="457200" cy="45720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4572000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4398264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6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£1,507 outstanding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invoices not yet due — normal for this point in the week, nothing overdue.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263640" y="4279392"/>
            <a:ext cx="5349240" cy="1280160"/>
          </a:xfrm>
          <a:prstGeom prst="roundRect">
            <a:avLst>
              <a:gd name="adj" fmla="val 4286"/>
            </a:avLst>
          </a:prstGeom>
          <a:solidFill>
            <a:srgbClr val="F4F7F2"/>
          </a:solidFill>
          <a:ln/>
        </p:spPr>
      </p:sp>
      <p:sp>
        <p:nvSpPr>
          <p:cNvPr id="10" name="Shape 6"/>
          <p:cNvSpPr/>
          <p:nvPr/>
        </p:nvSpPr>
        <p:spPr>
          <a:xfrm>
            <a:off x="6492240" y="4462272"/>
            <a:ext cx="457200" cy="45720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4572000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132320" y="4398264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6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focus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new cafés placed a first order this week — a good moment for a quick check-in call to lock in reorder habits early.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Kg Goal — September 2026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52.3 kg shipped</a:t>
            </a:r>
            <a:pPr indent="0" marL="0">
              <a:buNone/>
            </a:pPr>
            <a:r>
              <a:rPr lang="en-US" sz="13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of 324 kg target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241280" y="9418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16.1%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1064240" cy="365760"/>
          </a:xfrm>
          <a:prstGeom prst="roundRect">
            <a:avLst>
              <a:gd name="adj" fmla="val 15000"/>
            </a:avLst>
          </a:prstGeom>
          <a:solidFill>
            <a:srgbClr val="E7EDE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25880"/>
            <a:ext cx="1652111" cy="365760"/>
          </a:xfrm>
          <a:prstGeom prst="roundRect">
            <a:avLst>
              <a:gd name="adj" fmla="val 15000"/>
            </a:avLst>
          </a:prstGeom>
          <a:solidFill>
            <a:srgbClr val="3C6034"/>
          </a:solidFill>
          <a:ln/>
        </p:spPr>
      </p:sp>
      <p:sp>
        <p:nvSpPr>
          <p:cNvPr id="7" name="Shape 5"/>
          <p:cNvSpPr/>
          <p:nvPr/>
        </p:nvSpPr>
        <p:spPr>
          <a:xfrm>
            <a:off x="10784163" y="1261872"/>
            <a:ext cx="18288" cy="493776"/>
          </a:xfrm>
          <a:prstGeom prst="rect">
            <a:avLst/>
          </a:prstGeom>
          <a:solidFill>
            <a:srgbClr val="6E7568"/>
          </a:solidFill>
          <a:ln/>
        </p:spPr>
      </p:sp>
      <p:sp>
        <p:nvSpPr>
          <p:cNvPr id="8" name="Text 6"/>
          <p:cNvSpPr/>
          <p:nvPr/>
        </p:nvSpPr>
        <p:spPr>
          <a:xfrm>
            <a:off x="10107507" y="174650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324 kg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target: 266 kg  →  +58 kg growth target = 324 kg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131kg projected at the current pace (~4.4kg/day, 12 days into September) vs the 324kg target -- a meaningful gap. Shipments would need to roughly double the daily pace for the rest of the month to close it.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2926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C6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KG GROWTH TRAJECTORY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1131824" cy="960120"/>
          </a:xfrm>
          <a:prstGeom prst="roundRect">
            <a:avLst>
              <a:gd name="adj" fmla="val 5714"/>
            </a:avLst>
          </a:prstGeom>
          <a:solidFill>
            <a:srgbClr val="F4F7F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64992"/>
            <a:ext cx="1131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602736"/>
            <a:ext cx="11318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134.8 kg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913632"/>
            <a:ext cx="113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208 kg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790192" y="3291840"/>
            <a:ext cx="1131824" cy="960120"/>
          </a:xfrm>
          <a:prstGeom prst="roundRect">
            <a:avLst>
              <a:gd name="adj" fmla="val 5714"/>
            </a:avLst>
          </a:prstGeom>
          <a:solidFill>
            <a:srgbClr val="F4F7F2"/>
          </a:solidFill>
          <a:ln/>
        </p:spPr>
      </p:sp>
      <p:sp>
        <p:nvSpPr>
          <p:cNvPr id="17" name="Text 15"/>
          <p:cNvSpPr/>
          <p:nvPr/>
        </p:nvSpPr>
        <p:spPr>
          <a:xfrm>
            <a:off x="1790192" y="3364992"/>
            <a:ext cx="1131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90192" y="3602736"/>
            <a:ext cx="11318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204.1 kg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790192" y="3913632"/>
            <a:ext cx="113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266 kg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031744" y="3291840"/>
            <a:ext cx="1131824" cy="960120"/>
          </a:xfrm>
          <a:prstGeom prst="roundRect">
            <a:avLst>
              <a:gd name="adj" fmla="val 5714"/>
            </a:avLst>
          </a:prstGeom>
          <a:solidFill>
            <a:srgbClr val="3C6034"/>
          </a:solidFill>
          <a:ln/>
        </p:spPr>
      </p:sp>
      <p:sp>
        <p:nvSpPr>
          <p:cNvPr id="21" name="Text 19"/>
          <p:cNvSpPr/>
          <p:nvPr/>
        </p:nvSpPr>
        <p:spPr>
          <a:xfrm>
            <a:off x="3031744" y="3364992"/>
            <a:ext cx="1131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·so far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031744" y="3602736"/>
            <a:ext cx="11318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52.3 kg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031744" y="3913632"/>
            <a:ext cx="113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324 kg target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273296" y="3291840"/>
            <a:ext cx="1131824" cy="960120"/>
          </a:xfrm>
          <a:prstGeom prst="roundRect">
            <a:avLst>
              <a:gd name="adj" fmla="val 5714"/>
            </a:avLst>
          </a:prstGeom>
          <a:solidFill>
            <a:srgbClr val="F4F7F2"/>
          </a:solidFill>
          <a:ln/>
        </p:spPr>
      </p:sp>
      <p:sp>
        <p:nvSpPr>
          <p:cNvPr id="25" name="Text 23"/>
          <p:cNvSpPr/>
          <p:nvPr/>
        </p:nvSpPr>
        <p:spPr>
          <a:xfrm>
            <a:off x="4273296" y="3364992"/>
            <a:ext cx="1131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73296" y="3602736"/>
            <a:ext cx="11318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382 kg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273296" y="3913632"/>
            <a:ext cx="113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514848" y="3291840"/>
            <a:ext cx="1131824" cy="960120"/>
          </a:xfrm>
          <a:prstGeom prst="roundRect">
            <a:avLst>
              <a:gd name="adj" fmla="val 5714"/>
            </a:avLst>
          </a:prstGeom>
          <a:solidFill>
            <a:srgbClr val="F4F7F2"/>
          </a:solidFill>
          <a:ln/>
        </p:spPr>
      </p:sp>
      <p:sp>
        <p:nvSpPr>
          <p:cNvPr id="29" name="Text 27"/>
          <p:cNvSpPr/>
          <p:nvPr/>
        </p:nvSpPr>
        <p:spPr>
          <a:xfrm>
            <a:off x="5514848" y="3364992"/>
            <a:ext cx="1131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14848" y="3602736"/>
            <a:ext cx="11318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440 kg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514848" y="3913632"/>
            <a:ext cx="113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756400" y="3291840"/>
            <a:ext cx="1131824" cy="960120"/>
          </a:xfrm>
          <a:prstGeom prst="roundRect">
            <a:avLst>
              <a:gd name="adj" fmla="val 5714"/>
            </a:avLst>
          </a:prstGeom>
          <a:solidFill>
            <a:srgbClr val="F4F7F2"/>
          </a:solidFill>
          <a:ln/>
        </p:spPr>
      </p:sp>
      <p:sp>
        <p:nvSpPr>
          <p:cNvPr id="33" name="Text 31"/>
          <p:cNvSpPr/>
          <p:nvPr/>
        </p:nvSpPr>
        <p:spPr>
          <a:xfrm>
            <a:off x="6756400" y="3364992"/>
            <a:ext cx="1131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56400" y="3602736"/>
            <a:ext cx="11318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498 kg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756400" y="3913632"/>
            <a:ext cx="113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997952" y="3291840"/>
            <a:ext cx="1131824" cy="960120"/>
          </a:xfrm>
          <a:prstGeom prst="roundRect">
            <a:avLst>
              <a:gd name="adj" fmla="val 5714"/>
            </a:avLst>
          </a:prstGeom>
          <a:solidFill>
            <a:srgbClr val="F4F7F2"/>
          </a:solidFill>
          <a:ln/>
        </p:spPr>
      </p:sp>
      <p:sp>
        <p:nvSpPr>
          <p:cNvPr id="37" name="Text 35"/>
          <p:cNvSpPr/>
          <p:nvPr/>
        </p:nvSpPr>
        <p:spPr>
          <a:xfrm>
            <a:off x="7997952" y="3364992"/>
            <a:ext cx="1131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997952" y="3602736"/>
            <a:ext cx="11318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556 kg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997952" y="3913632"/>
            <a:ext cx="113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239504" y="3291840"/>
            <a:ext cx="1131824" cy="960120"/>
          </a:xfrm>
          <a:prstGeom prst="roundRect">
            <a:avLst>
              <a:gd name="adj" fmla="val 5714"/>
            </a:avLst>
          </a:prstGeom>
          <a:solidFill>
            <a:srgbClr val="F4F7F2"/>
          </a:solidFill>
          <a:ln/>
        </p:spPr>
      </p:sp>
      <p:sp>
        <p:nvSpPr>
          <p:cNvPr id="41" name="Text 39"/>
          <p:cNvSpPr/>
          <p:nvPr/>
        </p:nvSpPr>
        <p:spPr>
          <a:xfrm>
            <a:off x="9239504" y="3364992"/>
            <a:ext cx="1131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239504" y="3602736"/>
            <a:ext cx="11318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614 kg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239504" y="3913632"/>
            <a:ext cx="113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0481056" y="3291840"/>
            <a:ext cx="1131824" cy="960120"/>
          </a:xfrm>
          <a:prstGeom prst="roundRect">
            <a:avLst>
              <a:gd name="adj" fmla="val 5714"/>
            </a:avLst>
          </a:prstGeom>
          <a:solidFill>
            <a:srgbClr val="F4F7F2"/>
          </a:solidFill>
          <a:ln/>
        </p:spPr>
      </p:sp>
      <p:sp>
        <p:nvSpPr>
          <p:cNvPr id="45" name="Text 43"/>
          <p:cNvSpPr/>
          <p:nvPr/>
        </p:nvSpPr>
        <p:spPr>
          <a:xfrm>
            <a:off x="10481056" y="3364992"/>
            <a:ext cx="1131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481056" y="3602736"/>
            <a:ext cx="11318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672 kg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0481056" y="3913632"/>
            <a:ext cx="113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8640" y="452628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4F7F2"/>
          </a:solidFill>
          <a:ln/>
        </p:spPr>
      </p:sp>
      <p:sp>
        <p:nvSpPr>
          <p:cNvPr id="49" name="Shape 47"/>
          <p:cNvSpPr/>
          <p:nvPr/>
        </p:nvSpPr>
        <p:spPr>
          <a:xfrm>
            <a:off x="777240" y="4690872"/>
            <a:ext cx="457200" cy="45720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5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4800600"/>
            <a:ext cx="237744" cy="237744"/>
          </a:xfrm>
          <a:prstGeom prst="rect">
            <a:avLst/>
          </a:prstGeom>
        </p:spPr>
      </p:pic>
      <p:sp>
        <p:nvSpPr>
          <p:cNvPr id="51" name="Text 48"/>
          <p:cNvSpPr/>
          <p:nvPr/>
        </p:nvSpPr>
        <p:spPr>
          <a:xfrm>
            <a:off x="1417320" y="464515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C6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for the year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+58kg/month pace, monthly shipments reach 672.0 kg by March 2027 -- about 6 months from now, roughly 5.0x July 2026's 134.8 kg.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Order in 21+ Days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candidates — not a churn verdict, just a nudge to reach out.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6675120"/>
                <a:gridCol w="2651760"/>
                <a:gridCol w="1737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Café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0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order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03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since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03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KITH, LEICESTER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2026-06-15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A6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 days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Forrest Coffee, Warwickshire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2026-06-15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A6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 days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Village Bakery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2026-06-16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A6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 days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Chiya, Canterbury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2026-06-16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A6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 days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Roots, London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2026-06-17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A6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 days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Ours, Faversham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2026-06-17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A6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 days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Milk Cafe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2026-06-22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A6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 days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Jenna Armitage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2026-06-22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A6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 days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422392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4F7F2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5586984"/>
            <a:ext cx="457200" cy="45720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5696712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554126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of 25 active partners this month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have ordered within the last 21 days — this list is the exception, not the norm.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&amp; How to Improve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things worth a closer look this week -- from a few pending-confirmation new accounts to the September kg pace.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7F2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00200"/>
            <a:ext cx="420624" cy="420624"/>
          </a:xfrm>
          <a:prstGeom prst="ellipse">
            <a:avLst/>
          </a:prstGeom>
          <a:solidFill>
            <a:srgbClr val="6E756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527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balance is trending up, but it's mostly timing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417320" y="1856232"/>
            <a:ext cx="10058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outstanding sits at £1,507 (31% of the week's £4,896 invoiced), and MTD outstanding is now £4,157.50 of £8,348 total. Nearly all of it is invoices from the last few days (Sept 7-11) that simply haven't come due yet, not a payment problem.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441448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7F2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2624328"/>
            <a:ext cx="420624" cy="420624"/>
          </a:xfrm>
          <a:prstGeom prst="ellipse">
            <a:avLst/>
          </a:prstGeom>
          <a:solidFill>
            <a:srgbClr val="6E756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734056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55117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new-account candidates, but Raw Partners records are missing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417320" y="2880360"/>
            <a:ext cx="10058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Cafe, Liverpool, TheMatchaMam, and Veloce Coffee each placed a first visible order this week with no existing Raw Partners row to confirm Added-to-CRM history. The count happens to match the Weekly Log's own 'New Accounts: 3' -- but treat these three as pending confirmation until their partner records exist.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465576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7F2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3648456"/>
            <a:ext cx="420624" cy="420624"/>
          </a:xfrm>
          <a:prstGeom prst="ellipse">
            <a:avLst/>
          </a:prstGeom>
          <a:solidFill>
            <a:srgbClr val="C99A3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758184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57530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September's kg goal: early days, big gap to close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417320" y="3904488"/>
            <a:ext cx="10058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52.25kg of the 324kg September target so far (16.1%) -- at the current ~4.4kg/day pace that projects to only ~131kg by month end. Closing the gap means roughly doubling the daily shipping pace for the rest of the month.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489704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7F2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4672584"/>
            <a:ext cx="420624" cy="420624"/>
          </a:xfrm>
          <a:prstGeom prst="ellipse">
            <a:avLst/>
          </a:prstGeom>
          <a:solidFill>
            <a:srgbClr val="C99A3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782312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59943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cafes have gone quiet since the CRM's earliest weeks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1417320" y="4928616"/>
            <a:ext cx="10058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gaps: KITH, Leicester and Forrest Coffee, Warwickshire (89 days), Village Bakery and Chiya, Canterbury (88 days), Roots, London and Ours, Faversham (87 days) -- all last ordered in mid-June, a cluster worth a dedicated re-engagement push. Built from visible order history back to mid-June only, so this is a partial sweep, not an exhaustive one.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5513832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7F2"/>
          </a:solidFill>
          <a:ln/>
        </p:spPr>
      </p:sp>
      <p:sp>
        <p:nvSpPr>
          <p:cNvPr id="25" name="Shape 19"/>
          <p:cNvSpPr/>
          <p:nvPr/>
        </p:nvSpPr>
        <p:spPr>
          <a:xfrm>
            <a:off x="777240" y="5696712"/>
            <a:ext cx="420624" cy="420624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5806440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5623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LARDER, CARELTON is this week's -- and the month's -- top account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1417320" y="5952744"/>
            <a:ext cx="10058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£1,200 across 2 orders this week alone, and also the top cafe for September month-to-date. Worth a personal thank-you or check-in to keep the relationship warm.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&amp; How to Improve (cont.)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4F7F2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00200"/>
            <a:ext cx="420624" cy="420624"/>
          </a:xfrm>
          <a:prstGeom prst="ellipse">
            <a:avLst/>
          </a:prstGeom>
          <a:solidFill>
            <a:srgbClr val="6E756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527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+58kg/month floor hasn't been cleared yet -- track record is short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417320" y="1856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fully-tracked months so far missed their own target: July shipped 134.75kg vs a 208kg target, August shipped 204.05kg vs a 266kg target. Worth framing September's 324kg as a genuine stretch rather than an established cadence until a month actually clears its floor.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Kyos Matcha B2B Weekly Report — 2026-08-31 to 2026-09-06</dc:title>
  <dc:subject>PptxGenJS Presentation</dc:subject>
  <dc:creator>Kyos Matcha</dc:creator>
  <cp:lastModifiedBy>Kyos Matcha</cp:lastModifiedBy>
  <cp:revision>1</cp:revision>
  <dcterms:created xsi:type="dcterms:W3CDTF">2026-09-12T11:51:10Z</dcterms:created>
  <dcterms:modified xsi:type="dcterms:W3CDTF">2026-09-12T11:51:10Z</dcterms:modified>
</cp:coreProperties>
</file>