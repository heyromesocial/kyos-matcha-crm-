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6034"/>
        </a:solidFill>
      </p:bgPr>
    </p:bg>
    <p:spTree>
      <p:nvGrpSpPr>
        <p:cNvPr id="1" name=""/>
        <p:cNvGrpSpPr/>
        <p:nvPr/>
      </p:nvGrpSpPr>
      <p:grpSpPr>
        <a:xfrm>
          <a:off x="0" y="0"/>
          <a:ext cx="0" cy="0"/>
          <a:chOff x="0" y="0"/>
          <a:chExt cx="0" cy="0"/>
        </a:xfrm>
      </p:grpSpPr>
      <p:sp>
        <p:nvSpPr>
          <p:cNvPr id="2" name="Shape 0"/>
          <p:cNvSpPr/>
          <p:nvPr/>
        </p:nvSpPr>
        <p:spPr>
          <a:xfrm>
            <a:off x="640080" y="594360"/>
            <a:ext cx="1920240" cy="603504"/>
          </a:xfrm>
          <a:prstGeom prst="roundRect">
            <a:avLst>
              <a:gd name="adj" fmla="val 9091"/>
            </a:avLst>
          </a:prstGeom>
          <a:solidFill>
            <a:srgbClr val="FFFFFF"/>
          </a:solidFill>
          <a:ln/>
        </p:spPr>
      </p:sp>
      <p:pic>
        <p:nvPicPr>
          <p:cNvPr id="3" name="Image 0" descr="/sessions/rcw-01wfmksie4lwndwrw8gfakue/mnt/Kyos Matcha/CRM Reports/Kyo_s_Logo.png">    </p:cNvPr>
          <p:cNvPicPr>
            <a:picLocks noChangeAspect="1"/>
          </p:cNvPicPr>
          <p:nvPr/>
        </p:nvPicPr>
        <p:blipFill>
          <a:blip r:embed="rId1"/>
          <a:stretch>
            <a:fillRect/>
          </a:stretch>
        </p:blipFill>
        <p:spPr>
          <a:xfrm>
            <a:off x="777240" y="713232"/>
            <a:ext cx="1645920" cy="441655"/>
          </a:xfrm>
          <a:prstGeom prst="rect">
            <a:avLst/>
          </a:prstGeom>
        </p:spPr>
      </p:pic>
      <p:sp>
        <p:nvSpPr>
          <p:cNvPr id="4" name="Text 1"/>
          <p:cNvSpPr/>
          <p:nvPr/>
        </p:nvSpPr>
        <p:spPr>
          <a:xfrm>
            <a:off x="640080" y="2331720"/>
            <a:ext cx="100584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B2B Weekly Report</a:t>
            </a:r>
            <a:endParaRPr lang="en-US" sz="4400" dirty="0"/>
          </a:p>
        </p:txBody>
      </p:sp>
      <p:sp>
        <p:nvSpPr>
          <p:cNvPr id="5" name="Text 2"/>
          <p:cNvSpPr/>
          <p:nvPr/>
        </p:nvSpPr>
        <p:spPr>
          <a:xfrm>
            <a:off x="640080" y="3337560"/>
            <a:ext cx="9144000" cy="548640"/>
          </a:xfrm>
          <a:prstGeom prst="rect">
            <a:avLst/>
          </a:prstGeom>
          <a:noFill/>
          <a:ln/>
        </p:spPr>
        <p:txBody>
          <a:bodyPr wrap="square" lIns="0" tIns="0" rIns="0" bIns="0" rtlCol="0" anchor="ctr"/>
          <a:lstStyle/>
          <a:p>
            <a:pPr indent="0" marL="0">
              <a:buNone/>
            </a:pPr>
            <a:r>
              <a:rPr lang="en-US" sz="2000" dirty="0">
                <a:solidFill>
                  <a:srgbClr val="D9E4D3"/>
                </a:solidFill>
                <a:latin typeface="Calibri" pitchFamily="34" charset="0"/>
                <a:ea typeface="Calibri" pitchFamily="34" charset="-122"/>
                <a:cs typeface="Calibri" pitchFamily="34" charset="-120"/>
              </a:rPr>
              <a:t>14 – 20 September 2026</a:t>
            </a:r>
            <a:endParaRPr lang="en-US" sz="2000" dirty="0"/>
          </a:p>
        </p:txBody>
      </p:sp>
      <p:sp>
        <p:nvSpPr>
          <p:cNvPr id="6" name="Text 3"/>
          <p:cNvSpPr/>
          <p:nvPr/>
        </p:nvSpPr>
        <p:spPr>
          <a:xfrm>
            <a:off x="640080" y="4206240"/>
            <a:ext cx="3108960" cy="274320"/>
          </a:xfrm>
          <a:prstGeom prst="rect">
            <a:avLst/>
          </a:prstGeom>
          <a:noFill/>
          <a:ln/>
        </p:spPr>
        <p:txBody>
          <a:bodyPr wrap="square" lIns="0" tIns="0" rIns="0" bIns="0" rtlCol="0" anchor="ctr"/>
          <a:lstStyle/>
          <a:p>
            <a:pPr indent="0" marL="0">
              <a:buNone/>
            </a:pPr>
            <a:r>
              <a:rPr lang="en-US" sz="1100" b="1" spc="100" kern="0" dirty="0">
                <a:solidFill>
                  <a:srgbClr val="9CB08F"/>
                </a:solidFill>
                <a:latin typeface="Calibri" pitchFamily="34" charset="0"/>
                <a:ea typeface="Calibri" pitchFamily="34" charset="-122"/>
                <a:cs typeface="Calibri" pitchFamily="34" charset="-120"/>
              </a:rPr>
              <a:t>REVENUE THIS WEEK</a:t>
            </a:r>
            <a:endParaRPr lang="en-US" sz="1100" dirty="0"/>
          </a:p>
        </p:txBody>
      </p:sp>
      <p:sp>
        <p:nvSpPr>
          <p:cNvPr id="7" name="Text 4"/>
          <p:cNvSpPr/>
          <p:nvPr/>
        </p:nvSpPr>
        <p:spPr>
          <a:xfrm>
            <a:off x="640080" y="4480560"/>
            <a:ext cx="31089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£2,202</a:t>
            </a:r>
            <a:endParaRPr lang="en-US" sz="2600" dirty="0"/>
          </a:p>
        </p:txBody>
      </p:sp>
      <p:sp>
        <p:nvSpPr>
          <p:cNvPr id="8" name="Text 5"/>
          <p:cNvSpPr/>
          <p:nvPr/>
        </p:nvSpPr>
        <p:spPr>
          <a:xfrm>
            <a:off x="4206240" y="4206240"/>
            <a:ext cx="3108960" cy="274320"/>
          </a:xfrm>
          <a:prstGeom prst="rect">
            <a:avLst/>
          </a:prstGeom>
          <a:noFill/>
          <a:ln/>
        </p:spPr>
        <p:txBody>
          <a:bodyPr wrap="square" lIns="0" tIns="0" rIns="0" bIns="0" rtlCol="0" anchor="ctr"/>
          <a:lstStyle/>
          <a:p>
            <a:pPr indent="0" marL="0">
              <a:buNone/>
            </a:pPr>
            <a:r>
              <a:rPr lang="en-US" sz="1100" b="1" spc="100" kern="0" dirty="0">
                <a:solidFill>
                  <a:srgbClr val="9CB08F"/>
                </a:solidFill>
                <a:latin typeface="Calibri" pitchFamily="34" charset="0"/>
                <a:ea typeface="Calibri" pitchFamily="34" charset="-122"/>
                <a:cs typeface="Calibri" pitchFamily="34" charset="-120"/>
              </a:rPr>
              <a:t>MATCHA SHIPPED</a:t>
            </a:r>
            <a:endParaRPr lang="en-US" sz="1100" dirty="0"/>
          </a:p>
        </p:txBody>
      </p:sp>
      <p:sp>
        <p:nvSpPr>
          <p:cNvPr id="9" name="Text 6"/>
          <p:cNvSpPr/>
          <p:nvPr/>
        </p:nvSpPr>
        <p:spPr>
          <a:xfrm>
            <a:off x="4206240" y="4480560"/>
            <a:ext cx="31089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13.5 kg</a:t>
            </a:r>
            <a:endParaRPr lang="en-US" sz="2600" dirty="0"/>
          </a:p>
        </p:txBody>
      </p:sp>
      <p:sp>
        <p:nvSpPr>
          <p:cNvPr id="10" name="Text 7"/>
          <p:cNvSpPr/>
          <p:nvPr/>
        </p:nvSpPr>
        <p:spPr>
          <a:xfrm>
            <a:off x="7772400" y="4206240"/>
            <a:ext cx="3108960" cy="274320"/>
          </a:xfrm>
          <a:prstGeom prst="rect">
            <a:avLst/>
          </a:prstGeom>
          <a:noFill/>
          <a:ln/>
        </p:spPr>
        <p:txBody>
          <a:bodyPr wrap="square" lIns="0" tIns="0" rIns="0" bIns="0" rtlCol="0" anchor="ctr"/>
          <a:lstStyle/>
          <a:p>
            <a:pPr indent="0" marL="0">
              <a:buNone/>
            </a:pPr>
            <a:r>
              <a:rPr lang="en-US" sz="1100" b="1" spc="100" kern="0" dirty="0">
                <a:solidFill>
                  <a:srgbClr val="9CB08F"/>
                </a:solidFill>
                <a:latin typeface="Calibri" pitchFamily="34" charset="0"/>
                <a:ea typeface="Calibri" pitchFamily="34" charset="-122"/>
                <a:cs typeface="Calibri" pitchFamily="34" charset="-120"/>
              </a:rPr>
              <a:t>MONTHLY KG GOAL</a:t>
            </a:r>
            <a:endParaRPr lang="en-US" sz="1100" dirty="0"/>
          </a:p>
        </p:txBody>
      </p:sp>
      <p:sp>
        <p:nvSpPr>
          <p:cNvPr id="11" name="Text 8"/>
          <p:cNvSpPr/>
          <p:nvPr/>
        </p:nvSpPr>
        <p:spPr>
          <a:xfrm>
            <a:off x="7772400" y="4480560"/>
            <a:ext cx="31089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31%</a:t>
            </a:r>
            <a:endParaRPr lang="en-US" sz="2600" dirty="0"/>
          </a:p>
        </p:txBody>
      </p:sp>
      <p:sp>
        <p:nvSpPr>
          <p:cNvPr id="12" name="Text 9"/>
          <p:cNvSpPr/>
          <p:nvPr/>
        </p:nvSpPr>
        <p:spPr>
          <a:xfrm>
            <a:off x="640080" y="6035040"/>
            <a:ext cx="9144000" cy="365760"/>
          </a:xfrm>
          <a:prstGeom prst="rect">
            <a:avLst/>
          </a:prstGeom>
          <a:noFill/>
          <a:ln/>
        </p:spPr>
        <p:txBody>
          <a:bodyPr wrap="square" lIns="0" tIns="0" rIns="0" bIns="0" rtlCol="0" anchor="ctr"/>
          <a:lstStyle/>
          <a:p>
            <a:pPr indent="0" marL="0">
              <a:buNone/>
            </a:pPr>
            <a:r>
              <a:rPr lang="en-US" sz="1200" dirty="0">
                <a:solidFill>
                  <a:srgbClr val="9CB08F"/>
                </a:solidFill>
                <a:latin typeface="Calibri" pitchFamily="34" charset="0"/>
                <a:ea typeface="Calibri" pitchFamily="34" charset="-122"/>
                <a:cs typeface="Calibri" pitchFamily="34" charset="-120"/>
              </a:rPr>
              <a:t>Wholesale / Café Channel  ·  Prepared from the live Kyos Matcha CRM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This Week at a Glance</a:t>
            </a:r>
            <a:endParaRPr lang="en-US" sz="3000" dirty="0"/>
          </a:p>
        </p:txBody>
      </p:sp>
      <p:sp>
        <p:nvSpPr>
          <p:cNvPr id="3" name="Shape 1"/>
          <p:cNvSpPr/>
          <p:nvPr/>
        </p:nvSpPr>
        <p:spPr>
          <a:xfrm>
            <a:off x="548640" y="123444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4" name="Shape 2"/>
          <p:cNvSpPr/>
          <p:nvPr/>
        </p:nvSpPr>
        <p:spPr>
          <a:xfrm>
            <a:off x="804672" y="1490472"/>
            <a:ext cx="502920" cy="502920"/>
          </a:xfrm>
          <a:prstGeom prst="ellipse">
            <a:avLst/>
          </a:prstGeom>
          <a:solidFill>
            <a:srgbClr val="3C6034"/>
          </a:solidFill>
          <a:ln/>
        </p:spPr>
      </p:sp>
      <p:pic>
        <p:nvPicPr>
          <p:cNvPr id="5" name="Image 0" descr="preencoded.png">    </p:cNvPr>
          <p:cNvPicPr>
            <a:picLocks noChangeAspect="1"/>
          </p:cNvPicPr>
          <p:nvPr/>
        </p:nvPicPr>
        <p:blipFill>
          <a:blip r:embed="rId1"/>
          <a:stretch>
            <a:fillRect/>
          </a:stretch>
        </p:blipFill>
        <p:spPr>
          <a:xfrm>
            <a:off x="932688" y="1618488"/>
            <a:ext cx="246888" cy="246888"/>
          </a:xfrm>
          <a:prstGeom prst="rect">
            <a:avLst/>
          </a:prstGeom>
        </p:spPr>
      </p:pic>
      <p:sp>
        <p:nvSpPr>
          <p:cNvPr id="6" name="Text 3"/>
          <p:cNvSpPr/>
          <p:nvPr/>
        </p:nvSpPr>
        <p:spPr>
          <a:xfrm>
            <a:off x="2377440" y="1527048"/>
            <a:ext cx="1463040" cy="274320"/>
          </a:xfrm>
          <a:prstGeom prst="rect">
            <a:avLst/>
          </a:prstGeom>
          <a:noFill/>
          <a:ln/>
        </p:spPr>
        <p:txBody>
          <a:bodyPr wrap="square" lIns="0" tIns="0" rIns="0" bIns="0" rtlCol="0" anchor="ctr"/>
          <a:lstStyle/>
          <a:p>
            <a:pPr algn="r" indent="0" marL="0">
              <a:buNone/>
            </a:pPr>
            <a:r>
              <a:rPr lang="en-US" sz="1000" b="1" dirty="0">
                <a:solidFill>
                  <a:srgbClr val="A6472B"/>
                </a:solidFill>
                <a:latin typeface="Calibri" pitchFamily="34" charset="0"/>
                <a:ea typeface="Calibri" pitchFamily="34" charset="-122"/>
                <a:cs typeface="Calibri" pitchFamily="34" charset="-120"/>
              </a:rPr>
              <a:t>▼ 57.5% vs last wk</a:t>
            </a:r>
            <a:endParaRPr lang="en-US" sz="1000" dirty="0"/>
          </a:p>
        </p:txBody>
      </p:sp>
      <p:sp>
        <p:nvSpPr>
          <p:cNvPr id="7" name="Text 4"/>
          <p:cNvSpPr/>
          <p:nvPr/>
        </p:nvSpPr>
        <p:spPr>
          <a:xfrm>
            <a:off x="804672" y="214884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REVENUE INVOICED</a:t>
            </a:r>
            <a:endParaRPr lang="en-US" sz="1100" dirty="0"/>
          </a:p>
        </p:txBody>
      </p:sp>
      <p:sp>
        <p:nvSpPr>
          <p:cNvPr id="8" name="Text 5"/>
          <p:cNvSpPr/>
          <p:nvPr/>
        </p:nvSpPr>
        <p:spPr>
          <a:xfrm>
            <a:off x="804672" y="242316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£2,202</a:t>
            </a:r>
            <a:endParaRPr lang="en-US" sz="2800" dirty="0"/>
          </a:p>
        </p:txBody>
      </p:sp>
      <p:sp>
        <p:nvSpPr>
          <p:cNvPr id="9" name="Text 6"/>
          <p:cNvSpPr/>
          <p:nvPr/>
        </p:nvSpPr>
        <p:spPr>
          <a:xfrm>
            <a:off x="804672" y="310896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£1,665 paid · £537 outstanding</a:t>
            </a:r>
            <a:endParaRPr lang="en-US" sz="1050" dirty="0"/>
          </a:p>
        </p:txBody>
      </p:sp>
      <p:sp>
        <p:nvSpPr>
          <p:cNvPr id="10" name="Shape 7"/>
          <p:cNvSpPr/>
          <p:nvPr/>
        </p:nvSpPr>
        <p:spPr>
          <a:xfrm>
            <a:off x="4389120" y="123444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11" name="Shape 8"/>
          <p:cNvSpPr/>
          <p:nvPr/>
        </p:nvSpPr>
        <p:spPr>
          <a:xfrm>
            <a:off x="4645152" y="1490472"/>
            <a:ext cx="502920" cy="502920"/>
          </a:xfrm>
          <a:prstGeom prst="ellipse">
            <a:avLst/>
          </a:prstGeom>
          <a:solidFill>
            <a:srgbClr val="3C6034"/>
          </a:solidFill>
          <a:ln/>
        </p:spPr>
      </p:sp>
      <p:pic>
        <p:nvPicPr>
          <p:cNvPr id="12" name="Image 1" descr="preencoded.png">    </p:cNvPr>
          <p:cNvPicPr>
            <a:picLocks noChangeAspect="1"/>
          </p:cNvPicPr>
          <p:nvPr/>
        </p:nvPicPr>
        <p:blipFill>
          <a:blip r:embed="rId2"/>
          <a:stretch>
            <a:fillRect/>
          </a:stretch>
        </p:blipFill>
        <p:spPr>
          <a:xfrm>
            <a:off x="4773168" y="1618488"/>
            <a:ext cx="246888" cy="246888"/>
          </a:xfrm>
          <a:prstGeom prst="rect">
            <a:avLst/>
          </a:prstGeom>
        </p:spPr>
      </p:pic>
      <p:sp>
        <p:nvSpPr>
          <p:cNvPr id="13" name="Text 9"/>
          <p:cNvSpPr/>
          <p:nvPr/>
        </p:nvSpPr>
        <p:spPr>
          <a:xfrm>
            <a:off x="6217920" y="1527048"/>
            <a:ext cx="1463040" cy="274320"/>
          </a:xfrm>
          <a:prstGeom prst="rect">
            <a:avLst/>
          </a:prstGeom>
          <a:noFill/>
          <a:ln/>
        </p:spPr>
        <p:txBody>
          <a:bodyPr wrap="square" lIns="0" tIns="0" rIns="0" bIns="0" rtlCol="0" anchor="ctr"/>
          <a:lstStyle/>
          <a:p>
            <a:pPr algn="r" indent="0" marL="0">
              <a:buNone/>
            </a:pPr>
            <a:r>
              <a:rPr lang="en-US" sz="1000" b="1" dirty="0">
                <a:solidFill>
                  <a:srgbClr val="A6472B"/>
                </a:solidFill>
                <a:latin typeface="Calibri" pitchFamily="34" charset="0"/>
                <a:ea typeface="Calibri" pitchFamily="34" charset="-122"/>
                <a:cs typeface="Calibri" pitchFamily="34" charset="-120"/>
              </a:rPr>
              <a:t>▼ 63.2% vs last wk</a:t>
            </a:r>
            <a:endParaRPr lang="en-US" sz="1000" dirty="0"/>
          </a:p>
        </p:txBody>
      </p:sp>
      <p:sp>
        <p:nvSpPr>
          <p:cNvPr id="14" name="Text 10"/>
          <p:cNvSpPr/>
          <p:nvPr/>
        </p:nvSpPr>
        <p:spPr>
          <a:xfrm>
            <a:off x="4645152" y="214884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ORDERS</a:t>
            </a:r>
            <a:endParaRPr lang="en-US" sz="1100" dirty="0"/>
          </a:p>
        </p:txBody>
      </p:sp>
      <p:sp>
        <p:nvSpPr>
          <p:cNvPr id="15" name="Text 11"/>
          <p:cNvSpPr/>
          <p:nvPr/>
        </p:nvSpPr>
        <p:spPr>
          <a:xfrm>
            <a:off x="4645152" y="242316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7</a:t>
            </a:r>
            <a:endParaRPr lang="en-US" sz="2800" dirty="0"/>
          </a:p>
        </p:txBody>
      </p:sp>
      <p:sp>
        <p:nvSpPr>
          <p:cNvPr id="16" name="Text 12"/>
          <p:cNvSpPr/>
          <p:nvPr/>
        </p:nvSpPr>
        <p:spPr>
          <a:xfrm>
            <a:off x="4645152" y="310896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AOV £315</a:t>
            </a:r>
            <a:endParaRPr lang="en-US" sz="1050" dirty="0"/>
          </a:p>
        </p:txBody>
      </p:sp>
      <p:sp>
        <p:nvSpPr>
          <p:cNvPr id="17" name="Shape 13"/>
          <p:cNvSpPr/>
          <p:nvPr/>
        </p:nvSpPr>
        <p:spPr>
          <a:xfrm>
            <a:off x="8229600" y="123444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18" name="Shape 14"/>
          <p:cNvSpPr/>
          <p:nvPr/>
        </p:nvSpPr>
        <p:spPr>
          <a:xfrm>
            <a:off x="8485632" y="1490472"/>
            <a:ext cx="502920" cy="502920"/>
          </a:xfrm>
          <a:prstGeom prst="ellipse">
            <a:avLst/>
          </a:prstGeom>
          <a:solidFill>
            <a:srgbClr val="3C6034"/>
          </a:solidFill>
          <a:ln/>
        </p:spPr>
      </p:sp>
      <p:pic>
        <p:nvPicPr>
          <p:cNvPr id="19" name="Image 2" descr="preencoded.png">    </p:cNvPr>
          <p:cNvPicPr>
            <a:picLocks noChangeAspect="1"/>
          </p:cNvPicPr>
          <p:nvPr/>
        </p:nvPicPr>
        <p:blipFill>
          <a:blip r:embed="rId3"/>
          <a:stretch>
            <a:fillRect/>
          </a:stretch>
        </p:blipFill>
        <p:spPr>
          <a:xfrm>
            <a:off x="8613648" y="1618488"/>
            <a:ext cx="246888" cy="246888"/>
          </a:xfrm>
          <a:prstGeom prst="rect">
            <a:avLst/>
          </a:prstGeom>
        </p:spPr>
      </p:pic>
      <p:sp>
        <p:nvSpPr>
          <p:cNvPr id="20" name="Text 15"/>
          <p:cNvSpPr/>
          <p:nvPr/>
        </p:nvSpPr>
        <p:spPr>
          <a:xfrm>
            <a:off x="10058400" y="1527048"/>
            <a:ext cx="1463040" cy="274320"/>
          </a:xfrm>
          <a:prstGeom prst="rect">
            <a:avLst/>
          </a:prstGeom>
          <a:noFill/>
          <a:ln/>
        </p:spPr>
        <p:txBody>
          <a:bodyPr wrap="square" lIns="0" tIns="0" rIns="0" bIns="0" rtlCol="0" anchor="ctr"/>
          <a:lstStyle/>
          <a:p>
            <a:pPr algn="r" indent="0" marL="0">
              <a:buNone/>
            </a:pPr>
            <a:r>
              <a:rPr lang="en-US" sz="1000" b="1" dirty="0">
                <a:solidFill>
                  <a:srgbClr val="A6472B"/>
                </a:solidFill>
                <a:latin typeface="Calibri" pitchFamily="34" charset="0"/>
                <a:ea typeface="Calibri" pitchFamily="34" charset="-122"/>
                <a:cs typeface="Calibri" pitchFamily="34" charset="-120"/>
              </a:rPr>
              <a:t>▼ 57.5% vs last wk</a:t>
            </a:r>
            <a:endParaRPr lang="en-US" sz="1000" dirty="0"/>
          </a:p>
        </p:txBody>
      </p:sp>
      <p:sp>
        <p:nvSpPr>
          <p:cNvPr id="21" name="Text 16"/>
          <p:cNvSpPr/>
          <p:nvPr/>
        </p:nvSpPr>
        <p:spPr>
          <a:xfrm>
            <a:off x="8485632" y="214884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MATCHA SHIPPED</a:t>
            </a:r>
            <a:endParaRPr lang="en-US" sz="1100" dirty="0"/>
          </a:p>
        </p:txBody>
      </p:sp>
      <p:sp>
        <p:nvSpPr>
          <p:cNvPr id="22" name="Text 17"/>
          <p:cNvSpPr/>
          <p:nvPr/>
        </p:nvSpPr>
        <p:spPr>
          <a:xfrm>
            <a:off x="8485632" y="242316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13.5 kg</a:t>
            </a:r>
            <a:endParaRPr lang="en-US" sz="2800" dirty="0"/>
          </a:p>
        </p:txBody>
      </p:sp>
      <p:sp>
        <p:nvSpPr>
          <p:cNvPr id="23" name="Text 18"/>
          <p:cNvSpPr/>
          <p:nvPr/>
        </p:nvSpPr>
        <p:spPr>
          <a:xfrm>
            <a:off x="8485632" y="310896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Invoiced this week</a:t>
            </a:r>
            <a:endParaRPr lang="en-US" sz="1050" dirty="0"/>
          </a:p>
        </p:txBody>
      </p:sp>
      <p:sp>
        <p:nvSpPr>
          <p:cNvPr id="24" name="Shape 19"/>
          <p:cNvSpPr/>
          <p:nvPr/>
        </p:nvSpPr>
        <p:spPr>
          <a:xfrm>
            <a:off x="548640" y="388620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25" name="Shape 20"/>
          <p:cNvSpPr/>
          <p:nvPr/>
        </p:nvSpPr>
        <p:spPr>
          <a:xfrm>
            <a:off x="804672" y="4142232"/>
            <a:ext cx="502920" cy="502920"/>
          </a:xfrm>
          <a:prstGeom prst="ellipse">
            <a:avLst/>
          </a:prstGeom>
          <a:solidFill>
            <a:srgbClr val="3C6034"/>
          </a:solidFill>
          <a:ln/>
        </p:spPr>
      </p:sp>
      <p:pic>
        <p:nvPicPr>
          <p:cNvPr id="26" name="Image 3" descr="preencoded.png">    </p:cNvPr>
          <p:cNvPicPr>
            <a:picLocks noChangeAspect="1"/>
          </p:cNvPicPr>
          <p:nvPr/>
        </p:nvPicPr>
        <p:blipFill>
          <a:blip r:embed="rId4"/>
          <a:stretch>
            <a:fillRect/>
          </a:stretch>
        </p:blipFill>
        <p:spPr>
          <a:xfrm>
            <a:off x="932688" y="4270248"/>
            <a:ext cx="246888" cy="246888"/>
          </a:xfrm>
          <a:prstGeom prst="rect">
            <a:avLst/>
          </a:prstGeom>
        </p:spPr>
      </p:pic>
      <p:sp>
        <p:nvSpPr>
          <p:cNvPr id="27" name="Text 21"/>
          <p:cNvSpPr/>
          <p:nvPr/>
        </p:nvSpPr>
        <p:spPr>
          <a:xfrm>
            <a:off x="804672" y="480060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SAMPLES SENT</a:t>
            </a:r>
            <a:endParaRPr lang="en-US" sz="1100" dirty="0"/>
          </a:p>
        </p:txBody>
      </p:sp>
      <p:sp>
        <p:nvSpPr>
          <p:cNvPr id="28" name="Text 22"/>
          <p:cNvSpPr/>
          <p:nvPr/>
        </p:nvSpPr>
        <p:spPr>
          <a:xfrm>
            <a:off x="804672" y="507492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0</a:t>
            </a:r>
            <a:endParaRPr lang="en-US" sz="2800" dirty="0"/>
          </a:p>
        </p:txBody>
      </p:sp>
      <p:sp>
        <p:nvSpPr>
          <p:cNvPr id="29" name="Text 23"/>
          <p:cNvSpPr/>
          <p:nvPr/>
        </p:nvSpPr>
        <p:spPr>
          <a:xfrm>
            <a:off x="804672" y="576072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97 all-time</a:t>
            </a:r>
            <a:endParaRPr lang="en-US" sz="1050" dirty="0"/>
          </a:p>
        </p:txBody>
      </p:sp>
      <p:sp>
        <p:nvSpPr>
          <p:cNvPr id="30" name="Shape 24"/>
          <p:cNvSpPr/>
          <p:nvPr/>
        </p:nvSpPr>
        <p:spPr>
          <a:xfrm>
            <a:off x="4389120" y="388620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31" name="Shape 25"/>
          <p:cNvSpPr/>
          <p:nvPr/>
        </p:nvSpPr>
        <p:spPr>
          <a:xfrm>
            <a:off x="4645152" y="4142232"/>
            <a:ext cx="502920" cy="502920"/>
          </a:xfrm>
          <a:prstGeom prst="ellipse">
            <a:avLst/>
          </a:prstGeom>
          <a:solidFill>
            <a:srgbClr val="3C6034"/>
          </a:solidFill>
          <a:ln/>
        </p:spPr>
      </p:sp>
      <p:pic>
        <p:nvPicPr>
          <p:cNvPr id="32" name="Image 4" descr="preencoded.png">    </p:cNvPr>
          <p:cNvPicPr>
            <a:picLocks noChangeAspect="1"/>
          </p:cNvPicPr>
          <p:nvPr/>
        </p:nvPicPr>
        <p:blipFill>
          <a:blip r:embed="rId5"/>
          <a:stretch>
            <a:fillRect/>
          </a:stretch>
        </p:blipFill>
        <p:spPr>
          <a:xfrm>
            <a:off x="4773168" y="4270248"/>
            <a:ext cx="246888" cy="246888"/>
          </a:xfrm>
          <a:prstGeom prst="rect">
            <a:avLst/>
          </a:prstGeom>
        </p:spPr>
      </p:pic>
      <p:sp>
        <p:nvSpPr>
          <p:cNvPr id="33" name="Text 26"/>
          <p:cNvSpPr/>
          <p:nvPr/>
        </p:nvSpPr>
        <p:spPr>
          <a:xfrm>
            <a:off x="4645152" y="480060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NEW CAFÉS ONBOARDED</a:t>
            </a:r>
            <a:endParaRPr lang="en-US" sz="1100" dirty="0"/>
          </a:p>
        </p:txBody>
      </p:sp>
      <p:sp>
        <p:nvSpPr>
          <p:cNvPr id="34" name="Text 27"/>
          <p:cNvSpPr/>
          <p:nvPr/>
        </p:nvSpPr>
        <p:spPr>
          <a:xfrm>
            <a:off x="4645152" y="507492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1</a:t>
            </a:r>
            <a:endParaRPr lang="en-US" sz="2800" dirty="0"/>
          </a:p>
        </p:txBody>
      </p:sp>
      <p:sp>
        <p:nvSpPr>
          <p:cNvPr id="35" name="Text 28"/>
          <p:cNvSpPr/>
          <p:nvPr/>
        </p:nvSpPr>
        <p:spPr>
          <a:xfrm>
            <a:off x="4645152" y="576072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First paid order this week</a:t>
            </a:r>
            <a:endParaRPr lang="en-US" sz="1050" dirty="0"/>
          </a:p>
        </p:txBody>
      </p:sp>
      <p:sp>
        <p:nvSpPr>
          <p:cNvPr id="36" name="Shape 29"/>
          <p:cNvSpPr/>
          <p:nvPr/>
        </p:nvSpPr>
        <p:spPr>
          <a:xfrm>
            <a:off x="8229600" y="3886200"/>
            <a:ext cx="3520440" cy="2331720"/>
          </a:xfrm>
          <a:prstGeom prst="roundRect">
            <a:avLst>
              <a:gd name="adj" fmla="val 3137"/>
            </a:avLst>
          </a:prstGeom>
          <a:solidFill>
            <a:srgbClr val="F4F7F2"/>
          </a:solidFill>
          <a:ln/>
          <a:effectLst>
            <a:outerShdw sx="100000" sy="100000" kx="0" ky="0" algn="bl" rotWithShape="0" blurRad="101600" dist="25400" dir="5400000">
              <a:srgbClr val="1B3A22">
                <a:alpha val="10000"/>
              </a:srgbClr>
            </a:outerShdw>
          </a:effectLst>
        </p:spPr>
      </p:sp>
      <p:sp>
        <p:nvSpPr>
          <p:cNvPr id="37" name="Shape 30"/>
          <p:cNvSpPr/>
          <p:nvPr/>
        </p:nvSpPr>
        <p:spPr>
          <a:xfrm>
            <a:off x="8485632" y="4142232"/>
            <a:ext cx="502920" cy="502920"/>
          </a:xfrm>
          <a:prstGeom prst="ellipse">
            <a:avLst/>
          </a:prstGeom>
          <a:solidFill>
            <a:srgbClr val="3C6034"/>
          </a:solidFill>
          <a:ln/>
        </p:spPr>
      </p:sp>
      <p:pic>
        <p:nvPicPr>
          <p:cNvPr id="38" name="Image 5" descr="preencoded.png">    </p:cNvPr>
          <p:cNvPicPr>
            <a:picLocks noChangeAspect="1"/>
          </p:cNvPicPr>
          <p:nvPr/>
        </p:nvPicPr>
        <p:blipFill>
          <a:blip r:embed="rId6"/>
          <a:stretch>
            <a:fillRect/>
          </a:stretch>
        </p:blipFill>
        <p:spPr>
          <a:xfrm>
            <a:off x="8613648" y="4270248"/>
            <a:ext cx="246888" cy="246888"/>
          </a:xfrm>
          <a:prstGeom prst="rect">
            <a:avLst/>
          </a:prstGeom>
        </p:spPr>
      </p:pic>
      <p:sp>
        <p:nvSpPr>
          <p:cNvPr id="39" name="Text 31"/>
          <p:cNvSpPr/>
          <p:nvPr/>
        </p:nvSpPr>
        <p:spPr>
          <a:xfrm>
            <a:off x="8485632" y="4800600"/>
            <a:ext cx="3008376" cy="320040"/>
          </a:xfrm>
          <a:prstGeom prst="rect">
            <a:avLst/>
          </a:prstGeom>
          <a:noFill/>
          <a:ln/>
        </p:spPr>
        <p:txBody>
          <a:bodyPr wrap="square" lIns="0" tIns="0" rIns="0" bIns="0" rtlCol="0" anchor="ctr"/>
          <a:lstStyle/>
          <a:p>
            <a:pPr indent="0" marL="0">
              <a:buNone/>
            </a:pPr>
            <a:r>
              <a:rPr lang="en-US" sz="1100" b="1" spc="100" kern="0" dirty="0">
                <a:solidFill>
                  <a:srgbClr val="6E7568"/>
                </a:solidFill>
                <a:latin typeface="Calibri" pitchFamily="34" charset="0"/>
                <a:ea typeface="Calibri" pitchFamily="34" charset="-122"/>
                <a:cs typeface="Calibri" pitchFamily="34" charset="-120"/>
              </a:rPr>
              <a:t>OUTSTANDING INVOICES</a:t>
            </a:r>
            <a:endParaRPr lang="en-US" sz="1100" dirty="0"/>
          </a:p>
        </p:txBody>
      </p:sp>
      <p:sp>
        <p:nvSpPr>
          <p:cNvPr id="40" name="Text 32"/>
          <p:cNvSpPr/>
          <p:nvPr/>
        </p:nvSpPr>
        <p:spPr>
          <a:xfrm>
            <a:off x="8485632" y="5074920"/>
            <a:ext cx="3008376" cy="68580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£537</a:t>
            </a:r>
            <a:endParaRPr lang="en-US" sz="2800" dirty="0"/>
          </a:p>
        </p:txBody>
      </p:sp>
      <p:sp>
        <p:nvSpPr>
          <p:cNvPr id="41" name="Text 33"/>
          <p:cNvSpPr/>
          <p:nvPr/>
        </p:nvSpPr>
        <p:spPr>
          <a:xfrm>
            <a:off x="8485632" y="5760720"/>
            <a:ext cx="3008376" cy="384048"/>
          </a:xfrm>
          <a:prstGeom prst="rect">
            <a:avLst/>
          </a:prstGeom>
          <a:noFill/>
          <a:ln/>
        </p:spPr>
        <p:txBody>
          <a:bodyPr wrap="square" lIns="0" tIns="0" rIns="0" bIns="0" rtlCol="0" anchor="ctr"/>
          <a:lstStyle/>
          <a:p>
            <a:pPr indent="0" marL="0">
              <a:buNone/>
            </a:pPr>
            <a:r>
              <a:rPr lang="en-US" sz="1050" dirty="0">
                <a:solidFill>
                  <a:srgbClr val="6E7568"/>
                </a:solidFill>
                <a:latin typeface="Calibri" pitchFamily="34" charset="0"/>
                <a:ea typeface="Calibri" pitchFamily="34" charset="-122"/>
                <a:cs typeface="Calibri" pitchFamily="34" charset="-120"/>
              </a:rPr>
              <a:t>Normal — nothing overdue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Active Cafés &amp; New Cafés</a:t>
            </a:r>
            <a:endParaRPr lang="en-US" sz="3000" dirty="0"/>
          </a:p>
        </p:txBody>
      </p:sp>
      <p:sp>
        <p:nvSpPr>
          <p:cNvPr id="3" name="Text 1"/>
          <p:cNvSpPr/>
          <p:nvPr/>
        </p:nvSpPr>
        <p:spPr>
          <a:xfrm>
            <a:off x="548640" y="1234440"/>
            <a:ext cx="4754880" cy="320040"/>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ACTIVE CAFÉS</a:t>
            </a:r>
            <a:endParaRPr lang="en-US" sz="1300" dirty="0"/>
          </a:p>
        </p:txBody>
      </p:sp>
      <p:sp>
        <p:nvSpPr>
          <p:cNvPr id="4" name="Shape 2"/>
          <p:cNvSpPr/>
          <p:nvPr/>
        </p:nvSpPr>
        <p:spPr>
          <a:xfrm>
            <a:off x="548640" y="1645920"/>
            <a:ext cx="4754880" cy="914400"/>
          </a:xfrm>
          <a:prstGeom prst="roundRect">
            <a:avLst>
              <a:gd name="adj" fmla="val 6000"/>
            </a:avLst>
          </a:prstGeom>
          <a:solidFill>
            <a:srgbClr val="F4F7F2"/>
          </a:solidFill>
          <a:ln/>
        </p:spPr>
      </p:sp>
      <p:sp>
        <p:nvSpPr>
          <p:cNvPr id="5" name="Text 3"/>
          <p:cNvSpPr/>
          <p:nvPr/>
        </p:nvSpPr>
        <p:spPr>
          <a:xfrm>
            <a:off x="777240" y="1783080"/>
            <a:ext cx="3291840" cy="32004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This week</a:t>
            </a:r>
            <a:endParaRPr lang="en-US" sz="1200" dirty="0"/>
          </a:p>
        </p:txBody>
      </p:sp>
      <p:sp>
        <p:nvSpPr>
          <p:cNvPr id="6" name="Text 4"/>
          <p:cNvSpPr/>
          <p:nvPr/>
        </p:nvSpPr>
        <p:spPr>
          <a:xfrm>
            <a:off x="777240" y="2011680"/>
            <a:ext cx="3291840" cy="502920"/>
          </a:xfrm>
          <a:prstGeom prst="rect">
            <a:avLst/>
          </a:prstGeom>
          <a:noFill/>
          <a:ln/>
        </p:spPr>
        <p:txBody>
          <a:bodyPr wrap="square" lIns="0" tIns="0" rIns="0" bIns="0" rtlCol="0" anchor="ctr"/>
          <a:lstStyle/>
          <a:p>
            <a:pPr indent="0" marL="0">
              <a:buNone/>
            </a:pPr>
            <a:r>
              <a:rPr lang="en-US" sz="2600" b="1" dirty="0">
                <a:solidFill>
                  <a:srgbClr val="20291F"/>
                </a:solidFill>
                <a:latin typeface="Cambria" pitchFamily="34" charset="0"/>
                <a:ea typeface="Cambria" pitchFamily="34" charset="-122"/>
                <a:cs typeface="Cambria" pitchFamily="34" charset="-120"/>
              </a:rPr>
              <a:t>7</a:t>
            </a:r>
            <a:endParaRPr lang="en-US" sz="2600" dirty="0"/>
          </a:p>
        </p:txBody>
      </p:sp>
      <p:sp>
        <p:nvSpPr>
          <p:cNvPr id="7" name="Shape 5"/>
          <p:cNvSpPr/>
          <p:nvPr/>
        </p:nvSpPr>
        <p:spPr>
          <a:xfrm>
            <a:off x="4709160" y="1920240"/>
            <a:ext cx="457200" cy="457200"/>
          </a:xfrm>
          <a:prstGeom prst="ellipse">
            <a:avLst/>
          </a:prstGeom>
          <a:solidFill>
            <a:srgbClr val="3C6034"/>
          </a:solidFill>
          <a:ln/>
        </p:spPr>
      </p:sp>
      <p:pic>
        <p:nvPicPr>
          <p:cNvPr id="8" name="Image 0" descr="preencoded.png">    </p:cNvPr>
          <p:cNvPicPr>
            <a:picLocks noChangeAspect="1"/>
          </p:cNvPicPr>
          <p:nvPr/>
        </p:nvPicPr>
        <p:blipFill>
          <a:blip r:embed="rId1"/>
          <a:stretch>
            <a:fillRect/>
          </a:stretch>
        </p:blipFill>
        <p:spPr>
          <a:xfrm>
            <a:off x="4828032" y="2039112"/>
            <a:ext cx="219456" cy="219456"/>
          </a:xfrm>
          <a:prstGeom prst="rect">
            <a:avLst/>
          </a:prstGeom>
        </p:spPr>
      </p:pic>
      <p:sp>
        <p:nvSpPr>
          <p:cNvPr id="9" name="Shape 6"/>
          <p:cNvSpPr/>
          <p:nvPr/>
        </p:nvSpPr>
        <p:spPr>
          <a:xfrm>
            <a:off x="548640" y="2697480"/>
            <a:ext cx="4754880" cy="914400"/>
          </a:xfrm>
          <a:prstGeom prst="roundRect">
            <a:avLst>
              <a:gd name="adj" fmla="val 6000"/>
            </a:avLst>
          </a:prstGeom>
          <a:solidFill>
            <a:srgbClr val="F4F7F2"/>
          </a:solidFill>
          <a:ln/>
        </p:spPr>
      </p:sp>
      <p:sp>
        <p:nvSpPr>
          <p:cNvPr id="10" name="Text 7"/>
          <p:cNvSpPr/>
          <p:nvPr/>
        </p:nvSpPr>
        <p:spPr>
          <a:xfrm>
            <a:off x="777240" y="2834640"/>
            <a:ext cx="3291840" cy="32004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This month (Sep MTD)</a:t>
            </a:r>
            <a:endParaRPr lang="en-US" sz="1200" dirty="0"/>
          </a:p>
        </p:txBody>
      </p:sp>
      <p:sp>
        <p:nvSpPr>
          <p:cNvPr id="11" name="Text 8"/>
          <p:cNvSpPr/>
          <p:nvPr/>
        </p:nvSpPr>
        <p:spPr>
          <a:xfrm>
            <a:off x="777240" y="3063240"/>
            <a:ext cx="3291840" cy="502920"/>
          </a:xfrm>
          <a:prstGeom prst="rect">
            <a:avLst/>
          </a:prstGeom>
          <a:noFill/>
          <a:ln/>
        </p:spPr>
        <p:txBody>
          <a:bodyPr wrap="square" lIns="0" tIns="0" rIns="0" bIns="0" rtlCol="0" anchor="ctr"/>
          <a:lstStyle/>
          <a:p>
            <a:pPr indent="0" marL="0">
              <a:buNone/>
            </a:pPr>
            <a:r>
              <a:rPr lang="en-US" sz="2600" b="1" dirty="0">
                <a:solidFill>
                  <a:srgbClr val="20291F"/>
                </a:solidFill>
                <a:latin typeface="Cambria" pitchFamily="34" charset="0"/>
                <a:ea typeface="Cambria" pitchFamily="34" charset="-122"/>
                <a:cs typeface="Cambria" pitchFamily="34" charset="-120"/>
              </a:rPr>
              <a:t>35</a:t>
            </a:r>
            <a:endParaRPr lang="en-US" sz="2600" dirty="0"/>
          </a:p>
        </p:txBody>
      </p:sp>
      <p:sp>
        <p:nvSpPr>
          <p:cNvPr id="12" name="Shape 9"/>
          <p:cNvSpPr/>
          <p:nvPr/>
        </p:nvSpPr>
        <p:spPr>
          <a:xfrm>
            <a:off x="4709160" y="2971800"/>
            <a:ext cx="457200" cy="457200"/>
          </a:xfrm>
          <a:prstGeom prst="ellipse">
            <a:avLst/>
          </a:prstGeom>
          <a:solidFill>
            <a:srgbClr val="3C6034"/>
          </a:solidFill>
          <a:ln/>
        </p:spPr>
      </p:sp>
      <p:pic>
        <p:nvPicPr>
          <p:cNvPr id="13" name="Image 1" descr="preencoded.png">    </p:cNvPr>
          <p:cNvPicPr>
            <a:picLocks noChangeAspect="1"/>
          </p:cNvPicPr>
          <p:nvPr/>
        </p:nvPicPr>
        <p:blipFill>
          <a:blip r:embed="rId2"/>
          <a:stretch>
            <a:fillRect/>
          </a:stretch>
        </p:blipFill>
        <p:spPr>
          <a:xfrm>
            <a:off x="4828032" y="3090672"/>
            <a:ext cx="219456" cy="219456"/>
          </a:xfrm>
          <a:prstGeom prst="rect">
            <a:avLst/>
          </a:prstGeom>
        </p:spPr>
      </p:pic>
      <p:sp>
        <p:nvSpPr>
          <p:cNvPr id="14" name="Text 10"/>
          <p:cNvSpPr/>
          <p:nvPr/>
        </p:nvSpPr>
        <p:spPr>
          <a:xfrm>
            <a:off x="548640" y="3794760"/>
            <a:ext cx="4754880" cy="320040"/>
          </a:xfrm>
          <a:prstGeom prst="rect">
            <a:avLst/>
          </a:prstGeom>
          <a:noFill/>
          <a:ln/>
        </p:spPr>
        <p:txBody>
          <a:bodyPr wrap="square" lIns="0" tIns="0" rIns="0" bIns="0" rtlCol="0" anchor="ctr"/>
          <a:lstStyle/>
          <a:p>
            <a:pPr indent="0" marL="0">
              <a:buNone/>
            </a:pPr>
            <a:r>
              <a:rPr lang="en-US" sz="1100" i="1" dirty="0">
                <a:solidFill>
                  <a:srgbClr val="6E7568"/>
                </a:solidFill>
                <a:latin typeface="Calibri" pitchFamily="34" charset="0"/>
                <a:ea typeface="Calibri" pitchFamily="34" charset="-122"/>
                <a:cs typeface="Calibri" pitchFamily="34" charset="-120"/>
              </a:rPr>
              <a:t>99 active partners all-time</a:t>
            </a:r>
            <a:endParaRPr lang="en-US" sz="1100" dirty="0"/>
          </a:p>
        </p:txBody>
      </p:sp>
      <p:sp>
        <p:nvSpPr>
          <p:cNvPr id="15" name="Text 11"/>
          <p:cNvSpPr/>
          <p:nvPr/>
        </p:nvSpPr>
        <p:spPr>
          <a:xfrm>
            <a:off x="5760720" y="1234440"/>
            <a:ext cx="5852160" cy="292608"/>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NEW CAFÉS ONBOARDED THIS WEEK</a:t>
            </a:r>
            <a:endParaRPr lang="en-US" sz="1300" dirty="0"/>
          </a:p>
        </p:txBody>
      </p:sp>
      <p:sp>
        <p:nvSpPr>
          <p:cNvPr id="16" name="Text 12"/>
          <p:cNvSpPr/>
          <p:nvPr/>
        </p:nvSpPr>
        <p:spPr>
          <a:xfrm>
            <a:off x="5760720" y="1600200"/>
            <a:ext cx="5852160" cy="521208"/>
          </a:xfrm>
          <a:prstGeom prst="rect">
            <a:avLst/>
          </a:prstGeom>
          <a:noFill/>
          <a:ln/>
        </p:spPr>
        <p:txBody>
          <a:bodyPr wrap="square" rtlCol="0" anchor="ctr"/>
          <a:lstStyle/>
          <a:p>
            <a:pPr marL="342900" indent="-342900">
              <a:spcAft>
                <a:spcPts val="700"/>
              </a:spcAft>
              <a:buSzPct val="100000"/>
              <a:buChar char="●"/>
            </a:pPr>
            <a:r>
              <a:rPr lang="en-US" sz="1450" dirty="0">
                <a:solidFill>
                  <a:srgbClr val="20291F"/>
                </a:solidFill>
                <a:latin typeface="Calibri" pitchFamily="34" charset="0"/>
                <a:ea typeface="Calibri" pitchFamily="34" charset="-122"/>
                <a:cs typeface="Calibri" pitchFamily="34" charset="-120"/>
              </a:rPr>
              <a:t>Buttercup Kitchen</a:t>
            </a:r>
            <a:endParaRPr lang="en-US" sz="1450" dirty="0"/>
          </a:p>
        </p:txBody>
      </p:sp>
      <p:sp>
        <p:nvSpPr>
          <p:cNvPr id="17" name="Text 13"/>
          <p:cNvSpPr/>
          <p:nvPr/>
        </p:nvSpPr>
        <p:spPr>
          <a:xfrm>
            <a:off x="5760720" y="2487168"/>
            <a:ext cx="5852160" cy="292608"/>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REACTIVATED THIS WEEK — WELCOME BACK</a:t>
            </a:r>
            <a:endParaRPr lang="en-US" sz="1300" dirty="0"/>
          </a:p>
        </p:txBody>
      </p:sp>
      <p:sp>
        <p:nvSpPr>
          <p:cNvPr id="18" name="Text 14"/>
          <p:cNvSpPr/>
          <p:nvPr/>
        </p:nvSpPr>
        <p:spPr>
          <a:xfrm>
            <a:off x="5760720" y="2852928"/>
            <a:ext cx="5852160" cy="320040"/>
          </a:xfrm>
          <a:prstGeom prst="rect">
            <a:avLst/>
          </a:prstGeom>
          <a:noFill/>
          <a:ln/>
        </p:spPr>
        <p:txBody>
          <a:bodyPr wrap="square" lIns="0" tIns="0" rIns="0" bIns="0" rtlCol="0" anchor="ctr"/>
          <a:lstStyle/>
          <a:p>
            <a:pPr indent="0" marL="0">
              <a:buNone/>
            </a:pPr>
            <a:r>
              <a:rPr lang="en-US" sz="1200" i="1" dirty="0">
                <a:solidFill>
                  <a:srgbClr val="6E7568"/>
                </a:solidFill>
                <a:latin typeface="Calibri" pitchFamily="34" charset="0"/>
                <a:ea typeface="Calibri" pitchFamily="34" charset="-122"/>
                <a:cs typeface="Calibri" pitchFamily="34" charset="-120"/>
              </a:rPr>
              <a:t>No returning cafés this week.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Highlights</a:t>
            </a:r>
            <a:endParaRPr lang="en-US" sz="3000" dirty="0"/>
          </a:p>
        </p:txBody>
      </p:sp>
      <p:sp>
        <p:nvSpPr>
          <p:cNvPr id="3" name="Text 1"/>
          <p:cNvSpPr/>
          <p:nvPr/>
        </p:nvSpPr>
        <p:spPr>
          <a:xfrm>
            <a:off x="548640" y="1234440"/>
            <a:ext cx="11064240" cy="320040"/>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TOP CAFÉS THIS MONTH</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7040880"/>
                <a:gridCol w="2011680"/>
                <a:gridCol w="201168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Café</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Orders</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Revenue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Chiya Cafe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£1,386</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HER DAYS Cafe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£1,326</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WE ARE LARDER, CARELTON</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£1,200</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Greenhood Coffee, Nottingham</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£872</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47472">
                <a:tc>
                  <a:txBody>
                    <a:bodyPr/>
                    <a:lstStyle/>
                    <a:p>
                      <a:pPr indent="0" marL="0">
                        <a:buNone/>
                      </a:pPr>
                      <a:r>
                        <a:rPr lang="en-US" sz="1300" dirty="0">
                          <a:solidFill>
                            <a:srgbClr val="20291F"/>
                          </a:solidFill>
                          <a:latin typeface="Calibri" pitchFamily="34" charset="0"/>
                          <a:ea typeface="Calibri" pitchFamily="34" charset="-122"/>
                          <a:cs typeface="Calibri" pitchFamily="34" charset="-120"/>
                        </a:rPr>
                        <a:t>ACAI&amp;THE TRIBE</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20291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00" dirty="0">
                          <a:solidFill>
                            <a:srgbClr val="20291F"/>
                          </a:solidFill>
                          <a:latin typeface="Calibri" pitchFamily="34" charset="0"/>
                          <a:ea typeface="Calibri" pitchFamily="34" charset="-122"/>
                          <a:cs typeface="Calibri" pitchFamily="34" charset="-120"/>
                        </a:rPr>
                        <a:t>£616</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
        <p:nvSpPr>
          <p:cNvPr id="5" name="Shape 2"/>
          <p:cNvSpPr/>
          <p:nvPr/>
        </p:nvSpPr>
        <p:spPr>
          <a:xfrm>
            <a:off x="548640" y="4279392"/>
            <a:ext cx="5349240" cy="1280160"/>
          </a:xfrm>
          <a:prstGeom prst="roundRect">
            <a:avLst>
              <a:gd name="adj" fmla="val 4286"/>
            </a:avLst>
          </a:prstGeom>
          <a:solidFill>
            <a:srgbClr val="F4F7F2"/>
          </a:solidFill>
          <a:ln/>
        </p:spPr>
      </p:sp>
      <p:sp>
        <p:nvSpPr>
          <p:cNvPr id="6" name="Shape 3"/>
          <p:cNvSpPr/>
          <p:nvPr/>
        </p:nvSpPr>
        <p:spPr>
          <a:xfrm>
            <a:off x="777240" y="4462272"/>
            <a:ext cx="457200" cy="457200"/>
          </a:xfrm>
          <a:prstGeom prst="ellipse">
            <a:avLst/>
          </a:prstGeom>
          <a:solidFill>
            <a:srgbClr val="3C6034"/>
          </a:solidFill>
          <a:ln/>
        </p:spPr>
      </p:sp>
      <p:pic>
        <p:nvPicPr>
          <p:cNvPr id="7" name="Image 0" descr="preencoded.png">    </p:cNvPr>
          <p:cNvPicPr>
            <a:picLocks noChangeAspect="1"/>
          </p:cNvPicPr>
          <p:nvPr/>
        </p:nvPicPr>
        <p:blipFill>
          <a:blip r:embed="rId1"/>
          <a:stretch>
            <a:fillRect/>
          </a:stretch>
        </p:blipFill>
        <p:spPr>
          <a:xfrm>
            <a:off x="886968" y="4572000"/>
            <a:ext cx="237744" cy="237744"/>
          </a:xfrm>
          <a:prstGeom prst="rect">
            <a:avLst/>
          </a:prstGeom>
        </p:spPr>
      </p:pic>
      <p:sp>
        <p:nvSpPr>
          <p:cNvPr id="8" name="Text 4"/>
          <p:cNvSpPr/>
          <p:nvPr/>
        </p:nvSpPr>
        <p:spPr>
          <a:xfrm>
            <a:off x="1417320" y="4398264"/>
            <a:ext cx="4480560" cy="960120"/>
          </a:xfrm>
          <a:prstGeom prst="rect">
            <a:avLst/>
          </a:prstGeom>
          <a:noFill/>
          <a:ln/>
        </p:spPr>
        <p:txBody>
          <a:bodyPr wrap="square" lIns="0" tIns="0" rIns="0" bIns="0" rtlCol="0" anchor="ctr"/>
          <a:lstStyle/>
          <a:p>
            <a:pPr indent="0" marL="0">
              <a:buNone/>
            </a:pPr>
            <a:r>
              <a:rPr lang="en-US" sz="1500" b="1" dirty="0">
                <a:solidFill>
                  <a:srgbClr val="3C6034"/>
                </a:solidFill>
                <a:latin typeface="Calibri" pitchFamily="34" charset="0"/>
                <a:ea typeface="Calibri" pitchFamily="34" charset="-122"/>
                <a:cs typeface="Calibri" pitchFamily="34" charset="-120"/>
              </a:rPr>
              <a:t>£537 outstanding</a:t>
            </a:r>
            <a:endParaRPr lang="en-US" sz="1500" dirty="0"/>
          </a:p>
          <a:p>
            <a:pPr indent="0" marL="0">
              <a:buNone/>
            </a:pPr>
            <a:r>
              <a:rPr lang="en-US" sz="1200" dirty="0">
                <a:solidFill>
                  <a:srgbClr val="6E7568"/>
                </a:solidFill>
                <a:latin typeface="Calibri" pitchFamily="34" charset="0"/>
                <a:ea typeface="Calibri" pitchFamily="34" charset="-122"/>
                <a:cs typeface="Calibri" pitchFamily="34" charset="-120"/>
              </a:rPr>
              <a:t>Recent invoices not yet due — normal for this point in the week, nothing overdue.</a:t>
            </a:r>
            <a:endParaRPr lang="en-US" sz="1500" dirty="0"/>
          </a:p>
        </p:txBody>
      </p:sp>
      <p:sp>
        <p:nvSpPr>
          <p:cNvPr id="9" name="Shape 5"/>
          <p:cNvSpPr/>
          <p:nvPr/>
        </p:nvSpPr>
        <p:spPr>
          <a:xfrm>
            <a:off x="6263640" y="4279392"/>
            <a:ext cx="5349240" cy="1280160"/>
          </a:xfrm>
          <a:prstGeom prst="roundRect">
            <a:avLst>
              <a:gd name="adj" fmla="val 4286"/>
            </a:avLst>
          </a:prstGeom>
          <a:solidFill>
            <a:srgbClr val="F4F7F2"/>
          </a:solidFill>
          <a:ln/>
        </p:spPr>
      </p:sp>
      <p:sp>
        <p:nvSpPr>
          <p:cNvPr id="10" name="Shape 6"/>
          <p:cNvSpPr/>
          <p:nvPr/>
        </p:nvSpPr>
        <p:spPr>
          <a:xfrm>
            <a:off x="6492240" y="4462272"/>
            <a:ext cx="457200" cy="457200"/>
          </a:xfrm>
          <a:prstGeom prst="ellipse">
            <a:avLst/>
          </a:prstGeom>
          <a:solidFill>
            <a:srgbClr val="3C6034"/>
          </a:solidFill>
          <a:ln/>
        </p:spPr>
      </p:sp>
      <p:pic>
        <p:nvPicPr>
          <p:cNvPr id="11" name="Image 1" descr="preencoded.png">    </p:cNvPr>
          <p:cNvPicPr>
            <a:picLocks noChangeAspect="1"/>
          </p:cNvPicPr>
          <p:nvPr/>
        </p:nvPicPr>
        <p:blipFill>
          <a:blip r:embed="rId2"/>
          <a:stretch>
            <a:fillRect/>
          </a:stretch>
        </p:blipFill>
        <p:spPr>
          <a:xfrm>
            <a:off x="6601968" y="4572000"/>
            <a:ext cx="237744" cy="237744"/>
          </a:xfrm>
          <a:prstGeom prst="rect">
            <a:avLst/>
          </a:prstGeom>
        </p:spPr>
      </p:pic>
      <p:sp>
        <p:nvSpPr>
          <p:cNvPr id="12" name="Text 7"/>
          <p:cNvSpPr/>
          <p:nvPr/>
        </p:nvSpPr>
        <p:spPr>
          <a:xfrm>
            <a:off x="7132320" y="4398264"/>
            <a:ext cx="4480560" cy="960120"/>
          </a:xfrm>
          <a:prstGeom prst="rect">
            <a:avLst/>
          </a:prstGeom>
          <a:noFill/>
          <a:ln/>
        </p:spPr>
        <p:txBody>
          <a:bodyPr wrap="square" lIns="0" tIns="0" rIns="0" bIns="0" rtlCol="0" anchor="ctr"/>
          <a:lstStyle/>
          <a:p>
            <a:pPr indent="0" marL="0">
              <a:buNone/>
            </a:pPr>
            <a:r>
              <a:rPr lang="en-US" sz="1500" b="1" dirty="0">
                <a:solidFill>
                  <a:srgbClr val="3C6034"/>
                </a:solidFill>
                <a:latin typeface="Calibri" pitchFamily="34" charset="0"/>
                <a:ea typeface="Calibri" pitchFamily="34" charset="-122"/>
                <a:cs typeface="Calibri" pitchFamily="34" charset="-120"/>
              </a:rPr>
              <a:t>This week's focus</a:t>
            </a:r>
            <a:endParaRPr lang="en-US" sz="1500" dirty="0"/>
          </a:p>
          <a:p>
            <a:pPr indent="0" marL="0">
              <a:buNone/>
            </a:pPr>
            <a:r>
              <a:rPr lang="en-US" sz="1200" dirty="0">
                <a:solidFill>
                  <a:srgbClr val="6E7568"/>
                </a:solidFill>
                <a:latin typeface="Calibri" pitchFamily="34" charset="0"/>
                <a:ea typeface="Calibri" pitchFamily="34" charset="-122"/>
                <a:cs typeface="Calibri" pitchFamily="34" charset="-120"/>
              </a:rPr>
              <a:t>1 new café placed a first order this week — a good moment for a quick check-in call to lock in reorder habits early.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Monthly Kg Goal — September 2026</a:t>
            </a:r>
            <a:endParaRPr lang="en-US" sz="3000" dirty="0"/>
          </a:p>
        </p:txBody>
      </p:sp>
      <p:sp>
        <p:nvSpPr>
          <p:cNvPr id="3" name="Text 1"/>
          <p:cNvSpPr/>
          <p:nvPr/>
        </p:nvSpPr>
        <p:spPr>
          <a:xfrm>
            <a:off x="548640" y="960120"/>
            <a:ext cx="9144000" cy="274320"/>
          </a:xfrm>
          <a:prstGeom prst="rect">
            <a:avLst/>
          </a:prstGeom>
          <a:noFill/>
          <a:ln/>
        </p:spPr>
        <p:txBody>
          <a:bodyPr wrap="square" lIns="0" tIns="0" rIns="0" bIns="0" rtlCol="0" anchor="ctr"/>
          <a:lstStyle/>
          <a:p>
            <a:pPr indent="0" marL="0">
              <a:buNone/>
            </a:pPr>
            <a:r>
              <a:rPr lang="en-US" sz="1300" b="1" dirty="0">
                <a:solidFill>
                  <a:srgbClr val="20291F"/>
                </a:solidFill>
                <a:latin typeface="Calibri" pitchFamily="34" charset="0"/>
                <a:ea typeface="Calibri" pitchFamily="34" charset="-122"/>
                <a:cs typeface="Calibri" pitchFamily="34" charset="-120"/>
              </a:rPr>
              <a:t>100.3 kg shipped</a:t>
            </a:r>
            <a:pPr indent="0" marL="0">
              <a:buNone/>
            </a:pPr>
            <a:r>
              <a:rPr lang="en-US" sz="1300" dirty="0">
                <a:solidFill>
                  <a:srgbClr val="6E7568"/>
                </a:solidFill>
                <a:latin typeface="Calibri" pitchFamily="34" charset="0"/>
                <a:ea typeface="Calibri" pitchFamily="34" charset="-122"/>
                <a:cs typeface="Calibri" pitchFamily="34" charset="-120"/>
              </a:rPr>
              <a:t>  ·  of 324 kg target</a:t>
            </a:r>
            <a:endParaRPr lang="en-US" sz="1300" dirty="0"/>
          </a:p>
        </p:txBody>
      </p:sp>
      <p:sp>
        <p:nvSpPr>
          <p:cNvPr id="4" name="Text 2"/>
          <p:cNvSpPr/>
          <p:nvPr/>
        </p:nvSpPr>
        <p:spPr>
          <a:xfrm>
            <a:off x="10241280" y="941832"/>
            <a:ext cx="1371600" cy="292608"/>
          </a:xfrm>
          <a:prstGeom prst="rect">
            <a:avLst/>
          </a:prstGeom>
          <a:noFill/>
          <a:ln/>
        </p:spPr>
        <p:txBody>
          <a:bodyPr wrap="square" lIns="0" tIns="0" rIns="0" bIns="0" rtlCol="0" anchor="ctr"/>
          <a:lstStyle/>
          <a:p>
            <a:pPr algn="r" indent="0" marL="0">
              <a:buNone/>
            </a:pPr>
            <a:r>
              <a:rPr lang="en-US" sz="1400" b="1" dirty="0">
                <a:solidFill>
                  <a:srgbClr val="20291F"/>
                </a:solidFill>
                <a:latin typeface="Calibri" pitchFamily="34" charset="0"/>
                <a:ea typeface="Calibri" pitchFamily="34" charset="-122"/>
                <a:cs typeface="Calibri" pitchFamily="34" charset="-120"/>
              </a:rPr>
              <a:t>31%</a:t>
            </a:r>
            <a:endParaRPr lang="en-US" sz="1400" dirty="0"/>
          </a:p>
        </p:txBody>
      </p:sp>
      <p:sp>
        <p:nvSpPr>
          <p:cNvPr id="5" name="Shape 3"/>
          <p:cNvSpPr/>
          <p:nvPr/>
        </p:nvSpPr>
        <p:spPr>
          <a:xfrm>
            <a:off x="548640" y="1325880"/>
            <a:ext cx="11064240" cy="365760"/>
          </a:xfrm>
          <a:prstGeom prst="roundRect">
            <a:avLst>
              <a:gd name="adj" fmla="val 15000"/>
            </a:avLst>
          </a:prstGeom>
          <a:solidFill>
            <a:srgbClr val="E7EDE3"/>
          </a:solidFill>
          <a:ln/>
        </p:spPr>
      </p:sp>
      <p:sp>
        <p:nvSpPr>
          <p:cNvPr id="6" name="Shape 4"/>
          <p:cNvSpPr/>
          <p:nvPr/>
        </p:nvSpPr>
        <p:spPr>
          <a:xfrm>
            <a:off x="548640" y="1325880"/>
            <a:ext cx="3171420" cy="365760"/>
          </a:xfrm>
          <a:prstGeom prst="roundRect">
            <a:avLst>
              <a:gd name="adj" fmla="val 15000"/>
            </a:avLst>
          </a:prstGeom>
          <a:solidFill>
            <a:srgbClr val="3C6034"/>
          </a:solidFill>
          <a:ln/>
        </p:spPr>
      </p:sp>
      <p:sp>
        <p:nvSpPr>
          <p:cNvPr id="7" name="Shape 5"/>
          <p:cNvSpPr/>
          <p:nvPr/>
        </p:nvSpPr>
        <p:spPr>
          <a:xfrm>
            <a:off x="10784163" y="1261872"/>
            <a:ext cx="18288" cy="493776"/>
          </a:xfrm>
          <a:prstGeom prst="rect">
            <a:avLst/>
          </a:prstGeom>
          <a:solidFill>
            <a:srgbClr val="6E7568"/>
          </a:solidFill>
          <a:ln/>
        </p:spPr>
      </p:sp>
      <p:sp>
        <p:nvSpPr>
          <p:cNvPr id="8" name="Text 6"/>
          <p:cNvSpPr/>
          <p:nvPr/>
        </p:nvSpPr>
        <p:spPr>
          <a:xfrm>
            <a:off x="10107507" y="1746504"/>
            <a:ext cx="1371600" cy="219456"/>
          </a:xfrm>
          <a:prstGeom prst="rect">
            <a:avLst/>
          </a:prstGeom>
          <a:noFill/>
          <a:ln/>
        </p:spPr>
        <p:txBody>
          <a:bodyPr wrap="square" lIns="0" tIns="0" rIns="0" bIns="0" rtlCol="0" anchor="ctr"/>
          <a:lstStyle/>
          <a:p>
            <a:pPr algn="ctr" indent="0" marL="0">
              <a:buNone/>
            </a:pPr>
            <a:r>
              <a:rPr lang="en-US" sz="850" dirty="0">
                <a:solidFill>
                  <a:srgbClr val="6E7568"/>
                </a:solidFill>
                <a:latin typeface="Calibri" pitchFamily="34" charset="0"/>
                <a:ea typeface="Calibri" pitchFamily="34" charset="-122"/>
                <a:cs typeface="Calibri" pitchFamily="34" charset="-120"/>
              </a:rPr>
              <a:t>Target 324 kg</a:t>
            </a:r>
            <a:endParaRPr lang="en-US" sz="850" dirty="0"/>
          </a:p>
        </p:txBody>
      </p:sp>
      <p:sp>
        <p:nvSpPr>
          <p:cNvPr id="9" name="Text 7"/>
          <p:cNvSpPr/>
          <p:nvPr/>
        </p:nvSpPr>
        <p:spPr>
          <a:xfrm>
            <a:off x="548640" y="2057400"/>
            <a:ext cx="11064240" cy="274320"/>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Aug target: 266 kg  →  +58 kg growth target = 324 kg</a:t>
            </a:r>
            <a:endParaRPr lang="en-US" sz="1150" dirty="0"/>
          </a:p>
        </p:txBody>
      </p:sp>
      <p:sp>
        <p:nvSpPr>
          <p:cNvPr id="10" name="Text 8"/>
          <p:cNvSpPr/>
          <p:nvPr/>
        </p:nvSpPr>
        <p:spPr>
          <a:xfrm>
            <a:off x="548640" y="2377440"/>
            <a:ext cx="11064240" cy="548640"/>
          </a:xfrm>
          <a:prstGeom prst="rect">
            <a:avLst/>
          </a:prstGeom>
          <a:noFill/>
          <a:ln/>
        </p:spPr>
        <p:txBody>
          <a:bodyPr wrap="square" lIns="0" tIns="0" rIns="0" bIns="0" rtlCol="0" anchor="ctr"/>
          <a:lstStyle/>
          <a:p>
            <a:pPr indent="0" marL="0">
              <a:buNone/>
            </a:pPr>
            <a:r>
              <a:rPr lang="en-US" sz="1250" dirty="0">
                <a:solidFill>
                  <a:srgbClr val="6E7568"/>
                </a:solidFill>
                <a:latin typeface="Calibri" pitchFamily="34" charset="0"/>
                <a:ea typeface="Calibri" pitchFamily="34" charset="-122"/>
                <a:cs typeface="Calibri" pitchFamily="34" charset="-120"/>
              </a:rPr>
              <a:t>26 days into September, 100.3kg shipped (31.0% of the 324kg floor) — at the current ~3.9kg/day pace that's roughly 116kg for the month, well short of target. Closing the full 223.7kg gap in the 4 days left isn't realistic; the fastest lever is repeat volume from this month's top accounts, with the remainder likely carrying into October's push.</a:t>
            </a:r>
            <a:endParaRPr lang="en-US" sz="1250" dirty="0"/>
          </a:p>
        </p:txBody>
      </p:sp>
      <p:sp>
        <p:nvSpPr>
          <p:cNvPr id="11" name="Text 9"/>
          <p:cNvSpPr/>
          <p:nvPr/>
        </p:nvSpPr>
        <p:spPr>
          <a:xfrm>
            <a:off x="548640" y="2926080"/>
            <a:ext cx="11064240" cy="274320"/>
          </a:xfrm>
          <a:prstGeom prst="rect">
            <a:avLst/>
          </a:prstGeom>
          <a:noFill/>
          <a:ln/>
        </p:spPr>
        <p:txBody>
          <a:bodyPr wrap="square" lIns="0" tIns="0" rIns="0" bIns="0" rtlCol="0" anchor="ctr"/>
          <a:lstStyle/>
          <a:p>
            <a:pPr indent="0" marL="0">
              <a:buNone/>
            </a:pPr>
            <a:r>
              <a:rPr lang="en-US" sz="1200" b="1" spc="100" kern="0" dirty="0">
                <a:solidFill>
                  <a:srgbClr val="3C6034"/>
                </a:solidFill>
                <a:latin typeface="Calibri" pitchFamily="34" charset="0"/>
                <a:ea typeface="Calibri" pitchFamily="34" charset="-122"/>
                <a:cs typeface="Calibri" pitchFamily="34" charset="-120"/>
              </a:rPr>
              <a:t>MONTHLY KG GROWTH TRAJECTORY</a:t>
            </a:r>
            <a:endParaRPr lang="en-US" sz="1200" dirty="0"/>
          </a:p>
        </p:txBody>
      </p:sp>
      <p:sp>
        <p:nvSpPr>
          <p:cNvPr id="12" name="Shape 10"/>
          <p:cNvSpPr/>
          <p:nvPr/>
        </p:nvSpPr>
        <p:spPr>
          <a:xfrm>
            <a:off x="548640" y="3291840"/>
            <a:ext cx="1007669" cy="960120"/>
          </a:xfrm>
          <a:prstGeom prst="roundRect">
            <a:avLst>
              <a:gd name="adj" fmla="val 5714"/>
            </a:avLst>
          </a:prstGeom>
          <a:solidFill>
            <a:srgbClr val="E7F0E3"/>
          </a:solidFill>
          <a:ln/>
        </p:spPr>
      </p:sp>
      <p:sp>
        <p:nvSpPr>
          <p:cNvPr id="13" name="Text 11"/>
          <p:cNvSpPr/>
          <p:nvPr/>
        </p:nvSpPr>
        <p:spPr>
          <a:xfrm>
            <a:off x="548640" y="3364992"/>
            <a:ext cx="1007669" cy="256032"/>
          </a:xfrm>
          <a:prstGeom prst="rect">
            <a:avLst/>
          </a:prstGeom>
          <a:noFill/>
          <a:ln/>
        </p:spPr>
        <p:txBody>
          <a:bodyPr wrap="square" lIns="0" tIns="0" rIns="0" bIns="0" rtlCol="0" anchor="ctr"/>
          <a:lstStyle/>
          <a:p>
            <a:pPr algn="ctr" indent="0" marL="0">
              <a:buNone/>
            </a:pPr>
            <a:r>
              <a:rPr lang="en-US" sz="1000" dirty="0">
                <a:solidFill>
                  <a:srgbClr val="3C7A3F"/>
                </a:solidFill>
                <a:latin typeface="Calibri" pitchFamily="34" charset="0"/>
                <a:ea typeface="Calibri" pitchFamily="34" charset="-122"/>
                <a:cs typeface="Calibri" pitchFamily="34" charset="-120"/>
              </a:rPr>
              <a:t>Jun</a:t>
            </a:r>
            <a:endParaRPr lang="en-US" sz="1000" dirty="0"/>
          </a:p>
        </p:txBody>
      </p:sp>
      <p:sp>
        <p:nvSpPr>
          <p:cNvPr id="14" name="Text 12"/>
          <p:cNvSpPr/>
          <p:nvPr/>
        </p:nvSpPr>
        <p:spPr>
          <a:xfrm>
            <a:off x="548640"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150.5 kg</a:t>
            </a:r>
            <a:endParaRPr lang="en-US" sz="1300" dirty="0"/>
          </a:p>
        </p:txBody>
      </p:sp>
      <p:sp>
        <p:nvSpPr>
          <p:cNvPr id="15" name="Text 13"/>
          <p:cNvSpPr/>
          <p:nvPr/>
        </p:nvSpPr>
        <p:spPr>
          <a:xfrm>
            <a:off x="548640" y="3913632"/>
            <a:ext cx="1007669" cy="274320"/>
          </a:xfrm>
          <a:prstGeom prst="rect">
            <a:avLst/>
          </a:prstGeom>
          <a:noFill/>
          <a:ln/>
        </p:spPr>
        <p:txBody>
          <a:bodyPr wrap="square" lIns="0" tIns="0" rIns="0" bIns="0" rtlCol="0" anchor="ctr"/>
          <a:lstStyle/>
          <a:p>
            <a:pPr algn="ctr" indent="0" marL="0">
              <a:buNone/>
            </a:pPr>
            <a:r>
              <a:rPr lang="en-US" sz="900" dirty="0">
                <a:solidFill>
                  <a:srgbClr val="3C7A3F"/>
                </a:solidFill>
                <a:latin typeface="Calibri" pitchFamily="34" charset="0"/>
                <a:ea typeface="Calibri" pitchFamily="34" charset="-122"/>
                <a:cs typeface="Calibri" pitchFamily="34" charset="-120"/>
              </a:rPr>
              <a:t>beat 150 kg tgt</a:t>
            </a:r>
            <a:endParaRPr lang="en-US" sz="900" dirty="0"/>
          </a:p>
        </p:txBody>
      </p:sp>
      <p:sp>
        <p:nvSpPr>
          <p:cNvPr id="16" name="Shape 14"/>
          <p:cNvSpPr/>
          <p:nvPr/>
        </p:nvSpPr>
        <p:spPr>
          <a:xfrm>
            <a:off x="1666037" y="3291840"/>
            <a:ext cx="1007669" cy="960120"/>
          </a:xfrm>
          <a:prstGeom prst="roundRect">
            <a:avLst>
              <a:gd name="adj" fmla="val 5714"/>
            </a:avLst>
          </a:prstGeom>
          <a:solidFill>
            <a:srgbClr val="F4F7F2"/>
          </a:solidFill>
          <a:ln/>
        </p:spPr>
      </p:sp>
      <p:sp>
        <p:nvSpPr>
          <p:cNvPr id="17" name="Text 15"/>
          <p:cNvSpPr/>
          <p:nvPr/>
        </p:nvSpPr>
        <p:spPr>
          <a:xfrm>
            <a:off x="1666037"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Jul</a:t>
            </a:r>
            <a:endParaRPr lang="en-US" sz="1000" dirty="0"/>
          </a:p>
        </p:txBody>
      </p:sp>
      <p:sp>
        <p:nvSpPr>
          <p:cNvPr id="18" name="Text 16"/>
          <p:cNvSpPr/>
          <p:nvPr/>
        </p:nvSpPr>
        <p:spPr>
          <a:xfrm>
            <a:off x="1666037"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134.8 kg</a:t>
            </a:r>
            <a:endParaRPr lang="en-US" sz="1300" dirty="0"/>
          </a:p>
        </p:txBody>
      </p:sp>
      <p:sp>
        <p:nvSpPr>
          <p:cNvPr id="19" name="Text 17"/>
          <p:cNvSpPr/>
          <p:nvPr/>
        </p:nvSpPr>
        <p:spPr>
          <a:xfrm>
            <a:off x="1666037"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 208 kg</a:t>
            </a:r>
            <a:endParaRPr lang="en-US" sz="900" dirty="0"/>
          </a:p>
        </p:txBody>
      </p:sp>
      <p:sp>
        <p:nvSpPr>
          <p:cNvPr id="20" name="Shape 18"/>
          <p:cNvSpPr/>
          <p:nvPr/>
        </p:nvSpPr>
        <p:spPr>
          <a:xfrm>
            <a:off x="2783434" y="3291840"/>
            <a:ext cx="1007669" cy="960120"/>
          </a:xfrm>
          <a:prstGeom prst="roundRect">
            <a:avLst>
              <a:gd name="adj" fmla="val 5714"/>
            </a:avLst>
          </a:prstGeom>
          <a:solidFill>
            <a:srgbClr val="F4F7F2"/>
          </a:solidFill>
          <a:ln/>
        </p:spPr>
      </p:sp>
      <p:sp>
        <p:nvSpPr>
          <p:cNvPr id="21" name="Text 19"/>
          <p:cNvSpPr/>
          <p:nvPr/>
        </p:nvSpPr>
        <p:spPr>
          <a:xfrm>
            <a:off x="2783434"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Aug</a:t>
            </a:r>
            <a:endParaRPr lang="en-US" sz="1000" dirty="0"/>
          </a:p>
        </p:txBody>
      </p:sp>
      <p:sp>
        <p:nvSpPr>
          <p:cNvPr id="22" name="Text 20"/>
          <p:cNvSpPr/>
          <p:nvPr/>
        </p:nvSpPr>
        <p:spPr>
          <a:xfrm>
            <a:off x="2783434"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204.1 kg</a:t>
            </a:r>
            <a:endParaRPr lang="en-US" sz="1300" dirty="0"/>
          </a:p>
        </p:txBody>
      </p:sp>
      <p:sp>
        <p:nvSpPr>
          <p:cNvPr id="23" name="Text 21"/>
          <p:cNvSpPr/>
          <p:nvPr/>
        </p:nvSpPr>
        <p:spPr>
          <a:xfrm>
            <a:off x="2783434"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 266 kg</a:t>
            </a:r>
            <a:endParaRPr lang="en-US" sz="900" dirty="0"/>
          </a:p>
        </p:txBody>
      </p:sp>
      <p:sp>
        <p:nvSpPr>
          <p:cNvPr id="24" name="Shape 22"/>
          <p:cNvSpPr/>
          <p:nvPr/>
        </p:nvSpPr>
        <p:spPr>
          <a:xfrm>
            <a:off x="3900830" y="3291840"/>
            <a:ext cx="1007669" cy="960120"/>
          </a:xfrm>
          <a:prstGeom prst="roundRect">
            <a:avLst>
              <a:gd name="adj" fmla="val 5714"/>
            </a:avLst>
          </a:prstGeom>
          <a:solidFill>
            <a:srgbClr val="3C6034"/>
          </a:solidFill>
          <a:ln/>
        </p:spPr>
      </p:sp>
      <p:sp>
        <p:nvSpPr>
          <p:cNvPr id="25" name="Text 23"/>
          <p:cNvSpPr/>
          <p:nvPr/>
        </p:nvSpPr>
        <p:spPr>
          <a:xfrm>
            <a:off x="3900830" y="3364992"/>
            <a:ext cx="1007669" cy="256032"/>
          </a:xfrm>
          <a:prstGeom prst="rect">
            <a:avLst/>
          </a:prstGeom>
          <a:noFill/>
          <a:ln/>
        </p:spPr>
        <p:txBody>
          <a:bodyPr wrap="square" lIns="0" tIns="0" rIns="0" bIns="0" rtlCol="0" anchor="ctr"/>
          <a:lstStyle/>
          <a:p>
            <a:pPr algn="ctr" indent="0" marL="0">
              <a:buNone/>
            </a:pPr>
            <a:r>
              <a:rPr lang="en-US" sz="1000" dirty="0">
                <a:solidFill>
                  <a:srgbClr val="D9E4D3"/>
                </a:solidFill>
                <a:latin typeface="Calibri" pitchFamily="34" charset="0"/>
                <a:ea typeface="Calibri" pitchFamily="34" charset="-122"/>
                <a:cs typeface="Calibri" pitchFamily="34" charset="-120"/>
              </a:rPr>
              <a:t>Sep ·so far</a:t>
            </a:r>
            <a:endParaRPr lang="en-US" sz="1000" dirty="0"/>
          </a:p>
        </p:txBody>
      </p:sp>
      <p:sp>
        <p:nvSpPr>
          <p:cNvPr id="26" name="Text 24"/>
          <p:cNvSpPr/>
          <p:nvPr/>
        </p:nvSpPr>
        <p:spPr>
          <a:xfrm>
            <a:off x="3900830" y="3602736"/>
            <a:ext cx="1007669"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100.3 kg</a:t>
            </a:r>
            <a:endParaRPr lang="en-US" sz="1300" dirty="0"/>
          </a:p>
        </p:txBody>
      </p:sp>
      <p:sp>
        <p:nvSpPr>
          <p:cNvPr id="27" name="Text 25"/>
          <p:cNvSpPr/>
          <p:nvPr/>
        </p:nvSpPr>
        <p:spPr>
          <a:xfrm>
            <a:off x="3900830" y="3913632"/>
            <a:ext cx="1007669" cy="274320"/>
          </a:xfrm>
          <a:prstGeom prst="rect">
            <a:avLst/>
          </a:prstGeom>
          <a:noFill/>
          <a:ln/>
        </p:spPr>
        <p:txBody>
          <a:bodyPr wrap="square" lIns="0" tIns="0" rIns="0" bIns="0" rtlCol="0" anchor="ctr"/>
          <a:lstStyle/>
          <a:p>
            <a:pPr algn="ctr" indent="0" marL="0">
              <a:buNone/>
            </a:pPr>
            <a:r>
              <a:rPr lang="en-US" sz="900" dirty="0">
                <a:solidFill>
                  <a:srgbClr val="D9E4D3"/>
                </a:solidFill>
                <a:latin typeface="Calibri" pitchFamily="34" charset="0"/>
                <a:ea typeface="Calibri" pitchFamily="34" charset="-122"/>
                <a:cs typeface="Calibri" pitchFamily="34" charset="-120"/>
              </a:rPr>
              <a:t>of 324 kg target</a:t>
            </a:r>
            <a:endParaRPr lang="en-US" sz="900" dirty="0"/>
          </a:p>
        </p:txBody>
      </p:sp>
      <p:sp>
        <p:nvSpPr>
          <p:cNvPr id="28" name="Shape 26"/>
          <p:cNvSpPr/>
          <p:nvPr/>
        </p:nvSpPr>
        <p:spPr>
          <a:xfrm>
            <a:off x="5018227" y="3291840"/>
            <a:ext cx="1007669" cy="960120"/>
          </a:xfrm>
          <a:prstGeom prst="roundRect">
            <a:avLst>
              <a:gd name="adj" fmla="val 5714"/>
            </a:avLst>
          </a:prstGeom>
          <a:solidFill>
            <a:srgbClr val="F4F7F2"/>
          </a:solidFill>
          <a:ln/>
        </p:spPr>
      </p:sp>
      <p:sp>
        <p:nvSpPr>
          <p:cNvPr id="29" name="Text 27"/>
          <p:cNvSpPr/>
          <p:nvPr/>
        </p:nvSpPr>
        <p:spPr>
          <a:xfrm>
            <a:off x="5018227"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Oct</a:t>
            </a:r>
            <a:endParaRPr lang="en-US" sz="1000" dirty="0"/>
          </a:p>
        </p:txBody>
      </p:sp>
      <p:sp>
        <p:nvSpPr>
          <p:cNvPr id="30" name="Text 28"/>
          <p:cNvSpPr/>
          <p:nvPr/>
        </p:nvSpPr>
        <p:spPr>
          <a:xfrm>
            <a:off x="5018227"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382 kg</a:t>
            </a:r>
            <a:endParaRPr lang="en-US" sz="1300" dirty="0"/>
          </a:p>
        </p:txBody>
      </p:sp>
      <p:sp>
        <p:nvSpPr>
          <p:cNvPr id="31" name="Text 29"/>
          <p:cNvSpPr/>
          <p:nvPr/>
        </p:nvSpPr>
        <p:spPr>
          <a:xfrm>
            <a:off x="5018227"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32" name="Shape 30"/>
          <p:cNvSpPr/>
          <p:nvPr/>
        </p:nvSpPr>
        <p:spPr>
          <a:xfrm>
            <a:off x="6135624" y="3291840"/>
            <a:ext cx="1007669" cy="960120"/>
          </a:xfrm>
          <a:prstGeom prst="roundRect">
            <a:avLst>
              <a:gd name="adj" fmla="val 5714"/>
            </a:avLst>
          </a:prstGeom>
          <a:solidFill>
            <a:srgbClr val="F4F7F2"/>
          </a:solidFill>
          <a:ln/>
        </p:spPr>
      </p:sp>
      <p:sp>
        <p:nvSpPr>
          <p:cNvPr id="33" name="Text 31"/>
          <p:cNvSpPr/>
          <p:nvPr/>
        </p:nvSpPr>
        <p:spPr>
          <a:xfrm>
            <a:off x="6135624"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Nov</a:t>
            </a:r>
            <a:endParaRPr lang="en-US" sz="1000" dirty="0"/>
          </a:p>
        </p:txBody>
      </p:sp>
      <p:sp>
        <p:nvSpPr>
          <p:cNvPr id="34" name="Text 32"/>
          <p:cNvSpPr/>
          <p:nvPr/>
        </p:nvSpPr>
        <p:spPr>
          <a:xfrm>
            <a:off x="6135624"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440 kg</a:t>
            </a:r>
            <a:endParaRPr lang="en-US" sz="1300" dirty="0"/>
          </a:p>
        </p:txBody>
      </p:sp>
      <p:sp>
        <p:nvSpPr>
          <p:cNvPr id="35" name="Text 33"/>
          <p:cNvSpPr/>
          <p:nvPr/>
        </p:nvSpPr>
        <p:spPr>
          <a:xfrm>
            <a:off x="6135624"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36" name="Shape 34"/>
          <p:cNvSpPr/>
          <p:nvPr/>
        </p:nvSpPr>
        <p:spPr>
          <a:xfrm>
            <a:off x="7253021" y="3291840"/>
            <a:ext cx="1007669" cy="960120"/>
          </a:xfrm>
          <a:prstGeom prst="roundRect">
            <a:avLst>
              <a:gd name="adj" fmla="val 5714"/>
            </a:avLst>
          </a:prstGeom>
          <a:solidFill>
            <a:srgbClr val="F4F7F2"/>
          </a:solidFill>
          <a:ln/>
        </p:spPr>
      </p:sp>
      <p:sp>
        <p:nvSpPr>
          <p:cNvPr id="37" name="Text 35"/>
          <p:cNvSpPr/>
          <p:nvPr/>
        </p:nvSpPr>
        <p:spPr>
          <a:xfrm>
            <a:off x="7253021"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Dec</a:t>
            </a:r>
            <a:endParaRPr lang="en-US" sz="1000" dirty="0"/>
          </a:p>
        </p:txBody>
      </p:sp>
      <p:sp>
        <p:nvSpPr>
          <p:cNvPr id="38" name="Text 36"/>
          <p:cNvSpPr/>
          <p:nvPr/>
        </p:nvSpPr>
        <p:spPr>
          <a:xfrm>
            <a:off x="7253021"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498 kg</a:t>
            </a:r>
            <a:endParaRPr lang="en-US" sz="1300" dirty="0"/>
          </a:p>
        </p:txBody>
      </p:sp>
      <p:sp>
        <p:nvSpPr>
          <p:cNvPr id="39" name="Text 37"/>
          <p:cNvSpPr/>
          <p:nvPr/>
        </p:nvSpPr>
        <p:spPr>
          <a:xfrm>
            <a:off x="7253021"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40" name="Shape 38"/>
          <p:cNvSpPr/>
          <p:nvPr/>
        </p:nvSpPr>
        <p:spPr>
          <a:xfrm>
            <a:off x="8370418" y="3291840"/>
            <a:ext cx="1007669" cy="960120"/>
          </a:xfrm>
          <a:prstGeom prst="roundRect">
            <a:avLst>
              <a:gd name="adj" fmla="val 5714"/>
            </a:avLst>
          </a:prstGeom>
          <a:solidFill>
            <a:srgbClr val="F4F7F2"/>
          </a:solidFill>
          <a:ln/>
        </p:spPr>
      </p:sp>
      <p:sp>
        <p:nvSpPr>
          <p:cNvPr id="41" name="Text 39"/>
          <p:cNvSpPr/>
          <p:nvPr/>
        </p:nvSpPr>
        <p:spPr>
          <a:xfrm>
            <a:off x="8370418"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Jan</a:t>
            </a:r>
            <a:endParaRPr lang="en-US" sz="1000" dirty="0"/>
          </a:p>
        </p:txBody>
      </p:sp>
      <p:sp>
        <p:nvSpPr>
          <p:cNvPr id="42" name="Text 40"/>
          <p:cNvSpPr/>
          <p:nvPr/>
        </p:nvSpPr>
        <p:spPr>
          <a:xfrm>
            <a:off x="8370418"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556 kg</a:t>
            </a:r>
            <a:endParaRPr lang="en-US" sz="1300" dirty="0"/>
          </a:p>
        </p:txBody>
      </p:sp>
      <p:sp>
        <p:nvSpPr>
          <p:cNvPr id="43" name="Text 41"/>
          <p:cNvSpPr/>
          <p:nvPr/>
        </p:nvSpPr>
        <p:spPr>
          <a:xfrm>
            <a:off x="8370418"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44" name="Shape 42"/>
          <p:cNvSpPr/>
          <p:nvPr/>
        </p:nvSpPr>
        <p:spPr>
          <a:xfrm>
            <a:off x="9487814" y="3291840"/>
            <a:ext cx="1007669" cy="960120"/>
          </a:xfrm>
          <a:prstGeom prst="roundRect">
            <a:avLst>
              <a:gd name="adj" fmla="val 5714"/>
            </a:avLst>
          </a:prstGeom>
          <a:solidFill>
            <a:srgbClr val="F4F7F2"/>
          </a:solidFill>
          <a:ln/>
        </p:spPr>
      </p:sp>
      <p:sp>
        <p:nvSpPr>
          <p:cNvPr id="45" name="Text 43"/>
          <p:cNvSpPr/>
          <p:nvPr/>
        </p:nvSpPr>
        <p:spPr>
          <a:xfrm>
            <a:off x="9487814"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Feb</a:t>
            </a:r>
            <a:endParaRPr lang="en-US" sz="1000" dirty="0"/>
          </a:p>
        </p:txBody>
      </p:sp>
      <p:sp>
        <p:nvSpPr>
          <p:cNvPr id="46" name="Text 44"/>
          <p:cNvSpPr/>
          <p:nvPr/>
        </p:nvSpPr>
        <p:spPr>
          <a:xfrm>
            <a:off x="9487814"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614 kg</a:t>
            </a:r>
            <a:endParaRPr lang="en-US" sz="1300" dirty="0"/>
          </a:p>
        </p:txBody>
      </p:sp>
      <p:sp>
        <p:nvSpPr>
          <p:cNvPr id="47" name="Text 45"/>
          <p:cNvSpPr/>
          <p:nvPr/>
        </p:nvSpPr>
        <p:spPr>
          <a:xfrm>
            <a:off x="9487814"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48" name="Shape 46"/>
          <p:cNvSpPr/>
          <p:nvPr/>
        </p:nvSpPr>
        <p:spPr>
          <a:xfrm>
            <a:off x="10605211" y="3291840"/>
            <a:ext cx="1007669" cy="960120"/>
          </a:xfrm>
          <a:prstGeom prst="roundRect">
            <a:avLst>
              <a:gd name="adj" fmla="val 5714"/>
            </a:avLst>
          </a:prstGeom>
          <a:solidFill>
            <a:srgbClr val="F4F7F2"/>
          </a:solidFill>
          <a:ln/>
        </p:spPr>
      </p:sp>
      <p:sp>
        <p:nvSpPr>
          <p:cNvPr id="49" name="Text 47"/>
          <p:cNvSpPr/>
          <p:nvPr/>
        </p:nvSpPr>
        <p:spPr>
          <a:xfrm>
            <a:off x="10605211" y="3364992"/>
            <a:ext cx="1007669" cy="256032"/>
          </a:xfrm>
          <a:prstGeom prst="rect">
            <a:avLst/>
          </a:prstGeom>
          <a:noFill/>
          <a:ln/>
        </p:spPr>
        <p:txBody>
          <a:bodyPr wrap="square" lIns="0" tIns="0" rIns="0" bIns="0" rtlCol="0" anchor="ctr"/>
          <a:lstStyle/>
          <a:p>
            <a:pPr algn="ctr" indent="0" marL="0">
              <a:buNone/>
            </a:pPr>
            <a:r>
              <a:rPr lang="en-US" sz="1000" dirty="0">
                <a:solidFill>
                  <a:srgbClr val="6E7568"/>
                </a:solidFill>
                <a:latin typeface="Calibri" pitchFamily="34" charset="0"/>
                <a:ea typeface="Calibri" pitchFamily="34" charset="-122"/>
                <a:cs typeface="Calibri" pitchFamily="34" charset="-120"/>
              </a:rPr>
              <a:t>Mar</a:t>
            </a:r>
            <a:endParaRPr lang="en-US" sz="1000" dirty="0"/>
          </a:p>
        </p:txBody>
      </p:sp>
      <p:sp>
        <p:nvSpPr>
          <p:cNvPr id="50" name="Text 48"/>
          <p:cNvSpPr/>
          <p:nvPr/>
        </p:nvSpPr>
        <p:spPr>
          <a:xfrm>
            <a:off x="10605211" y="3602736"/>
            <a:ext cx="1007669" cy="301752"/>
          </a:xfrm>
          <a:prstGeom prst="rect">
            <a:avLst/>
          </a:prstGeom>
          <a:noFill/>
          <a:ln/>
        </p:spPr>
        <p:txBody>
          <a:bodyPr wrap="square" lIns="0" tIns="0" rIns="0" bIns="0" rtlCol="0" anchor="ctr"/>
          <a:lstStyle/>
          <a:p>
            <a:pPr algn="ctr" indent="0" marL="0">
              <a:buNone/>
            </a:pPr>
            <a:r>
              <a:rPr lang="en-US" sz="1300" b="1" dirty="0">
                <a:solidFill>
                  <a:srgbClr val="20291F"/>
                </a:solidFill>
                <a:latin typeface="Calibri" pitchFamily="34" charset="0"/>
                <a:ea typeface="Calibri" pitchFamily="34" charset="-122"/>
                <a:cs typeface="Calibri" pitchFamily="34" charset="-120"/>
              </a:rPr>
              <a:t>672 kg</a:t>
            </a:r>
            <a:endParaRPr lang="en-US" sz="1300" dirty="0"/>
          </a:p>
        </p:txBody>
      </p:sp>
      <p:sp>
        <p:nvSpPr>
          <p:cNvPr id="51" name="Text 49"/>
          <p:cNvSpPr/>
          <p:nvPr/>
        </p:nvSpPr>
        <p:spPr>
          <a:xfrm>
            <a:off x="10605211" y="3913632"/>
            <a:ext cx="1007669" cy="274320"/>
          </a:xfrm>
          <a:prstGeom prst="rect">
            <a:avLst/>
          </a:prstGeom>
          <a:noFill/>
          <a:ln/>
        </p:spPr>
        <p:txBody>
          <a:bodyPr wrap="square" lIns="0" tIns="0" rIns="0" bIns="0" rtlCol="0" anchor="ctr"/>
          <a:lstStyle/>
          <a:p>
            <a:pPr algn="ctr" indent="0" marL="0">
              <a:buNone/>
            </a:pPr>
            <a:r>
              <a:rPr lang="en-US" sz="900" dirty="0">
                <a:solidFill>
                  <a:srgbClr val="6E7568"/>
                </a:solidFill>
                <a:latin typeface="Calibri" pitchFamily="34" charset="0"/>
                <a:ea typeface="Calibri" pitchFamily="34" charset="-122"/>
                <a:cs typeface="Calibri" pitchFamily="34" charset="-120"/>
              </a:rPr>
              <a:t>target</a:t>
            </a:r>
            <a:endParaRPr lang="en-US" sz="900" dirty="0"/>
          </a:p>
        </p:txBody>
      </p:sp>
      <p:sp>
        <p:nvSpPr>
          <p:cNvPr id="52" name="Shape 50"/>
          <p:cNvSpPr/>
          <p:nvPr/>
        </p:nvSpPr>
        <p:spPr>
          <a:xfrm>
            <a:off x="548640" y="4526280"/>
            <a:ext cx="11064240" cy="777240"/>
          </a:xfrm>
          <a:prstGeom prst="roundRect">
            <a:avLst>
              <a:gd name="adj" fmla="val 7059"/>
            </a:avLst>
          </a:prstGeom>
          <a:solidFill>
            <a:srgbClr val="F4F7F2"/>
          </a:solidFill>
          <a:ln/>
        </p:spPr>
      </p:sp>
      <p:sp>
        <p:nvSpPr>
          <p:cNvPr id="53" name="Shape 51"/>
          <p:cNvSpPr/>
          <p:nvPr/>
        </p:nvSpPr>
        <p:spPr>
          <a:xfrm>
            <a:off x="777240" y="4690872"/>
            <a:ext cx="457200" cy="457200"/>
          </a:xfrm>
          <a:prstGeom prst="ellipse">
            <a:avLst/>
          </a:prstGeom>
          <a:solidFill>
            <a:srgbClr val="3C6034"/>
          </a:solidFill>
          <a:ln/>
        </p:spPr>
      </p:sp>
      <p:pic>
        <p:nvPicPr>
          <p:cNvPr id="54" name="Image 0" descr="preencoded.png">    </p:cNvPr>
          <p:cNvPicPr>
            <a:picLocks noChangeAspect="1"/>
          </p:cNvPicPr>
          <p:nvPr/>
        </p:nvPicPr>
        <p:blipFill>
          <a:blip r:embed="rId1"/>
          <a:stretch>
            <a:fillRect/>
          </a:stretch>
        </p:blipFill>
        <p:spPr>
          <a:xfrm>
            <a:off x="886968" y="4800600"/>
            <a:ext cx="237744" cy="237744"/>
          </a:xfrm>
          <a:prstGeom prst="rect">
            <a:avLst/>
          </a:prstGeom>
        </p:spPr>
      </p:pic>
      <p:sp>
        <p:nvSpPr>
          <p:cNvPr id="55" name="Text 52"/>
          <p:cNvSpPr/>
          <p:nvPr/>
        </p:nvSpPr>
        <p:spPr>
          <a:xfrm>
            <a:off x="1417320" y="4645152"/>
            <a:ext cx="9875520" cy="548640"/>
          </a:xfrm>
          <a:prstGeom prst="rect">
            <a:avLst/>
          </a:prstGeom>
          <a:noFill/>
          <a:ln/>
        </p:spPr>
        <p:txBody>
          <a:bodyPr wrap="square" lIns="0" tIns="0" rIns="0" bIns="0" rtlCol="0" anchor="ctr"/>
          <a:lstStyle/>
          <a:p>
            <a:pPr indent="0" marL="0">
              <a:buNone/>
            </a:pPr>
            <a:r>
              <a:rPr lang="en-US" sz="1300" b="1" dirty="0">
                <a:solidFill>
                  <a:srgbClr val="3C6034"/>
                </a:solidFill>
                <a:latin typeface="Calibri" pitchFamily="34" charset="0"/>
                <a:ea typeface="Calibri" pitchFamily="34" charset="-122"/>
                <a:cs typeface="Calibri" pitchFamily="34" charset="-120"/>
              </a:rPr>
              <a:t>Vision for the year</a:t>
            </a:r>
            <a:endParaRPr lang="en-US" sz="1300" dirty="0"/>
          </a:p>
          <a:p>
            <a:pPr indent="0" marL="0">
              <a:buNone/>
            </a:pPr>
            <a:r>
              <a:rPr lang="en-US" sz="1200" dirty="0">
                <a:solidFill>
                  <a:srgbClr val="20291F"/>
                </a:solidFill>
                <a:latin typeface="Calibri" pitchFamily="34" charset="0"/>
                <a:ea typeface="Calibri" pitchFamily="34" charset="-122"/>
                <a:cs typeface="Calibri" pitchFamily="34" charset="-120"/>
              </a:rPr>
              <a:t>At the +58kg/month pace, monthly shipments reach 672.0 kg by March 2027 — about 6 months from now, roughly 4.5x June 2026's 150.5 kg anchor.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No Order in 21+ Days</a:t>
            </a:r>
            <a:endParaRPr lang="en-US" sz="3000" dirty="0"/>
          </a:p>
        </p:txBody>
      </p:sp>
      <p:sp>
        <p:nvSpPr>
          <p:cNvPr id="3" name="Text 1"/>
          <p:cNvSpPr/>
          <p:nvPr/>
        </p:nvSpPr>
        <p:spPr>
          <a:xfrm>
            <a:off x="548640" y="960120"/>
            <a:ext cx="10058400" cy="365760"/>
          </a:xfrm>
          <a:prstGeom prst="rect">
            <a:avLst/>
          </a:prstGeom>
          <a:noFill/>
          <a:ln/>
        </p:spPr>
        <p:txBody>
          <a:bodyPr wrap="square" lIns="0" tIns="0" rIns="0" bIns="0" rtlCol="0" anchor="ctr"/>
          <a:lstStyle/>
          <a:p>
            <a:pPr indent="0" marL="0">
              <a:buNone/>
            </a:pPr>
            <a:r>
              <a:rPr lang="en-US" sz="1300" i="1" dirty="0">
                <a:solidFill>
                  <a:srgbClr val="6E7568"/>
                </a:solidFill>
                <a:latin typeface="Calibri" pitchFamily="34" charset="0"/>
                <a:ea typeface="Calibri" pitchFamily="34" charset="-122"/>
                <a:cs typeface="Calibri" pitchFamily="34" charset="-120"/>
              </a:rPr>
              <a:t>Follow-up candidates — not a churn verdict, just a nudge to reach out.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6675120"/>
                <a:gridCol w="2651760"/>
                <a:gridCol w="1737360"/>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Café</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Last order</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Days since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Osoto Coffee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2026-06-11</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107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Village Bakery</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2026-06-16</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102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With Milk Cafe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2026-06-22</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96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BRUNCH CAFE</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2026-06-26</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92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GLAZED DONUTS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2026-06-30</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88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Matcha Coffe Matcha</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2026-06-30</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88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Dune Bakery, Edinburgh</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2026-07-07</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81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350" dirty="0">
                          <a:solidFill>
                            <a:srgbClr val="20291F"/>
                          </a:solidFill>
                          <a:latin typeface="Calibri" pitchFamily="34" charset="0"/>
                          <a:ea typeface="Calibri" pitchFamily="34" charset="-122"/>
                          <a:cs typeface="Calibri" pitchFamily="34" charset="-120"/>
                        </a:rPr>
                        <a:t>Blossoms, Northampton</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50" dirty="0">
                          <a:solidFill>
                            <a:srgbClr val="6E7568"/>
                          </a:solidFill>
                          <a:latin typeface="Calibri" pitchFamily="34" charset="0"/>
                          <a:ea typeface="Calibri" pitchFamily="34" charset="-122"/>
                          <a:cs typeface="Calibri" pitchFamily="34" charset="-120"/>
                        </a:rPr>
                        <a:t>2026-07-09</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r" indent="0" marL="0">
                        <a:buNone/>
                      </a:pPr>
                      <a:r>
                        <a:rPr lang="en-US" sz="1350" b="1" dirty="0">
                          <a:solidFill>
                            <a:srgbClr val="A6472B"/>
                          </a:solidFill>
                          <a:latin typeface="Calibri" pitchFamily="34" charset="0"/>
                          <a:ea typeface="Calibri" pitchFamily="34" charset="-122"/>
                          <a:cs typeface="Calibri" pitchFamily="34" charset="-120"/>
                        </a:rPr>
                        <a:t>79 days</a:t>
                      </a:r>
                      <a:endParaRPr lang="en-US" sz="13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
        <p:nvSpPr>
          <p:cNvPr id="5" name="Shape 2"/>
          <p:cNvSpPr/>
          <p:nvPr/>
        </p:nvSpPr>
        <p:spPr>
          <a:xfrm>
            <a:off x="548640" y="5422392"/>
            <a:ext cx="11064240" cy="777240"/>
          </a:xfrm>
          <a:prstGeom prst="roundRect">
            <a:avLst>
              <a:gd name="adj" fmla="val 7059"/>
            </a:avLst>
          </a:prstGeom>
          <a:solidFill>
            <a:srgbClr val="F4F7F2"/>
          </a:solidFill>
          <a:ln/>
        </p:spPr>
      </p:sp>
      <p:sp>
        <p:nvSpPr>
          <p:cNvPr id="6" name="Shape 3"/>
          <p:cNvSpPr/>
          <p:nvPr/>
        </p:nvSpPr>
        <p:spPr>
          <a:xfrm>
            <a:off x="777240" y="5586984"/>
            <a:ext cx="457200" cy="457200"/>
          </a:xfrm>
          <a:prstGeom prst="ellipse">
            <a:avLst/>
          </a:prstGeom>
          <a:solidFill>
            <a:srgbClr val="3C6034"/>
          </a:solidFill>
          <a:ln/>
        </p:spPr>
      </p:sp>
      <p:pic>
        <p:nvPicPr>
          <p:cNvPr id="7" name="Image 0" descr="preencoded.png">    </p:cNvPr>
          <p:cNvPicPr>
            <a:picLocks noChangeAspect="1"/>
          </p:cNvPicPr>
          <p:nvPr/>
        </p:nvPicPr>
        <p:blipFill>
          <a:blip r:embed="rId1"/>
          <a:stretch>
            <a:fillRect/>
          </a:stretch>
        </p:blipFill>
        <p:spPr>
          <a:xfrm>
            <a:off x="886968" y="5696712"/>
            <a:ext cx="237744" cy="237744"/>
          </a:xfrm>
          <a:prstGeom prst="rect">
            <a:avLst/>
          </a:prstGeom>
        </p:spPr>
      </p:pic>
      <p:sp>
        <p:nvSpPr>
          <p:cNvPr id="8" name="Text 4"/>
          <p:cNvSpPr/>
          <p:nvPr/>
        </p:nvSpPr>
        <p:spPr>
          <a:xfrm>
            <a:off x="1417320" y="5541264"/>
            <a:ext cx="9966960" cy="548640"/>
          </a:xfrm>
          <a:prstGeom prst="rect">
            <a:avLst/>
          </a:prstGeom>
          <a:noFill/>
          <a:ln/>
        </p:spPr>
        <p:txBody>
          <a:bodyPr wrap="square" lIns="0" tIns="0" rIns="0" bIns="0" rtlCol="0" anchor="ctr"/>
          <a:lstStyle/>
          <a:p>
            <a:pPr indent="0" marL="0">
              <a:buNone/>
            </a:pPr>
            <a:r>
              <a:rPr lang="en-US" sz="1300" b="1" dirty="0">
                <a:solidFill>
                  <a:srgbClr val="20291F"/>
                </a:solidFill>
                <a:latin typeface="Calibri" pitchFamily="34" charset="0"/>
                <a:ea typeface="Calibri" pitchFamily="34" charset="-122"/>
                <a:cs typeface="Calibri" pitchFamily="34" charset="-120"/>
              </a:rPr>
              <a:t>27 of 35 active partners this month</a:t>
            </a:r>
            <a:endParaRPr lang="en-US" sz="1300" dirty="0"/>
          </a:p>
          <a:p>
            <a:pPr indent="0" marL="0">
              <a:buNone/>
            </a:pPr>
            <a:r>
              <a:rPr lang="en-US" sz="1200" dirty="0">
                <a:solidFill>
                  <a:srgbClr val="6E7568"/>
                </a:solidFill>
                <a:latin typeface="Calibri" pitchFamily="34" charset="0"/>
                <a:ea typeface="Calibri" pitchFamily="34" charset="-122"/>
                <a:cs typeface="Calibri" pitchFamily="34" charset="-120"/>
              </a:rPr>
              <a:t>77% have ordered within the last 21 days — this list is the exception, not the norm.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Insights &amp; How to Improve</a:t>
            </a:r>
            <a:endParaRPr lang="en-US" sz="3000" dirty="0"/>
          </a:p>
        </p:txBody>
      </p:sp>
      <p:sp>
        <p:nvSpPr>
          <p:cNvPr id="3" name="Text 1"/>
          <p:cNvSpPr/>
          <p:nvPr/>
        </p:nvSpPr>
        <p:spPr>
          <a:xfrm>
            <a:off x="548640" y="960120"/>
            <a:ext cx="10972800" cy="365760"/>
          </a:xfrm>
          <a:prstGeom prst="rect">
            <a:avLst/>
          </a:prstGeom>
          <a:noFill/>
          <a:ln/>
        </p:spPr>
        <p:txBody>
          <a:bodyPr wrap="square" lIns="0" tIns="0" rIns="0" bIns="0" rtlCol="0" anchor="ctr"/>
          <a:lstStyle/>
          <a:p>
            <a:pPr indent="0" marL="0">
              <a:buNone/>
            </a:pPr>
            <a:r>
              <a:rPr lang="en-US" sz="1250" i="1" dirty="0">
                <a:solidFill>
                  <a:srgbClr val="6E7568"/>
                </a:solidFill>
                <a:latin typeface="Calibri" pitchFamily="34" charset="0"/>
                <a:ea typeface="Calibri" pitchFamily="34" charset="-122"/>
                <a:cs typeface="Calibri" pitchFamily="34" charset="-120"/>
              </a:rPr>
              <a:t>Grounded in this week's and this month's actual CRM numbers — what's working and what needs attention. Note: the Dashboard tile shows 98.5kg for September vs the 100.3kg used throughout this report, which is cross-verified against both the Monthly Report tab and a direct Raw Orders sum (the Dashboard's last sync was 07:23 on 25/09, a few hours stale).</a:t>
            </a:r>
            <a:endParaRPr lang="en-US" sz="1250" dirty="0"/>
          </a:p>
        </p:txBody>
      </p:sp>
      <p:sp>
        <p:nvSpPr>
          <p:cNvPr id="4" name="Shape 2"/>
          <p:cNvSpPr/>
          <p:nvPr/>
        </p:nvSpPr>
        <p:spPr>
          <a:xfrm>
            <a:off x="548640" y="1417320"/>
            <a:ext cx="11064240" cy="841248"/>
          </a:xfrm>
          <a:prstGeom prst="roundRect">
            <a:avLst>
              <a:gd name="adj" fmla="val 6522"/>
            </a:avLst>
          </a:prstGeom>
          <a:solidFill>
            <a:srgbClr val="F4F7F2"/>
          </a:solidFill>
          <a:ln/>
        </p:spPr>
      </p:sp>
      <p:sp>
        <p:nvSpPr>
          <p:cNvPr id="5" name="Shape 3"/>
          <p:cNvSpPr/>
          <p:nvPr/>
        </p:nvSpPr>
        <p:spPr>
          <a:xfrm>
            <a:off x="777240" y="1600200"/>
            <a:ext cx="420624" cy="420624"/>
          </a:xfrm>
          <a:prstGeom prst="ellipse">
            <a:avLst/>
          </a:prstGeom>
          <a:solidFill>
            <a:srgbClr val="A6472B"/>
          </a:solidFill>
          <a:ln/>
        </p:spPr>
      </p:sp>
      <p:pic>
        <p:nvPicPr>
          <p:cNvPr id="6" name="Image 0" descr="preencoded.png">    </p:cNvPr>
          <p:cNvPicPr>
            <a:picLocks noChangeAspect="1"/>
          </p:cNvPicPr>
          <p:nvPr/>
        </p:nvPicPr>
        <p:blipFill>
          <a:blip r:embed="rId1"/>
          <a:stretch>
            <a:fillRect/>
          </a:stretch>
        </p:blipFill>
        <p:spPr>
          <a:xfrm>
            <a:off x="886968" y="1709928"/>
            <a:ext cx="201168" cy="201168"/>
          </a:xfrm>
          <a:prstGeom prst="rect">
            <a:avLst/>
          </a:prstGeom>
        </p:spPr>
      </p:pic>
      <p:sp>
        <p:nvSpPr>
          <p:cNvPr id="7" name="Text 4"/>
          <p:cNvSpPr/>
          <p:nvPr/>
        </p:nvSpPr>
        <p:spPr>
          <a:xfrm>
            <a:off x="1417320" y="1527048"/>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This week's volume fell sharply from last week</a:t>
            </a:r>
            <a:endParaRPr lang="en-US" sz="1450" dirty="0"/>
          </a:p>
        </p:txBody>
      </p:sp>
      <p:sp>
        <p:nvSpPr>
          <p:cNvPr id="8" name="Text 5"/>
          <p:cNvSpPr/>
          <p:nvPr/>
        </p:nvSpPr>
        <p:spPr>
          <a:xfrm>
            <a:off x="1417320" y="1856232"/>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Revenue dropped to £2,202 from £5,180 (-57.5%), orders fell to 7 from 19 (-63.2%), and active cafés fell to 7 from 18 (-61.1%) week-over-week. Worth a quick check on whether this is normal week-to-week variance — last week (Sep 7-13) was one of September's stronger weeks — or a gap in outreach/fulfilment.</a:t>
            </a:r>
            <a:endParaRPr lang="en-US" sz="1150" dirty="0"/>
          </a:p>
        </p:txBody>
      </p:sp>
      <p:sp>
        <p:nvSpPr>
          <p:cNvPr id="9" name="Shape 6"/>
          <p:cNvSpPr/>
          <p:nvPr/>
        </p:nvSpPr>
        <p:spPr>
          <a:xfrm>
            <a:off x="548640" y="2441448"/>
            <a:ext cx="11064240" cy="841248"/>
          </a:xfrm>
          <a:prstGeom prst="roundRect">
            <a:avLst>
              <a:gd name="adj" fmla="val 6522"/>
            </a:avLst>
          </a:prstGeom>
          <a:solidFill>
            <a:srgbClr val="F4F7F2"/>
          </a:solidFill>
          <a:ln/>
        </p:spPr>
      </p:sp>
      <p:sp>
        <p:nvSpPr>
          <p:cNvPr id="10" name="Shape 7"/>
          <p:cNvSpPr/>
          <p:nvPr/>
        </p:nvSpPr>
        <p:spPr>
          <a:xfrm>
            <a:off x="777240" y="2624328"/>
            <a:ext cx="420624" cy="420624"/>
          </a:xfrm>
          <a:prstGeom prst="ellipse">
            <a:avLst/>
          </a:prstGeom>
          <a:solidFill>
            <a:srgbClr val="6E7568"/>
          </a:solidFill>
          <a:ln/>
        </p:spPr>
      </p:sp>
      <p:pic>
        <p:nvPicPr>
          <p:cNvPr id="11" name="Image 1" descr="preencoded.png">    </p:cNvPr>
          <p:cNvPicPr>
            <a:picLocks noChangeAspect="1"/>
          </p:cNvPicPr>
          <p:nvPr/>
        </p:nvPicPr>
        <p:blipFill>
          <a:blip r:embed="rId2"/>
          <a:stretch>
            <a:fillRect/>
          </a:stretch>
        </p:blipFill>
        <p:spPr>
          <a:xfrm>
            <a:off x="886968" y="2734056"/>
            <a:ext cx="201168" cy="201168"/>
          </a:xfrm>
          <a:prstGeom prst="rect">
            <a:avLst/>
          </a:prstGeom>
        </p:spPr>
      </p:pic>
      <p:sp>
        <p:nvSpPr>
          <p:cNvPr id="12" name="Text 8"/>
          <p:cNvSpPr/>
          <p:nvPr/>
        </p:nvSpPr>
        <p:spPr>
          <a:xfrm>
            <a:off x="1417320" y="2551176"/>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Outstanding is a normal share this week — nothing overdue</a:t>
            </a:r>
            <a:endParaRPr lang="en-US" sz="1450" dirty="0"/>
          </a:p>
        </p:txBody>
      </p:sp>
      <p:sp>
        <p:nvSpPr>
          <p:cNvPr id="13" name="Text 9"/>
          <p:cNvSpPr/>
          <p:nvPr/>
        </p:nvSpPr>
        <p:spPr>
          <a:xfrm>
            <a:off x="1417320" y="2880360"/>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£537 of this week's £2,202 invoiced (24.4%) is still outstanding, a typical share and not a red flag — none of it is confirmed 30+ days overdue. Month-to-date outstanding sits at £3,200.50 of £14,328.50 invoiced (22.3%), in line with prior months.</a:t>
            </a:r>
            <a:endParaRPr lang="en-US" sz="1150" dirty="0"/>
          </a:p>
        </p:txBody>
      </p:sp>
      <p:sp>
        <p:nvSpPr>
          <p:cNvPr id="14" name="Shape 10"/>
          <p:cNvSpPr/>
          <p:nvPr/>
        </p:nvSpPr>
        <p:spPr>
          <a:xfrm>
            <a:off x="548640" y="3465576"/>
            <a:ext cx="11064240" cy="841248"/>
          </a:xfrm>
          <a:prstGeom prst="roundRect">
            <a:avLst>
              <a:gd name="adj" fmla="val 6522"/>
            </a:avLst>
          </a:prstGeom>
          <a:solidFill>
            <a:srgbClr val="F4F7F2"/>
          </a:solidFill>
          <a:ln/>
        </p:spPr>
      </p:sp>
      <p:sp>
        <p:nvSpPr>
          <p:cNvPr id="15" name="Shape 11"/>
          <p:cNvSpPr/>
          <p:nvPr/>
        </p:nvSpPr>
        <p:spPr>
          <a:xfrm>
            <a:off x="777240" y="3648456"/>
            <a:ext cx="420624" cy="420624"/>
          </a:xfrm>
          <a:prstGeom prst="ellipse">
            <a:avLst/>
          </a:prstGeom>
          <a:solidFill>
            <a:srgbClr val="C99A3A"/>
          </a:solidFill>
          <a:ln/>
        </p:spPr>
      </p:sp>
      <p:pic>
        <p:nvPicPr>
          <p:cNvPr id="16" name="Image 2" descr="preencoded.png">    </p:cNvPr>
          <p:cNvPicPr>
            <a:picLocks noChangeAspect="1"/>
          </p:cNvPicPr>
          <p:nvPr/>
        </p:nvPicPr>
        <p:blipFill>
          <a:blip r:embed="rId3"/>
          <a:stretch>
            <a:fillRect/>
          </a:stretch>
        </p:blipFill>
        <p:spPr>
          <a:xfrm>
            <a:off x="886968" y="3758184"/>
            <a:ext cx="201168" cy="201168"/>
          </a:xfrm>
          <a:prstGeom prst="rect">
            <a:avLst/>
          </a:prstGeom>
        </p:spPr>
      </p:pic>
      <p:sp>
        <p:nvSpPr>
          <p:cNvPr id="17" name="Text 12"/>
          <p:cNvSpPr/>
          <p:nvPr/>
        </p:nvSpPr>
        <p:spPr>
          <a:xfrm>
            <a:off x="1417320" y="3575304"/>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September is 31.0% toward its 324kg floor with 4 days left</a:t>
            </a:r>
            <a:endParaRPr lang="en-US" sz="1450" dirty="0"/>
          </a:p>
        </p:txBody>
      </p:sp>
      <p:sp>
        <p:nvSpPr>
          <p:cNvPr id="18" name="Text 13"/>
          <p:cNvSpPr/>
          <p:nvPr/>
        </p:nvSpPr>
        <p:spPr>
          <a:xfrm>
            <a:off x="1417320" y="3904488"/>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100.3kg shipped through day 26 of 30 (~3.9kg/day average) leaves 223.7kg to find in the final 4 days — not realistically closeable this month. Repeat volume from September's leaders (Chiya Cafe, HER DAYS Cafe, WE ARE LARDER) is the fastest lever for whatever's still recoverable, with the rest carrying into October's push.</a:t>
            </a:r>
            <a:endParaRPr lang="en-US" sz="1150" dirty="0"/>
          </a:p>
        </p:txBody>
      </p:sp>
      <p:sp>
        <p:nvSpPr>
          <p:cNvPr id="19" name="Shape 14"/>
          <p:cNvSpPr/>
          <p:nvPr/>
        </p:nvSpPr>
        <p:spPr>
          <a:xfrm>
            <a:off x="548640" y="4489704"/>
            <a:ext cx="11064240" cy="841248"/>
          </a:xfrm>
          <a:prstGeom prst="roundRect">
            <a:avLst>
              <a:gd name="adj" fmla="val 6522"/>
            </a:avLst>
          </a:prstGeom>
          <a:solidFill>
            <a:srgbClr val="F4F7F2"/>
          </a:solidFill>
          <a:ln/>
        </p:spPr>
      </p:sp>
      <p:sp>
        <p:nvSpPr>
          <p:cNvPr id="20" name="Shape 15"/>
          <p:cNvSpPr/>
          <p:nvPr/>
        </p:nvSpPr>
        <p:spPr>
          <a:xfrm>
            <a:off x="777240" y="4672584"/>
            <a:ext cx="420624" cy="420624"/>
          </a:xfrm>
          <a:prstGeom prst="ellipse">
            <a:avLst/>
          </a:prstGeom>
          <a:solidFill>
            <a:srgbClr val="C99A3A"/>
          </a:solidFill>
          <a:ln/>
        </p:spPr>
      </p:sp>
      <p:pic>
        <p:nvPicPr>
          <p:cNvPr id="21" name="Image 3" descr="preencoded.png">    </p:cNvPr>
          <p:cNvPicPr>
            <a:picLocks noChangeAspect="1"/>
          </p:cNvPicPr>
          <p:nvPr/>
        </p:nvPicPr>
        <p:blipFill>
          <a:blip r:embed="rId4"/>
          <a:stretch>
            <a:fillRect/>
          </a:stretch>
        </p:blipFill>
        <p:spPr>
          <a:xfrm>
            <a:off x="886968" y="4782312"/>
            <a:ext cx="201168" cy="201168"/>
          </a:xfrm>
          <a:prstGeom prst="rect">
            <a:avLst/>
          </a:prstGeom>
        </p:spPr>
      </p:pic>
      <p:sp>
        <p:nvSpPr>
          <p:cNvPr id="22" name="Text 16"/>
          <p:cNvSpPr/>
          <p:nvPr/>
        </p:nvSpPr>
        <p:spPr>
          <a:xfrm>
            <a:off x="1417320" y="4599432"/>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59 of 99 active partners haven't ordered in 21+ days</a:t>
            </a:r>
            <a:endParaRPr lang="en-US" sz="1450" dirty="0"/>
          </a:p>
        </p:txBody>
      </p:sp>
      <p:sp>
        <p:nvSpPr>
          <p:cNvPr id="23" name="Text 17"/>
          <p:cNvSpPr/>
          <p:nvPr/>
        </p:nvSpPr>
        <p:spPr>
          <a:xfrm>
            <a:off x="1417320" y="4928616"/>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The follow-up table below shows only the 8 most overdue (79-107 days since last order); the real win-back list is far larger — nearly 6 in 10 of the CRM's active-status cafés. Worth a dedicated re-engagement push rather than one-off nudges.</a:t>
            </a:r>
            <a:endParaRPr lang="en-US" sz="1150" dirty="0"/>
          </a:p>
        </p:txBody>
      </p:sp>
      <p:sp>
        <p:nvSpPr>
          <p:cNvPr id="24" name="Shape 18"/>
          <p:cNvSpPr/>
          <p:nvPr/>
        </p:nvSpPr>
        <p:spPr>
          <a:xfrm>
            <a:off x="548640" y="5513832"/>
            <a:ext cx="11064240" cy="841248"/>
          </a:xfrm>
          <a:prstGeom prst="roundRect">
            <a:avLst>
              <a:gd name="adj" fmla="val 6522"/>
            </a:avLst>
          </a:prstGeom>
          <a:solidFill>
            <a:srgbClr val="F4F7F2"/>
          </a:solidFill>
          <a:ln/>
        </p:spPr>
      </p:sp>
      <p:sp>
        <p:nvSpPr>
          <p:cNvPr id="25" name="Shape 19"/>
          <p:cNvSpPr/>
          <p:nvPr/>
        </p:nvSpPr>
        <p:spPr>
          <a:xfrm>
            <a:off x="777240" y="5696712"/>
            <a:ext cx="420624" cy="420624"/>
          </a:xfrm>
          <a:prstGeom prst="ellipse">
            <a:avLst/>
          </a:prstGeom>
          <a:solidFill>
            <a:srgbClr val="3C6034"/>
          </a:solidFill>
          <a:ln/>
        </p:spPr>
      </p:sp>
      <p:pic>
        <p:nvPicPr>
          <p:cNvPr id="26" name="Image 4" descr="preencoded.png">    </p:cNvPr>
          <p:cNvPicPr>
            <a:picLocks noChangeAspect="1"/>
          </p:cNvPicPr>
          <p:nvPr/>
        </p:nvPicPr>
        <p:blipFill>
          <a:blip r:embed="rId5"/>
          <a:stretch>
            <a:fillRect/>
          </a:stretch>
        </p:blipFill>
        <p:spPr>
          <a:xfrm>
            <a:off x="886968" y="5806440"/>
            <a:ext cx="201168" cy="201168"/>
          </a:xfrm>
          <a:prstGeom prst="rect">
            <a:avLst/>
          </a:prstGeom>
        </p:spPr>
      </p:pic>
      <p:sp>
        <p:nvSpPr>
          <p:cNvPr id="27" name="Text 20"/>
          <p:cNvSpPr/>
          <p:nvPr/>
        </p:nvSpPr>
        <p:spPr>
          <a:xfrm>
            <a:off x="1417320" y="5623560"/>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Chiya Cafe and HER DAYS Cafe are September's co-leaders</a:t>
            </a:r>
            <a:endParaRPr lang="en-US" sz="1450" dirty="0"/>
          </a:p>
        </p:txBody>
      </p:sp>
      <p:sp>
        <p:nvSpPr>
          <p:cNvPr id="28" name="Text 21"/>
          <p:cNvSpPr/>
          <p:nvPr/>
        </p:nvSpPr>
        <p:spPr>
          <a:xfrm>
            <a:off x="1417320" y="5952744"/>
            <a:ext cx="10058400" cy="429768"/>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Chiya Cafe (£1,386, 3 orders) and HER DAYS Cafe (£1,326, 3 orders) are this month's top two accounts by revenue, both repeat orderers. A personal thank-you touch to both would help lock in the reorder habit heading into October.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20291F"/>
                </a:solidFill>
                <a:latin typeface="Cambria" pitchFamily="34" charset="0"/>
                <a:ea typeface="Cambria" pitchFamily="34" charset="-122"/>
                <a:cs typeface="Cambria" pitchFamily="34" charset="-120"/>
              </a:rPr>
              <a:t>Insights &amp; How to Improve (cont.)</a:t>
            </a:r>
            <a:endParaRPr lang="en-US" sz="3000" dirty="0"/>
          </a:p>
        </p:txBody>
      </p:sp>
      <p:sp>
        <p:nvSpPr>
          <p:cNvPr id="3" name="Shape 1"/>
          <p:cNvSpPr/>
          <p:nvPr/>
        </p:nvSpPr>
        <p:spPr>
          <a:xfrm>
            <a:off x="548640" y="1417320"/>
            <a:ext cx="11064240" cy="1051560"/>
          </a:xfrm>
          <a:prstGeom prst="roundRect">
            <a:avLst>
              <a:gd name="adj" fmla="val 5217"/>
            </a:avLst>
          </a:prstGeom>
          <a:solidFill>
            <a:srgbClr val="F4F7F2"/>
          </a:solidFill>
          <a:ln/>
        </p:spPr>
      </p:sp>
      <p:sp>
        <p:nvSpPr>
          <p:cNvPr id="4" name="Shape 2"/>
          <p:cNvSpPr/>
          <p:nvPr/>
        </p:nvSpPr>
        <p:spPr>
          <a:xfrm>
            <a:off x="777240" y="1600200"/>
            <a:ext cx="420624" cy="420624"/>
          </a:xfrm>
          <a:prstGeom prst="ellipse">
            <a:avLst/>
          </a:prstGeom>
          <a:solidFill>
            <a:srgbClr val="6E7568"/>
          </a:solidFill>
          <a:ln/>
        </p:spPr>
      </p:sp>
      <p:pic>
        <p:nvPicPr>
          <p:cNvPr id="5" name="Image 0" descr="preencoded.png">    </p:cNvPr>
          <p:cNvPicPr>
            <a:picLocks noChangeAspect="1"/>
          </p:cNvPicPr>
          <p:nvPr/>
        </p:nvPicPr>
        <p:blipFill>
          <a:blip r:embed="rId1"/>
          <a:stretch>
            <a:fillRect/>
          </a:stretch>
        </p:blipFill>
        <p:spPr>
          <a:xfrm>
            <a:off x="886968" y="1709928"/>
            <a:ext cx="201168" cy="201168"/>
          </a:xfrm>
          <a:prstGeom prst="rect">
            <a:avLst/>
          </a:prstGeom>
        </p:spPr>
      </p:pic>
      <p:sp>
        <p:nvSpPr>
          <p:cNvPr id="6" name="Text 3"/>
          <p:cNvSpPr/>
          <p:nvPr/>
        </p:nvSpPr>
        <p:spPr>
          <a:xfrm>
            <a:off x="1417320" y="1527048"/>
            <a:ext cx="10058400" cy="320040"/>
          </a:xfrm>
          <a:prstGeom prst="rect">
            <a:avLst/>
          </a:prstGeom>
          <a:noFill/>
          <a:ln/>
        </p:spPr>
        <p:txBody>
          <a:bodyPr wrap="square" lIns="0" tIns="0" rIns="0" bIns="0" rtlCol="0" anchor="ctr"/>
          <a:lstStyle/>
          <a:p>
            <a:pPr indent="0" marL="0">
              <a:buNone/>
            </a:pPr>
            <a:r>
              <a:rPr lang="en-US" sz="1450" b="1" dirty="0">
                <a:solidFill>
                  <a:srgbClr val="20291F"/>
                </a:solidFill>
                <a:latin typeface="Calibri" pitchFamily="34" charset="0"/>
                <a:ea typeface="Calibri" pitchFamily="34" charset="-122"/>
                <a:cs typeface="Calibri" pitchFamily="34" charset="-120"/>
              </a:rPr>
              <a:t>The +58kg floor hasn't been cleared once yet</a:t>
            </a:r>
            <a:endParaRPr lang="en-US" sz="1450" dirty="0"/>
          </a:p>
        </p:txBody>
      </p:sp>
      <p:sp>
        <p:nvSpPr>
          <p:cNvPr id="7" name="Text 4"/>
          <p:cNvSpPr/>
          <p:nvPr/>
        </p:nvSpPr>
        <p:spPr>
          <a:xfrm>
            <a:off x="1417320" y="1856232"/>
            <a:ext cx="10058400" cy="640080"/>
          </a:xfrm>
          <a:prstGeom prst="rect">
            <a:avLst/>
          </a:prstGeom>
          <a:noFill/>
          <a:ln/>
        </p:spPr>
        <p:txBody>
          <a:bodyPr wrap="square" lIns="0" tIns="0" rIns="0" bIns="0" rtlCol="0" anchor="ctr"/>
          <a:lstStyle/>
          <a:p>
            <a:pPr indent="0" marL="0">
              <a:buNone/>
            </a:pPr>
            <a:r>
              <a:rPr lang="en-US" sz="1150" dirty="0">
                <a:solidFill>
                  <a:srgbClr val="6E7568"/>
                </a:solidFill>
                <a:latin typeface="Calibri" pitchFamily="34" charset="0"/>
                <a:ea typeface="Calibri" pitchFamily="34" charset="-122"/>
                <a:cs typeface="Calibri" pitchFamily="34" charset="-120"/>
              </a:rPr>
              <a:t>July shipped 134.75kg against a 208kg target and August shipped 204.05kg against 266kg (though volume grew 51% month-over-month); September is tracking a similar shortfall. Only three months of CRM history exist, so this isn't a confirmed trend, but the floor has stayed ahead of actual growth every month so far — worth watching whether that gap narrows or widens.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Kyos Matcha B2B Weekly Report — 2026-09-14 to 2026-09-20</dc:title>
  <dc:subject>PptxGenJS Presentation</dc:subject>
  <dc:creator>Kyos Matcha</dc:creator>
  <cp:lastModifiedBy>Kyos Matcha</cp:lastModifiedBy>
  <cp:revision>1</cp:revision>
  <dcterms:created xsi:type="dcterms:W3CDTF">2026-09-26T12:23:46Z</dcterms:created>
  <dcterms:modified xsi:type="dcterms:W3CDTF">2026-09-26T12:23:46Z</dcterms:modified>
</cp:coreProperties>
</file>