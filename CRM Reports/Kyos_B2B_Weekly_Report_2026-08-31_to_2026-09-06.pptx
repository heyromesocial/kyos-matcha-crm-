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6034"/>
        </a:solidFill>
      </p:bgPr>
    </p:bg>
    <p:spTree>
      <p:nvGrpSpPr>
        <p:cNvPr id="1" name=""/>
        <p:cNvGrpSpPr/>
        <p:nvPr/>
      </p:nvGrpSpPr>
      <p:grpSpPr>
        <a:xfrm>
          <a:off x="0" y="0"/>
          <a:ext cx="0" cy="0"/>
          <a:chOff x="0" y="0"/>
          <a:chExt cx="0" cy="0"/>
        </a:xfrm>
      </p:grpSpPr>
      <p:sp>
        <p:nvSpPr>
          <p:cNvPr id="2" name="Shape 0"/>
          <p:cNvSpPr/>
          <p:nvPr/>
        </p:nvSpPr>
        <p:spPr>
          <a:xfrm>
            <a:off x="640080" y="594360"/>
            <a:ext cx="1920240" cy="603504"/>
          </a:xfrm>
          <a:prstGeom prst="roundRect">
            <a:avLst>
              <a:gd name="adj" fmla="val 9091"/>
            </a:avLst>
          </a:prstGeom>
          <a:solidFill>
            <a:srgbClr val="FFFFFF"/>
          </a:solidFill>
          <a:ln/>
        </p:spPr>
      </p:sp>
      <p:pic>
        <p:nvPicPr>
          <p:cNvPr id="3" name="Image 0" descr="/sessions/loving-inspiring-albattani/mnt/Kyos Matcha/CRM Reports/Kyo_s_Logo.png">    </p:cNvPr>
          <p:cNvPicPr>
            <a:picLocks noChangeAspect="1"/>
          </p:cNvPicPr>
          <p:nvPr/>
        </p:nvPicPr>
        <p:blipFill>
          <a:blip r:embed="rId1"/>
          <a:stretch>
            <a:fillRect/>
          </a:stretch>
        </p:blipFill>
        <p:spPr>
          <a:xfrm>
            <a:off x="777240" y="713232"/>
            <a:ext cx="1645920" cy="441655"/>
          </a:xfrm>
          <a:prstGeom prst="rect">
            <a:avLst/>
          </a:prstGeom>
        </p:spPr>
      </p:pic>
      <p:sp>
        <p:nvSpPr>
          <p:cNvPr id="4" name="Text 1"/>
          <p:cNvSpPr/>
          <p:nvPr/>
        </p:nvSpPr>
        <p:spPr>
          <a:xfrm>
            <a:off x="640080" y="2331720"/>
            <a:ext cx="100584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B2B Weekly Report</a:t>
            </a:r>
            <a:endParaRPr lang="en-US" sz="4400" dirty="0"/>
          </a:p>
        </p:txBody>
      </p:sp>
      <p:sp>
        <p:nvSpPr>
          <p:cNvPr id="5" name="Text 2"/>
          <p:cNvSpPr/>
          <p:nvPr/>
        </p:nvSpPr>
        <p:spPr>
          <a:xfrm>
            <a:off x="640080" y="3337560"/>
            <a:ext cx="9144000" cy="548640"/>
          </a:xfrm>
          <a:prstGeom prst="rect">
            <a:avLst/>
          </a:prstGeom>
          <a:noFill/>
          <a:ln/>
        </p:spPr>
        <p:txBody>
          <a:bodyPr wrap="square" lIns="0" tIns="0" rIns="0" bIns="0" rtlCol="0" anchor="ctr"/>
          <a:lstStyle/>
          <a:p>
            <a:pPr indent="0" marL="0">
              <a:buNone/>
            </a:pPr>
            <a:r>
              <a:rPr lang="en-US" sz="2000" dirty="0">
                <a:solidFill>
                  <a:srgbClr val="D9E4D3"/>
                </a:solidFill>
                <a:latin typeface="Calibri" pitchFamily="34" charset="0"/>
                <a:ea typeface="Calibri" pitchFamily="34" charset="-122"/>
                <a:cs typeface="Calibri" pitchFamily="34" charset="-120"/>
              </a:rPr>
              <a:t>31 August – 6 September 2026</a:t>
            </a:r>
            <a:endParaRPr lang="en-US" sz="2000" dirty="0"/>
          </a:p>
        </p:txBody>
      </p:sp>
      <p:sp>
        <p:nvSpPr>
          <p:cNvPr id="6" name="Text 3"/>
          <p:cNvSpPr/>
          <p:nvPr/>
        </p:nvSpPr>
        <p:spPr>
          <a:xfrm>
            <a:off x="640080" y="4206240"/>
            <a:ext cx="3108960" cy="274320"/>
          </a:xfrm>
          <a:prstGeom prst="rect">
            <a:avLst/>
          </a:prstGeom>
          <a:noFill/>
          <a:ln/>
        </p:spPr>
        <p:txBody>
          <a:bodyPr wrap="square" lIns="0" tIns="0" rIns="0" bIns="0" rtlCol="0" anchor="ctr"/>
          <a:lstStyle/>
          <a:p>
            <a:pPr indent="0" marL="0">
              <a:buNone/>
            </a:pPr>
            <a:r>
              <a:rPr lang="en-US" sz="1100" b="1" spc="100" kern="0" dirty="0">
                <a:solidFill>
                  <a:srgbClr val="9CB08F"/>
                </a:solidFill>
                <a:latin typeface="Calibri" pitchFamily="34" charset="0"/>
                <a:ea typeface="Calibri" pitchFamily="34" charset="-122"/>
                <a:cs typeface="Calibri" pitchFamily="34" charset="-120"/>
              </a:rPr>
              <a:t>REVENUE THIS WEEK</a:t>
            </a:r>
            <a:endParaRPr lang="en-US" sz="1100" dirty="0"/>
          </a:p>
        </p:txBody>
      </p:sp>
      <p:sp>
        <p:nvSpPr>
          <p:cNvPr id="7" name="Text 4"/>
          <p:cNvSpPr/>
          <p:nvPr/>
        </p:nvSpPr>
        <p:spPr>
          <a:xfrm>
            <a:off x="640080" y="4480560"/>
            <a:ext cx="31089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£4,896</a:t>
            </a:r>
            <a:endParaRPr lang="en-US" sz="2600" dirty="0"/>
          </a:p>
        </p:txBody>
      </p:sp>
      <p:sp>
        <p:nvSpPr>
          <p:cNvPr id="8" name="Text 5"/>
          <p:cNvSpPr/>
          <p:nvPr/>
        </p:nvSpPr>
        <p:spPr>
          <a:xfrm>
            <a:off x="4206240" y="4206240"/>
            <a:ext cx="3108960" cy="274320"/>
          </a:xfrm>
          <a:prstGeom prst="rect">
            <a:avLst/>
          </a:prstGeom>
          <a:noFill/>
          <a:ln/>
        </p:spPr>
        <p:txBody>
          <a:bodyPr wrap="square" lIns="0" tIns="0" rIns="0" bIns="0" rtlCol="0" anchor="ctr"/>
          <a:lstStyle/>
          <a:p>
            <a:pPr indent="0" marL="0">
              <a:buNone/>
            </a:pPr>
            <a:r>
              <a:rPr lang="en-US" sz="1100" b="1" spc="100" kern="0" dirty="0">
                <a:solidFill>
                  <a:srgbClr val="9CB08F"/>
                </a:solidFill>
                <a:latin typeface="Calibri" pitchFamily="34" charset="0"/>
                <a:ea typeface="Calibri" pitchFamily="34" charset="-122"/>
                <a:cs typeface="Calibri" pitchFamily="34" charset="-120"/>
              </a:rPr>
              <a:t>MATCHA SHIPPED</a:t>
            </a:r>
            <a:endParaRPr lang="en-US" sz="1100" dirty="0"/>
          </a:p>
        </p:txBody>
      </p:sp>
      <p:sp>
        <p:nvSpPr>
          <p:cNvPr id="9" name="Text 6"/>
          <p:cNvSpPr/>
          <p:nvPr/>
        </p:nvSpPr>
        <p:spPr>
          <a:xfrm>
            <a:off x="4206240" y="4480560"/>
            <a:ext cx="31089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31.5 kg</a:t>
            </a:r>
            <a:endParaRPr lang="en-US" sz="2600" dirty="0"/>
          </a:p>
        </p:txBody>
      </p:sp>
      <p:sp>
        <p:nvSpPr>
          <p:cNvPr id="10" name="Text 7"/>
          <p:cNvSpPr/>
          <p:nvPr/>
        </p:nvSpPr>
        <p:spPr>
          <a:xfrm>
            <a:off x="7772400" y="4206240"/>
            <a:ext cx="3108960" cy="274320"/>
          </a:xfrm>
          <a:prstGeom prst="rect">
            <a:avLst/>
          </a:prstGeom>
          <a:noFill/>
          <a:ln/>
        </p:spPr>
        <p:txBody>
          <a:bodyPr wrap="square" lIns="0" tIns="0" rIns="0" bIns="0" rtlCol="0" anchor="ctr"/>
          <a:lstStyle/>
          <a:p>
            <a:pPr indent="0" marL="0">
              <a:buNone/>
            </a:pPr>
            <a:r>
              <a:rPr lang="en-US" sz="1100" b="1" spc="100" kern="0" dirty="0">
                <a:solidFill>
                  <a:srgbClr val="9CB08F"/>
                </a:solidFill>
                <a:latin typeface="Calibri" pitchFamily="34" charset="0"/>
                <a:ea typeface="Calibri" pitchFamily="34" charset="-122"/>
                <a:cs typeface="Calibri" pitchFamily="34" charset="-120"/>
              </a:rPr>
              <a:t>MONTHLY KG GOAL</a:t>
            </a:r>
            <a:endParaRPr lang="en-US" sz="1100" dirty="0"/>
          </a:p>
        </p:txBody>
      </p:sp>
      <p:sp>
        <p:nvSpPr>
          <p:cNvPr id="11" name="Text 8"/>
          <p:cNvSpPr/>
          <p:nvPr/>
        </p:nvSpPr>
        <p:spPr>
          <a:xfrm>
            <a:off x="7772400" y="4480560"/>
            <a:ext cx="31089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10.4%</a:t>
            </a:r>
            <a:endParaRPr lang="en-US" sz="2600" dirty="0"/>
          </a:p>
        </p:txBody>
      </p:sp>
      <p:sp>
        <p:nvSpPr>
          <p:cNvPr id="12" name="Text 9"/>
          <p:cNvSpPr/>
          <p:nvPr/>
        </p:nvSpPr>
        <p:spPr>
          <a:xfrm>
            <a:off x="640080" y="6035040"/>
            <a:ext cx="9144000" cy="365760"/>
          </a:xfrm>
          <a:prstGeom prst="rect">
            <a:avLst/>
          </a:prstGeom>
          <a:noFill/>
          <a:ln/>
        </p:spPr>
        <p:txBody>
          <a:bodyPr wrap="square" lIns="0" tIns="0" rIns="0" bIns="0" rtlCol="0" anchor="ctr"/>
          <a:lstStyle/>
          <a:p>
            <a:pPr indent="0" marL="0">
              <a:buNone/>
            </a:pPr>
            <a:r>
              <a:rPr lang="en-US" sz="1200" dirty="0">
                <a:solidFill>
                  <a:srgbClr val="9CB08F"/>
                </a:solidFill>
                <a:latin typeface="Calibri" pitchFamily="34" charset="0"/>
                <a:ea typeface="Calibri" pitchFamily="34" charset="-122"/>
                <a:cs typeface="Calibri" pitchFamily="34" charset="-120"/>
              </a:rPr>
              <a:t>Wholesale / Café Channel  ·  Prepared from the live Kyos Matcha CRM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This Week at a Glance</a:t>
            </a:r>
            <a:endParaRPr lang="en-US" sz="3000" dirty="0"/>
          </a:p>
        </p:txBody>
      </p:sp>
      <p:sp>
        <p:nvSpPr>
          <p:cNvPr id="3" name="Shape 1"/>
          <p:cNvSpPr/>
          <p:nvPr/>
        </p:nvSpPr>
        <p:spPr>
          <a:xfrm>
            <a:off x="548640" y="123444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4" name="Shape 2"/>
          <p:cNvSpPr/>
          <p:nvPr/>
        </p:nvSpPr>
        <p:spPr>
          <a:xfrm>
            <a:off x="804672" y="1490472"/>
            <a:ext cx="502920" cy="502920"/>
          </a:xfrm>
          <a:prstGeom prst="ellipse">
            <a:avLst/>
          </a:prstGeom>
          <a:solidFill>
            <a:srgbClr val="3C6034"/>
          </a:solidFill>
          <a:ln/>
        </p:spPr>
      </p:sp>
      <p:pic>
        <p:nvPicPr>
          <p:cNvPr id="5" name="Image 0" descr="preencoded.png">    </p:cNvPr>
          <p:cNvPicPr>
            <a:picLocks noChangeAspect="1"/>
          </p:cNvPicPr>
          <p:nvPr/>
        </p:nvPicPr>
        <p:blipFill>
          <a:blip r:embed="rId1"/>
          <a:stretch>
            <a:fillRect/>
          </a:stretch>
        </p:blipFill>
        <p:spPr>
          <a:xfrm>
            <a:off x="932688" y="1618488"/>
            <a:ext cx="246888" cy="246888"/>
          </a:xfrm>
          <a:prstGeom prst="rect">
            <a:avLst/>
          </a:prstGeom>
        </p:spPr>
      </p:pic>
      <p:sp>
        <p:nvSpPr>
          <p:cNvPr id="6" name="Text 3"/>
          <p:cNvSpPr/>
          <p:nvPr/>
        </p:nvSpPr>
        <p:spPr>
          <a:xfrm>
            <a:off x="2377440" y="1527048"/>
            <a:ext cx="1463040" cy="274320"/>
          </a:xfrm>
          <a:prstGeom prst="rect">
            <a:avLst/>
          </a:prstGeom>
          <a:noFill/>
          <a:ln/>
        </p:spPr>
        <p:txBody>
          <a:bodyPr wrap="square" lIns="0" tIns="0" rIns="0" bIns="0" rtlCol="0" anchor="ctr"/>
          <a:lstStyle/>
          <a:p>
            <a:pPr algn="r" indent="0" marL="0">
              <a:buNone/>
            </a:pPr>
            <a:r>
              <a:rPr lang="en-US" sz="1000" b="1" dirty="0">
                <a:solidFill>
                  <a:srgbClr val="3C7A3F"/>
                </a:solidFill>
                <a:latin typeface="Calibri" pitchFamily="34" charset="0"/>
                <a:ea typeface="Calibri" pitchFamily="34" charset="-122"/>
                <a:cs typeface="Calibri" pitchFamily="34" charset="-120"/>
              </a:rPr>
              <a:t>▲ 15.6% vs last wk</a:t>
            </a:r>
            <a:endParaRPr lang="en-US" sz="1000" dirty="0"/>
          </a:p>
        </p:txBody>
      </p:sp>
      <p:sp>
        <p:nvSpPr>
          <p:cNvPr id="7" name="Text 4"/>
          <p:cNvSpPr/>
          <p:nvPr/>
        </p:nvSpPr>
        <p:spPr>
          <a:xfrm>
            <a:off x="804672" y="214884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REVENUE INVOICED</a:t>
            </a:r>
            <a:endParaRPr lang="en-US" sz="1100" dirty="0"/>
          </a:p>
        </p:txBody>
      </p:sp>
      <p:sp>
        <p:nvSpPr>
          <p:cNvPr id="8" name="Text 5"/>
          <p:cNvSpPr/>
          <p:nvPr/>
        </p:nvSpPr>
        <p:spPr>
          <a:xfrm>
            <a:off x="804672" y="242316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£4,896</a:t>
            </a:r>
            <a:endParaRPr lang="en-US" sz="2800" dirty="0"/>
          </a:p>
        </p:txBody>
      </p:sp>
      <p:sp>
        <p:nvSpPr>
          <p:cNvPr id="9" name="Text 6"/>
          <p:cNvSpPr/>
          <p:nvPr/>
        </p:nvSpPr>
        <p:spPr>
          <a:xfrm>
            <a:off x="804672" y="310896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£1,959 paid · £2,937 outstanding</a:t>
            </a:r>
            <a:endParaRPr lang="en-US" sz="1050" dirty="0"/>
          </a:p>
        </p:txBody>
      </p:sp>
      <p:sp>
        <p:nvSpPr>
          <p:cNvPr id="10" name="Shape 7"/>
          <p:cNvSpPr/>
          <p:nvPr/>
        </p:nvSpPr>
        <p:spPr>
          <a:xfrm>
            <a:off x="4389120" y="123444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11" name="Shape 8"/>
          <p:cNvSpPr/>
          <p:nvPr/>
        </p:nvSpPr>
        <p:spPr>
          <a:xfrm>
            <a:off x="4645152" y="1490472"/>
            <a:ext cx="502920" cy="502920"/>
          </a:xfrm>
          <a:prstGeom prst="ellipse">
            <a:avLst/>
          </a:prstGeom>
          <a:solidFill>
            <a:srgbClr val="3C6034"/>
          </a:solidFill>
          <a:ln/>
        </p:spPr>
      </p:sp>
      <p:pic>
        <p:nvPicPr>
          <p:cNvPr id="12" name="Image 1" descr="preencoded.png">    </p:cNvPr>
          <p:cNvPicPr>
            <a:picLocks noChangeAspect="1"/>
          </p:cNvPicPr>
          <p:nvPr/>
        </p:nvPicPr>
        <p:blipFill>
          <a:blip r:embed="rId2"/>
          <a:stretch>
            <a:fillRect/>
          </a:stretch>
        </p:blipFill>
        <p:spPr>
          <a:xfrm>
            <a:off x="4773168" y="1618488"/>
            <a:ext cx="246888" cy="246888"/>
          </a:xfrm>
          <a:prstGeom prst="rect">
            <a:avLst/>
          </a:prstGeom>
        </p:spPr>
      </p:pic>
      <p:sp>
        <p:nvSpPr>
          <p:cNvPr id="13" name="Text 9"/>
          <p:cNvSpPr/>
          <p:nvPr/>
        </p:nvSpPr>
        <p:spPr>
          <a:xfrm>
            <a:off x="6217920" y="1527048"/>
            <a:ext cx="1463040" cy="274320"/>
          </a:xfrm>
          <a:prstGeom prst="rect">
            <a:avLst/>
          </a:prstGeom>
          <a:noFill/>
          <a:ln/>
        </p:spPr>
        <p:txBody>
          <a:bodyPr wrap="square" lIns="0" tIns="0" rIns="0" bIns="0" rtlCol="0" anchor="ctr"/>
          <a:lstStyle/>
          <a:p>
            <a:pPr algn="r" indent="0" marL="0">
              <a:buNone/>
            </a:pPr>
            <a:r>
              <a:rPr lang="en-US" sz="1000" b="1" dirty="0">
                <a:solidFill>
                  <a:srgbClr val="3C7A3F"/>
                </a:solidFill>
                <a:latin typeface="Calibri" pitchFamily="34" charset="0"/>
                <a:ea typeface="Calibri" pitchFamily="34" charset="-122"/>
                <a:cs typeface="Calibri" pitchFamily="34" charset="-120"/>
              </a:rPr>
              <a:t>▲ 14.3% vs last wk</a:t>
            </a:r>
            <a:endParaRPr lang="en-US" sz="1000" dirty="0"/>
          </a:p>
        </p:txBody>
      </p:sp>
      <p:sp>
        <p:nvSpPr>
          <p:cNvPr id="14" name="Text 10"/>
          <p:cNvSpPr/>
          <p:nvPr/>
        </p:nvSpPr>
        <p:spPr>
          <a:xfrm>
            <a:off x="4645152" y="214884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ORDERS</a:t>
            </a:r>
            <a:endParaRPr lang="en-US" sz="1100" dirty="0"/>
          </a:p>
        </p:txBody>
      </p:sp>
      <p:sp>
        <p:nvSpPr>
          <p:cNvPr id="15" name="Text 11"/>
          <p:cNvSpPr/>
          <p:nvPr/>
        </p:nvSpPr>
        <p:spPr>
          <a:xfrm>
            <a:off x="4645152" y="242316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16</a:t>
            </a:r>
            <a:endParaRPr lang="en-US" sz="2800" dirty="0"/>
          </a:p>
        </p:txBody>
      </p:sp>
      <p:sp>
        <p:nvSpPr>
          <p:cNvPr id="16" name="Text 12"/>
          <p:cNvSpPr/>
          <p:nvPr/>
        </p:nvSpPr>
        <p:spPr>
          <a:xfrm>
            <a:off x="4645152" y="310896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AOV £306</a:t>
            </a:r>
            <a:endParaRPr lang="en-US" sz="1050" dirty="0"/>
          </a:p>
        </p:txBody>
      </p:sp>
      <p:sp>
        <p:nvSpPr>
          <p:cNvPr id="17" name="Shape 13"/>
          <p:cNvSpPr/>
          <p:nvPr/>
        </p:nvSpPr>
        <p:spPr>
          <a:xfrm>
            <a:off x="8229600" y="123444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18" name="Shape 14"/>
          <p:cNvSpPr/>
          <p:nvPr/>
        </p:nvSpPr>
        <p:spPr>
          <a:xfrm>
            <a:off x="8485632" y="1490472"/>
            <a:ext cx="502920" cy="502920"/>
          </a:xfrm>
          <a:prstGeom prst="ellipse">
            <a:avLst/>
          </a:prstGeom>
          <a:solidFill>
            <a:srgbClr val="3C6034"/>
          </a:solidFill>
          <a:ln/>
        </p:spPr>
      </p:sp>
      <p:pic>
        <p:nvPicPr>
          <p:cNvPr id="19" name="Image 2" descr="preencoded.png">    </p:cNvPr>
          <p:cNvPicPr>
            <a:picLocks noChangeAspect="1"/>
          </p:cNvPicPr>
          <p:nvPr/>
        </p:nvPicPr>
        <p:blipFill>
          <a:blip r:embed="rId3"/>
          <a:stretch>
            <a:fillRect/>
          </a:stretch>
        </p:blipFill>
        <p:spPr>
          <a:xfrm>
            <a:off x="8613648" y="1618488"/>
            <a:ext cx="246888" cy="246888"/>
          </a:xfrm>
          <a:prstGeom prst="rect">
            <a:avLst/>
          </a:prstGeom>
        </p:spPr>
      </p:pic>
      <p:sp>
        <p:nvSpPr>
          <p:cNvPr id="20" name="Text 15"/>
          <p:cNvSpPr/>
          <p:nvPr/>
        </p:nvSpPr>
        <p:spPr>
          <a:xfrm>
            <a:off x="10058400" y="1527048"/>
            <a:ext cx="1463040" cy="274320"/>
          </a:xfrm>
          <a:prstGeom prst="rect">
            <a:avLst/>
          </a:prstGeom>
          <a:noFill/>
          <a:ln/>
        </p:spPr>
        <p:txBody>
          <a:bodyPr wrap="square" lIns="0" tIns="0" rIns="0" bIns="0" rtlCol="0" anchor="ctr"/>
          <a:lstStyle/>
          <a:p>
            <a:pPr algn="r" indent="0" marL="0">
              <a:buNone/>
            </a:pPr>
            <a:r>
              <a:rPr lang="en-US" sz="1000" b="1" dirty="0">
                <a:solidFill>
                  <a:srgbClr val="3C7A3F"/>
                </a:solidFill>
                <a:latin typeface="Calibri" pitchFamily="34" charset="0"/>
                <a:ea typeface="Calibri" pitchFamily="34" charset="-122"/>
                <a:cs typeface="Calibri" pitchFamily="34" charset="-120"/>
              </a:rPr>
              <a:t>▲ 10.3% vs last wk</a:t>
            </a:r>
            <a:endParaRPr lang="en-US" sz="1000" dirty="0"/>
          </a:p>
        </p:txBody>
      </p:sp>
      <p:sp>
        <p:nvSpPr>
          <p:cNvPr id="21" name="Text 16"/>
          <p:cNvSpPr/>
          <p:nvPr/>
        </p:nvSpPr>
        <p:spPr>
          <a:xfrm>
            <a:off x="8485632" y="214884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MATCHA SHIPPED</a:t>
            </a:r>
            <a:endParaRPr lang="en-US" sz="1100" dirty="0"/>
          </a:p>
        </p:txBody>
      </p:sp>
      <p:sp>
        <p:nvSpPr>
          <p:cNvPr id="22" name="Text 17"/>
          <p:cNvSpPr/>
          <p:nvPr/>
        </p:nvSpPr>
        <p:spPr>
          <a:xfrm>
            <a:off x="8485632" y="242316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31.5 kg</a:t>
            </a:r>
            <a:endParaRPr lang="en-US" sz="2800" dirty="0"/>
          </a:p>
        </p:txBody>
      </p:sp>
      <p:sp>
        <p:nvSpPr>
          <p:cNvPr id="23" name="Text 18"/>
          <p:cNvSpPr/>
          <p:nvPr/>
        </p:nvSpPr>
        <p:spPr>
          <a:xfrm>
            <a:off x="8485632" y="310896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Invoiced this week</a:t>
            </a:r>
            <a:endParaRPr lang="en-US" sz="1050" dirty="0"/>
          </a:p>
        </p:txBody>
      </p:sp>
      <p:sp>
        <p:nvSpPr>
          <p:cNvPr id="24" name="Shape 19"/>
          <p:cNvSpPr/>
          <p:nvPr/>
        </p:nvSpPr>
        <p:spPr>
          <a:xfrm>
            <a:off x="548640" y="388620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25" name="Shape 20"/>
          <p:cNvSpPr/>
          <p:nvPr/>
        </p:nvSpPr>
        <p:spPr>
          <a:xfrm>
            <a:off x="804672" y="4142232"/>
            <a:ext cx="502920" cy="502920"/>
          </a:xfrm>
          <a:prstGeom prst="ellipse">
            <a:avLst/>
          </a:prstGeom>
          <a:solidFill>
            <a:srgbClr val="3C6034"/>
          </a:solidFill>
          <a:ln/>
        </p:spPr>
      </p:sp>
      <p:pic>
        <p:nvPicPr>
          <p:cNvPr id="26" name="Image 3" descr="preencoded.png">    </p:cNvPr>
          <p:cNvPicPr>
            <a:picLocks noChangeAspect="1"/>
          </p:cNvPicPr>
          <p:nvPr/>
        </p:nvPicPr>
        <p:blipFill>
          <a:blip r:embed="rId4"/>
          <a:stretch>
            <a:fillRect/>
          </a:stretch>
        </p:blipFill>
        <p:spPr>
          <a:xfrm>
            <a:off x="932688" y="4270248"/>
            <a:ext cx="246888" cy="246888"/>
          </a:xfrm>
          <a:prstGeom prst="rect">
            <a:avLst/>
          </a:prstGeom>
        </p:spPr>
      </p:pic>
      <p:sp>
        <p:nvSpPr>
          <p:cNvPr id="27" name="Text 21"/>
          <p:cNvSpPr/>
          <p:nvPr/>
        </p:nvSpPr>
        <p:spPr>
          <a:xfrm>
            <a:off x="804672" y="480060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SAMPLES SENT</a:t>
            </a:r>
            <a:endParaRPr lang="en-US" sz="1100" dirty="0"/>
          </a:p>
        </p:txBody>
      </p:sp>
      <p:sp>
        <p:nvSpPr>
          <p:cNvPr id="28" name="Text 22"/>
          <p:cNvSpPr/>
          <p:nvPr/>
        </p:nvSpPr>
        <p:spPr>
          <a:xfrm>
            <a:off x="804672" y="507492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0</a:t>
            </a:r>
            <a:endParaRPr lang="en-US" sz="2800" dirty="0"/>
          </a:p>
        </p:txBody>
      </p:sp>
      <p:sp>
        <p:nvSpPr>
          <p:cNvPr id="29" name="Text 23"/>
          <p:cNvSpPr/>
          <p:nvPr/>
        </p:nvSpPr>
        <p:spPr>
          <a:xfrm>
            <a:off x="804672" y="576072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115 all-time</a:t>
            </a:r>
            <a:endParaRPr lang="en-US" sz="1050" dirty="0"/>
          </a:p>
        </p:txBody>
      </p:sp>
      <p:sp>
        <p:nvSpPr>
          <p:cNvPr id="30" name="Shape 24"/>
          <p:cNvSpPr/>
          <p:nvPr/>
        </p:nvSpPr>
        <p:spPr>
          <a:xfrm>
            <a:off x="4389120" y="388620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31" name="Shape 25"/>
          <p:cNvSpPr/>
          <p:nvPr/>
        </p:nvSpPr>
        <p:spPr>
          <a:xfrm>
            <a:off x="4645152" y="4142232"/>
            <a:ext cx="502920" cy="502920"/>
          </a:xfrm>
          <a:prstGeom prst="ellipse">
            <a:avLst/>
          </a:prstGeom>
          <a:solidFill>
            <a:srgbClr val="3C6034"/>
          </a:solidFill>
          <a:ln/>
        </p:spPr>
      </p:sp>
      <p:pic>
        <p:nvPicPr>
          <p:cNvPr id="32" name="Image 4" descr="preencoded.png">    </p:cNvPr>
          <p:cNvPicPr>
            <a:picLocks noChangeAspect="1"/>
          </p:cNvPicPr>
          <p:nvPr/>
        </p:nvPicPr>
        <p:blipFill>
          <a:blip r:embed="rId5"/>
          <a:stretch>
            <a:fillRect/>
          </a:stretch>
        </p:blipFill>
        <p:spPr>
          <a:xfrm>
            <a:off x="4773168" y="4270248"/>
            <a:ext cx="246888" cy="246888"/>
          </a:xfrm>
          <a:prstGeom prst="rect">
            <a:avLst/>
          </a:prstGeom>
        </p:spPr>
      </p:pic>
      <p:sp>
        <p:nvSpPr>
          <p:cNvPr id="33" name="Text 26"/>
          <p:cNvSpPr/>
          <p:nvPr/>
        </p:nvSpPr>
        <p:spPr>
          <a:xfrm>
            <a:off x="4645152" y="480060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NEW CAFÉS ONBOARDED</a:t>
            </a:r>
            <a:endParaRPr lang="en-US" sz="1100" dirty="0"/>
          </a:p>
        </p:txBody>
      </p:sp>
      <p:sp>
        <p:nvSpPr>
          <p:cNvPr id="34" name="Text 27"/>
          <p:cNvSpPr/>
          <p:nvPr/>
        </p:nvSpPr>
        <p:spPr>
          <a:xfrm>
            <a:off x="4645152" y="507492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3</a:t>
            </a:r>
            <a:endParaRPr lang="en-US" sz="2800" dirty="0"/>
          </a:p>
        </p:txBody>
      </p:sp>
      <p:sp>
        <p:nvSpPr>
          <p:cNvPr id="35" name="Text 28"/>
          <p:cNvSpPr/>
          <p:nvPr/>
        </p:nvSpPr>
        <p:spPr>
          <a:xfrm>
            <a:off x="4645152" y="576072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First paid order this week</a:t>
            </a:r>
            <a:endParaRPr lang="en-US" sz="1050" dirty="0"/>
          </a:p>
        </p:txBody>
      </p:sp>
      <p:sp>
        <p:nvSpPr>
          <p:cNvPr id="36" name="Shape 29"/>
          <p:cNvSpPr/>
          <p:nvPr/>
        </p:nvSpPr>
        <p:spPr>
          <a:xfrm>
            <a:off x="8229600" y="388620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37" name="Shape 30"/>
          <p:cNvSpPr/>
          <p:nvPr/>
        </p:nvSpPr>
        <p:spPr>
          <a:xfrm>
            <a:off x="8485632" y="4142232"/>
            <a:ext cx="502920" cy="502920"/>
          </a:xfrm>
          <a:prstGeom prst="ellipse">
            <a:avLst/>
          </a:prstGeom>
          <a:solidFill>
            <a:srgbClr val="C99A3A"/>
          </a:solidFill>
          <a:ln/>
        </p:spPr>
      </p:sp>
      <p:pic>
        <p:nvPicPr>
          <p:cNvPr id="38" name="Image 5" descr="preencoded.png">    </p:cNvPr>
          <p:cNvPicPr>
            <a:picLocks noChangeAspect="1"/>
          </p:cNvPicPr>
          <p:nvPr/>
        </p:nvPicPr>
        <p:blipFill>
          <a:blip r:embed="rId6"/>
          <a:stretch>
            <a:fillRect/>
          </a:stretch>
        </p:blipFill>
        <p:spPr>
          <a:xfrm>
            <a:off x="8613648" y="4270248"/>
            <a:ext cx="246888" cy="246888"/>
          </a:xfrm>
          <a:prstGeom prst="rect">
            <a:avLst/>
          </a:prstGeom>
        </p:spPr>
      </p:pic>
      <p:sp>
        <p:nvSpPr>
          <p:cNvPr id="39" name="Text 31"/>
          <p:cNvSpPr/>
          <p:nvPr/>
        </p:nvSpPr>
        <p:spPr>
          <a:xfrm>
            <a:off x="8485632" y="480060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OUTSTANDING INVOICES</a:t>
            </a:r>
            <a:endParaRPr lang="en-US" sz="1100" dirty="0"/>
          </a:p>
        </p:txBody>
      </p:sp>
      <p:sp>
        <p:nvSpPr>
          <p:cNvPr id="40" name="Text 32"/>
          <p:cNvSpPr/>
          <p:nvPr/>
        </p:nvSpPr>
        <p:spPr>
          <a:xfrm>
            <a:off x="8485632" y="507492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£2,937</a:t>
            </a:r>
            <a:endParaRPr lang="en-US" sz="2800" dirty="0"/>
          </a:p>
        </p:txBody>
      </p:sp>
      <p:sp>
        <p:nvSpPr>
          <p:cNvPr id="41" name="Text 33"/>
          <p:cNvSpPr/>
          <p:nvPr/>
        </p:nvSpPr>
        <p:spPr>
          <a:xfrm>
            <a:off x="8485632" y="576072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Higher than usual — worth a nudge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Active Cafés &amp; New Cafés</a:t>
            </a:r>
            <a:endParaRPr lang="en-US" sz="3000" dirty="0"/>
          </a:p>
        </p:txBody>
      </p:sp>
      <p:sp>
        <p:nvSpPr>
          <p:cNvPr id="3" name="Text 1"/>
          <p:cNvSpPr/>
          <p:nvPr/>
        </p:nvSpPr>
        <p:spPr>
          <a:xfrm>
            <a:off x="548640" y="1234440"/>
            <a:ext cx="4754880" cy="320040"/>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ACTIVE CAFÉS</a:t>
            </a:r>
            <a:endParaRPr lang="en-US" sz="1300" dirty="0"/>
          </a:p>
        </p:txBody>
      </p:sp>
      <p:sp>
        <p:nvSpPr>
          <p:cNvPr id="4" name="Shape 2"/>
          <p:cNvSpPr/>
          <p:nvPr/>
        </p:nvSpPr>
        <p:spPr>
          <a:xfrm>
            <a:off x="548640" y="1645920"/>
            <a:ext cx="4754880" cy="914400"/>
          </a:xfrm>
          <a:prstGeom prst="roundRect">
            <a:avLst>
              <a:gd name="adj" fmla="val 6000"/>
            </a:avLst>
          </a:prstGeom>
          <a:solidFill>
            <a:srgbClr val="F4F7F2"/>
          </a:solidFill>
          <a:ln/>
        </p:spPr>
      </p:sp>
      <p:sp>
        <p:nvSpPr>
          <p:cNvPr id="5" name="Text 3"/>
          <p:cNvSpPr/>
          <p:nvPr/>
        </p:nvSpPr>
        <p:spPr>
          <a:xfrm>
            <a:off x="777240" y="1783080"/>
            <a:ext cx="3291840" cy="32004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This week</a:t>
            </a:r>
            <a:endParaRPr lang="en-US" sz="1200" dirty="0"/>
          </a:p>
        </p:txBody>
      </p:sp>
      <p:sp>
        <p:nvSpPr>
          <p:cNvPr id="6" name="Text 4"/>
          <p:cNvSpPr/>
          <p:nvPr/>
        </p:nvSpPr>
        <p:spPr>
          <a:xfrm>
            <a:off x="777240" y="2011680"/>
            <a:ext cx="3291840" cy="50292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15</a:t>
            </a:r>
            <a:endParaRPr lang="en-US" sz="2600" dirty="0"/>
          </a:p>
        </p:txBody>
      </p:sp>
      <p:sp>
        <p:nvSpPr>
          <p:cNvPr id="7" name="Shape 5"/>
          <p:cNvSpPr/>
          <p:nvPr/>
        </p:nvSpPr>
        <p:spPr>
          <a:xfrm>
            <a:off x="4709160" y="1920240"/>
            <a:ext cx="457200" cy="457200"/>
          </a:xfrm>
          <a:prstGeom prst="ellipse">
            <a:avLst/>
          </a:prstGeom>
          <a:solidFill>
            <a:srgbClr val="3C6034"/>
          </a:solidFill>
          <a:ln/>
        </p:spPr>
      </p:sp>
      <p:pic>
        <p:nvPicPr>
          <p:cNvPr id="8" name="Image 0" descr="preencoded.png">    </p:cNvPr>
          <p:cNvPicPr>
            <a:picLocks noChangeAspect="1"/>
          </p:cNvPicPr>
          <p:nvPr/>
        </p:nvPicPr>
        <p:blipFill>
          <a:blip r:embed="rId1"/>
          <a:stretch>
            <a:fillRect/>
          </a:stretch>
        </p:blipFill>
        <p:spPr>
          <a:xfrm>
            <a:off x="4828032" y="2039112"/>
            <a:ext cx="219456" cy="219456"/>
          </a:xfrm>
          <a:prstGeom prst="rect">
            <a:avLst/>
          </a:prstGeom>
        </p:spPr>
      </p:pic>
      <p:sp>
        <p:nvSpPr>
          <p:cNvPr id="9" name="Shape 6"/>
          <p:cNvSpPr/>
          <p:nvPr/>
        </p:nvSpPr>
        <p:spPr>
          <a:xfrm>
            <a:off x="548640" y="2697480"/>
            <a:ext cx="4754880" cy="914400"/>
          </a:xfrm>
          <a:prstGeom prst="roundRect">
            <a:avLst>
              <a:gd name="adj" fmla="val 6000"/>
            </a:avLst>
          </a:prstGeom>
          <a:solidFill>
            <a:srgbClr val="F4F7F2"/>
          </a:solidFill>
          <a:ln/>
        </p:spPr>
      </p:sp>
      <p:sp>
        <p:nvSpPr>
          <p:cNvPr id="10" name="Text 7"/>
          <p:cNvSpPr/>
          <p:nvPr/>
        </p:nvSpPr>
        <p:spPr>
          <a:xfrm>
            <a:off x="777240" y="2834640"/>
            <a:ext cx="3291840" cy="32004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This month (Sep MTD)</a:t>
            </a:r>
            <a:endParaRPr lang="en-US" sz="1200" dirty="0"/>
          </a:p>
        </p:txBody>
      </p:sp>
      <p:sp>
        <p:nvSpPr>
          <p:cNvPr id="11" name="Text 8"/>
          <p:cNvSpPr/>
          <p:nvPr/>
        </p:nvSpPr>
        <p:spPr>
          <a:xfrm>
            <a:off x="777240" y="3063240"/>
            <a:ext cx="3291840" cy="50292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15</a:t>
            </a:r>
            <a:endParaRPr lang="en-US" sz="2600" dirty="0"/>
          </a:p>
        </p:txBody>
      </p:sp>
      <p:sp>
        <p:nvSpPr>
          <p:cNvPr id="12" name="Shape 9"/>
          <p:cNvSpPr/>
          <p:nvPr/>
        </p:nvSpPr>
        <p:spPr>
          <a:xfrm>
            <a:off x="4709160" y="2971800"/>
            <a:ext cx="457200" cy="457200"/>
          </a:xfrm>
          <a:prstGeom prst="ellipse">
            <a:avLst/>
          </a:prstGeom>
          <a:solidFill>
            <a:srgbClr val="3C6034"/>
          </a:solidFill>
          <a:ln/>
        </p:spPr>
      </p:sp>
      <p:pic>
        <p:nvPicPr>
          <p:cNvPr id="13" name="Image 1" descr="preencoded.png">    </p:cNvPr>
          <p:cNvPicPr>
            <a:picLocks noChangeAspect="1"/>
          </p:cNvPicPr>
          <p:nvPr/>
        </p:nvPicPr>
        <p:blipFill>
          <a:blip r:embed="rId2"/>
          <a:stretch>
            <a:fillRect/>
          </a:stretch>
        </p:blipFill>
        <p:spPr>
          <a:xfrm>
            <a:off x="4828032" y="3090672"/>
            <a:ext cx="219456" cy="219456"/>
          </a:xfrm>
          <a:prstGeom prst="rect">
            <a:avLst/>
          </a:prstGeom>
        </p:spPr>
      </p:pic>
      <p:sp>
        <p:nvSpPr>
          <p:cNvPr id="14" name="Text 10"/>
          <p:cNvSpPr/>
          <p:nvPr/>
        </p:nvSpPr>
        <p:spPr>
          <a:xfrm>
            <a:off x="548640" y="3794760"/>
            <a:ext cx="4754880" cy="320040"/>
          </a:xfrm>
          <a:prstGeom prst="rect">
            <a:avLst/>
          </a:prstGeom>
          <a:noFill/>
          <a:ln/>
        </p:spPr>
        <p:txBody>
          <a:bodyPr wrap="square" lIns="0" tIns="0" rIns="0" bIns="0" rtlCol="0" anchor="ctr"/>
          <a:lstStyle/>
          <a:p>
            <a:pPr indent="0" marL="0">
              <a:buNone/>
            </a:pPr>
            <a:r>
              <a:rPr lang="en-US" sz="1100" i="1" dirty="0">
                <a:solidFill>
                  <a:srgbClr val="6E7568"/>
                </a:solidFill>
                <a:latin typeface="Calibri" pitchFamily="34" charset="0"/>
                <a:ea typeface="Calibri" pitchFamily="34" charset="-122"/>
                <a:cs typeface="Calibri" pitchFamily="34" charset="-120"/>
              </a:rPr>
              <a:t>84 active partners all-time</a:t>
            </a:r>
            <a:endParaRPr lang="en-US" sz="1100" dirty="0"/>
          </a:p>
        </p:txBody>
      </p:sp>
      <p:sp>
        <p:nvSpPr>
          <p:cNvPr id="15" name="Text 11"/>
          <p:cNvSpPr/>
          <p:nvPr/>
        </p:nvSpPr>
        <p:spPr>
          <a:xfrm>
            <a:off x="5760720" y="1234440"/>
            <a:ext cx="5852160" cy="292608"/>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NEW CAFÉS ONBOARDED THIS WEEK</a:t>
            </a:r>
            <a:endParaRPr lang="en-US" sz="1300" dirty="0"/>
          </a:p>
        </p:txBody>
      </p:sp>
      <p:sp>
        <p:nvSpPr>
          <p:cNvPr id="16" name="Text 12"/>
          <p:cNvSpPr/>
          <p:nvPr/>
        </p:nvSpPr>
        <p:spPr>
          <a:xfrm>
            <a:off x="5760720" y="1600200"/>
            <a:ext cx="5852160" cy="1289304"/>
          </a:xfrm>
          <a:prstGeom prst="rect">
            <a:avLst/>
          </a:prstGeom>
          <a:noFill/>
          <a:ln/>
        </p:spPr>
        <p:txBody>
          <a:bodyPr wrap="square" rtlCol="0" anchor="ctr"/>
          <a:lstStyle/>
          <a:p>
            <a:pPr marL="342900" indent="-342900">
              <a:spcAft>
                <a:spcPts val="700"/>
              </a:spcAft>
              <a:buSzPct val="100000"/>
              <a:buChar char="●"/>
            </a:pPr>
            <a:r>
              <a:rPr lang="en-US" sz="1450" dirty="0">
                <a:solidFill>
                  <a:srgbClr val="20291F"/>
                </a:solidFill>
                <a:latin typeface="Calibri" pitchFamily="34" charset="0"/>
                <a:ea typeface="Calibri" pitchFamily="34" charset="-122"/>
                <a:cs typeface="Calibri" pitchFamily="34" charset="-120"/>
              </a:rPr>
              <a:t>WE ARE LARDER, CARELTON (Pending Confirmation)</a:t>
            </a:r>
            <a:endParaRPr lang="en-US" sz="1450" dirty="0"/>
          </a:p>
          <a:p>
            <a:pPr marL="342900" indent="-342900">
              <a:spcAft>
                <a:spcPts val="700"/>
              </a:spcAft>
              <a:buSzPct val="100000"/>
              <a:buChar char="●"/>
            </a:pPr>
            <a:r>
              <a:rPr lang="en-US" sz="1450" dirty="0">
                <a:solidFill>
                  <a:srgbClr val="20291F"/>
                </a:solidFill>
                <a:latin typeface="Calibri" pitchFamily="34" charset="0"/>
                <a:ea typeface="Calibri" pitchFamily="34" charset="-122"/>
                <a:cs typeface="Calibri" pitchFamily="34" charset="-120"/>
              </a:rPr>
              <a:t>TheMatchaMam (Pending Confirmation)</a:t>
            </a:r>
            <a:endParaRPr lang="en-US" sz="1450" dirty="0"/>
          </a:p>
          <a:p>
            <a:pPr marL="342900" indent="-342900">
              <a:spcAft>
                <a:spcPts val="700"/>
              </a:spcAft>
              <a:buSzPct val="100000"/>
              <a:buChar char="●"/>
            </a:pPr>
            <a:r>
              <a:rPr lang="en-US" sz="1450" dirty="0">
                <a:solidFill>
                  <a:srgbClr val="20291F"/>
                </a:solidFill>
                <a:latin typeface="Calibri" pitchFamily="34" charset="0"/>
                <a:ea typeface="Calibri" pitchFamily="34" charset="-122"/>
                <a:cs typeface="Calibri" pitchFamily="34" charset="-120"/>
              </a:rPr>
              <a:t>Veloce Coffee (Pending Confirmation)</a:t>
            </a:r>
            <a:endParaRPr lang="en-US" sz="1450" dirty="0"/>
          </a:p>
        </p:txBody>
      </p:sp>
      <p:sp>
        <p:nvSpPr>
          <p:cNvPr id="17" name="Text 13"/>
          <p:cNvSpPr/>
          <p:nvPr/>
        </p:nvSpPr>
        <p:spPr>
          <a:xfrm>
            <a:off x="5760720" y="3255264"/>
            <a:ext cx="5852160" cy="292608"/>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REACTIVATED THIS WEEK — WELCOME BACK</a:t>
            </a:r>
            <a:endParaRPr lang="en-US" sz="1300" dirty="0"/>
          </a:p>
        </p:txBody>
      </p:sp>
      <p:sp>
        <p:nvSpPr>
          <p:cNvPr id="18" name="Text 14"/>
          <p:cNvSpPr/>
          <p:nvPr/>
        </p:nvSpPr>
        <p:spPr>
          <a:xfrm>
            <a:off x="5760720" y="3621024"/>
            <a:ext cx="5852160" cy="320040"/>
          </a:xfrm>
          <a:prstGeom prst="rect">
            <a:avLst/>
          </a:prstGeom>
          <a:noFill/>
          <a:ln/>
        </p:spPr>
        <p:txBody>
          <a:bodyPr wrap="square" lIns="0" tIns="0" rIns="0" bIns="0" rtlCol="0" anchor="ctr"/>
          <a:lstStyle/>
          <a:p>
            <a:pPr indent="0" marL="0">
              <a:buNone/>
            </a:pPr>
            <a:r>
              <a:rPr lang="en-US" sz="1200" i="1" dirty="0">
                <a:solidFill>
                  <a:srgbClr val="6E7568"/>
                </a:solidFill>
                <a:latin typeface="Calibri" pitchFamily="34" charset="0"/>
                <a:ea typeface="Calibri" pitchFamily="34" charset="-122"/>
                <a:cs typeface="Calibri" pitchFamily="34" charset="-120"/>
              </a:rPr>
              <a:t>No returning cafés this week.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Highlights</a:t>
            </a:r>
            <a:endParaRPr lang="en-US" sz="3000" dirty="0"/>
          </a:p>
        </p:txBody>
      </p:sp>
      <p:sp>
        <p:nvSpPr>
          <p:cNvPr id="3" name="Text 1"/>
          <p:cNvSpPr/>
          <p:nvPr/>
        </p:nvSpPr>
        <p:spPr>
          <a:xfrm>
            <a:off x="548640" y="1234440"/>
            <a:ext cx="11064240" cy="320040"/>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TOP CAFÉS THIS MONTH</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7040880"/>
                <a:gridCol w="2011680"/>
                <a:gridCol w="201168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Café</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Orders</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Revenue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WE ARE LARDER, CARELTON</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£1,200</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Chiya Cafe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£537</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KOVA CAFE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£457</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HER DAYS Cafe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£442</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Lookumades, Canterbury</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£370</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5" name="Shape 2"/>
          <p:cNvSpPr/>
          <p:nvPr/>
        </p:nvSpPr>
        <p:spPr>
          <a:xfrm>
            <a:off x="548640" y="4279392"/>
            <a:ext cx="5349240" cy="1280160"/>
          </a:xfrm>
          <a:prstGeom prst="roundRect">
            <a:avLst>
              <a:gd name="adj" fmla="val 4286"/>
            </a:avLst>
          </a:prstGeom>
          <a:solidFill>
            <a:srgbClr val="FBF3E3"/>
          </a:solidFill>
          <a:ln/>
        </p:spPr>
      </p:sp>
      <p:sp>
        <p:nvSpPr>
          <p:cNvPr id="6" name="Shape 3"/>
          <p:cNvSpPr/>
          <p:nvPr/>
        </p:nvSpPr>
        <p:spPr>
          <a:xfrm>
            <a:off x="777240" y="4462272"/>
            <a:ext cx="457200" cy="457200"/>
          </a:xfrm>
          <a:prstGeom prst="ellipse">
            <a:avLst/>
          </a:prstGeom>
          <a:solidFill>
            <a:srgbClr val="C99A3A"/>
          </a:solidFill>
          <a:ln/>
        </p:spPr>
      </p:sp>
      <p:pic>
        <p:nvPicPr>
          <p:cNvPr id="7" name="Image 0" descr="preencoded.png">    </p:cNvPr>
          <p:cNvPicPr>
            <a:picLocks noChangeAspect="1"/>
          </p:cNvPicPr>
          <p:nvPr/>
        </p:nvPicPr>
        <p:blipFill>
          <a:blip r:embed="rId1"/>
          <a:stretch>
            <a:fillRect/>
          </a:stretch>
        </p:blipFill>
        <p:spPr>
          <a:xfrm>
            <a:off x="886968" y="4572000"/>
            <a:ext cx="237744" cy="237744"/>
          </a:xfrm>
          <a:prstGeom prst="rect">
            <a:avLst/>
          </a:prstGeom>
        </p:spPr>
      </p:pic>
      <p:sp>
        <p:nvSpPr>
          <p:cNvPr id="8" name="Text 4"/>
          <p:cNvSpPr/>
          <p:nvPr/>
        </p:nvSpPr>
        <p:spPr>
          <a:xfrm>
            <a:off x="1417320" y="4398264"/>
            <a:ext cx="4480560" cy="960120"/>
          </a:xfrm>
          <a:prstGeom prst="rect">
            <a:avLst/>
          </a:prstGeom>
          <a:noFill/>
          <a:ln/>
        </p:spPr>
        <p:txBody>
          <a:bodyPr wrap="square" lIns="0" tIns="0" rIns="0" bIns="0" rtlCol="0" anchor="ctr"/>
          <a:lstStyle/>
          <a:p>
            <a:pPr indent="0" marL="0">
              <a:buNone/>
            </a:pPr>
            <a:r>
              <a:rPr lang="en-US" sz="1500" b="1" dirty="0">
                <a:solidFill>
                  <a:srgbClr val="7A5A12"/>
                </a:solidFill>
                <a:latin typeface="Calibri" pitchFamily="34" charset="0"/>
                <a:ea typeface="Calibri" pitchFamily="34" charset="-122"/>
                <a:cs typeface="Calibri" pitchFamily="34" charset="-120"/>
              </a:rPr>
              <a:t>£2,937 outstanding</a:t>
            </a:r>
            <a:endParaRPr lang="en-US" sz="1500" dirty="0"/>
          </a:p>
          <a:p>
            <a:pPr indent="0" marL="0">
              <a:buNone/>
            </a:pPr>
            <a:r>
              <a:rPr lang="en-US" sz="1200" dirty="0">
                <a:solidFill>
                  <a:srgbClr val="6B5527"/>
                </a:solidFill>
                <a:latin typeface="Calibri" pitchFamily="34" charset="0"/>
                <a:ea typeface="Calibri" pitchFamily="34" charset="-122"/>
                <a:cs typeface="Calibri" pitchFamily="34" charset="-120"/>
              </a:rPr>
              <a:t>A larger share of this week's revenue than usual is still unpaid. Nothing's overdue yet — worth a light nudge before it ages.</a:t>
            </a:r>
            <a:endParaRPr lang="en-US" sz="1500" dirty="0"/>
          </a:p>
        </p:txBody>
      </p:sp>
      <p:sp>
        <p:nvSpPr>
          <p:cNvPr id="9" name="Shape 5"/>
          <p:cNvSpPr/>
          <p:nvPr/>
        </p:nvSpPr>
        <p:spPr>
          <a:xfrm>
            <a:off x="6263640" y="4279392"/>
            <a:ext cx="5349240" cy="1280160"/>
          </a:xfrm>
          <a:prstGeom prst="roundRect">
            <a:avLst>
              <a:gd name="adj" fmla="val 4286"/>
            </a:avLst>
          </a:prstGeom>
          <a:solidFill>
            <a:srgbClr val="F4F7F2"/>
          </a:solidFill>
          <a:ln/>
        </p:spPr>
      </p:sp>
      <p:sp>
        <p:nvSpPr>
          <p:cNvPr id="10" name="Shape 6"/>
          <p:cNvSpPr/>
          <p:nvPr/>
        </p:nvSpPr>
        <p:spPr>
          <a:xfrm>
            <a:off x="6492240" y="4462272"/>
            <a:ext cx="457200" cy="457200"/>
          </a:xfrm>
          <a:prstGeom prst="ellipse">
            <a:avLst/>
          </a:prstGeom>
          <a:solidFill>
            <a:srgbClr val="3C6034"/>
          </a:solidFill>
          <a:ln/>
        </p:spPr>
      </p:sp>
      <p:pic>
        <p:nvPicPr>
          <p:cNvPr id="11" name="Image 1" descr="preencoded.png">    </p:cNvPr>
          <p:cNvPicPr>
            <a:picLocks noChangeAspect="1"/>
          </p:cNvPicPr>
          <p:nvPr/>
        </p:nvPicPr>
        <p:blipFill>
          <a:blip r:embed="rId2"/>
          <a:stretch>
            <a:fillRect/>
          </a:stretch>
        </p:blipFill>
        <p:spPr>
          <a:xfrm>
            <a:off x="6601968" y="4572000"/>
            <a:ext cx="237744" cy="237744"/>
          </a:xfrm>
          <a:prstGeom prst="rect">
            <a:avLst/>
          </a:prstGeom>
        </p:spPr>
      </p:pic>
      <p:sp>
        <p:nvSpPr>
          <p:cNvPr id="12" name="Text 7"/>
          <p:cNvSpPr/>
          <p:nvPr/>
        </p:nvSpPr>
        <p:spPr>
          <a:xfrm>
            <a:off x="7132320" y="4398264"/>
            <a:ext cx="4480560" cy="960120"/>
          </a:xfrm>
          <a:prstGeom prst="rect">
            <a:avLst/>
          </a:prstGeom>
          <a:noFill/>
          <a:ln/>
        </p:spPr>
        <p:txBody>
          <a:bodyPr wrap="square" lIns="0" tIns="0" rIns="0" bIns="0" rtlCol="0" anchor="ctr"/>
          <a:lstStyle/>
          <a:p>
            <a:pPr indent="0" marL="0">
              <a:buNone/>
            </a:pPr>
            <a:r>
              <a:rPr lang="en-US" sz="1500" b="1" dirty="0">
                <a:solidFill>
                  <a:srgbClr val="3C6034"/>
                </a:solidFill>
                <a:latin typeface="Calibri" pitchFamily="34" charset="0"/>
                <a:ea typeface="Calibri" pitchFamily="34" charset="-122"/>
                <a:cs typeface="Calibri" pitchFamily="34" charset="-120"/>
              </a:rPr>
              <a:t>This week's focus</a:t>
            </a:r>
            <a:endParaRPr lang="en-US" sz="1500" dirty="0"/>
          </a:p>
          <a:p>
            <a:pPr indent="0" marL="0">
              <a:buNone/>
            </a:pPr>
            <a:r>
              <a:rPr lang="en-US" sz="1200" dirty="0">
                <a:solidFill>
                  <a:srgbClr val="6E7568"/>
                </a:solidFill>
                <a:latin typeface="Calibri" pitchFamily="34" charset="0"/>
                <a:ea typeface="Calibri" pitchFamily="34" charset="-122"/>
                <a:cs typeface="Calibri" pitchFamily="34" charset="-120"/>
              </a:rPr>
              <a:t>3 new cafés placed a first order this week — a good moment for a quick check-in call to lock in reorder habits early.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Monthly Kg Goal — September 2026</a:t>
            </a:r>
            <a:endParaRPr lang="en-US" sz="3000" dirty="0"/>
          </a:p>
        </p:txBody>
      </p:sp>
      <p:sp>
        <p:nvSpPr>
          <p:cNvPr id="3" name="Text 1"/>
          <p:cNvSpPr/>
          <p:nvPr/>
        </p:nvSpPr>
        <p:spPr>
          <a:xfrm>
            <a:off x="548640" y="960120"/>
            <a:ext cx="9144000" cy="274320"/>
          </a:xfrm>
          <a:prstGeom prst="rect">
            <a:avLst/>
          </a:prstGeom>
          <a:noFill/>
          <a:ln/>
        </p:spPr>
        <p:txBody>
          <a:bodyPr wrap="square" lIns="0" tIns="0" rIns="0" bIns="0" rtlCol="0" anchor="ctr"/>
          <a:lstStyle/>
          <a:p>
            <a:pPr indent="0" marL="0">
              <a:buNone/>
            </a:pPr>
            <a:r>
              <a:rPr lang="en-US" sz="1300" b="1" dirty="0">
                <a:solidFill>
                  <a:srgbClr val="20291F"/>
                </a:solidFill>
                <a:latin typeface="Calibri" pitchFamily="34" charset="0"/>
                <a:ea typeface="Calibri" pitchFamily="34" charset="-122"/>
                <a:cs typeface="Calibri" pitchFamily="34" charset="-120"/>
              </a:rPr>
              <a:t>33.7 kg shipped</a:t>
            </a:r>
            <a:pPr indent="0" marL="0">
              <a:buNone/>
            </a:pPr>
            <a:r>
              <a:rPr lang="en-US" sz="1300" dirty="0">
                <a:solidFill>
                  <a:srgbClr val="6E7568"/>
                </a:solidFill>
                <a:latin typeface="Calibri" pitchFamily="34" charset="0"/>
                <a:ea typeface="Calibri" pitchFamily="34" charset="-122"/>
                <a:cs typeface="Calibri" pitchFamily="34" charset="-120"/>
              </a:rPr>
              <a:t>  ·  of 324 kg target</a:t>
            </a:r>
            <a:endParaRPr lang="en-US" sz="1300" dirty="0"/>
          </a:p>
        </p:txBody>
      </p:sp>
      <p:sp>
        <p:nvSpPr>
          <p:cNvPr id="4" name="Text 2"/>
          <p:cNvSpPr/>
          <p:nvPr/>
        </p:nvSpPr>
        <p:spPr>
          <a:xfrm>
            <a:off x="10241280" y="941832"/>
            <a:ext cx="1371600" cy="292608"/>
          </a:xfrm>
          <a:prstGeom prst="rect">
            <a:avLst/>
          </a:prstGeom>
          <a:noFill/>
          <a:ln/>
        </p:spPr>
        <p:txBody>
          <a:bodyPr wrap="square" lIns="0" tIns="0" rIns="0" bIns="0" rtlCol="0" anchor="ctr"/>
          <a:lstStyle/>
          <a:p>
            <a:pPr algn="r" indent="0" marL="0">
              <a:buNone/>
            </a:pPr>
            <a:r>
              <a:rPr lang="en-US" sz="1400" b="1" dirty="0">
                <a:solidFill>
                  <a:srgbClr val="20291F"/>
                </a:solidFill>
                <a:latin typeface="Calibri" pitchFamily="34" charset="0"/>
                <a:ea typeface="Calibri" pitchFamily="34" charset="-122"/>
                <a:cs typeface="Calibri" pitchFamily="34" charset="-120"/>
              </a:rPr>
              <a:t>10.4%</a:t>
            </a:r>
            <a:endParaRPr lang="en-US" sz="1400" dirty="0"/>
          </a:p>
        </p:txBody>
      </p:sp>
      <p:sp>
        <p:nvSpPr>
          <p:cNvPr id="5" name="Shape 3"/>
          <p:cNvSpPr/>
          <p:nvPr/>
        </p:nvSpPr>
        <p:spPr>
          <a:xfrm>
            <a:off x="548640" y="1325880"/>
            <a:ext cx="11064240" cy="365760"/>
          </a:xfrm>
          <a:prstGeom prst="roundRect">
            <a:avLst>
              <a:gd name="adj" fmla="val 15000"/>
            </a:avLst>
          </a:prstGeom>
          <a:solidFill>
            <a:srgbClr val="E7EDE3"/>
          </a:solidFill>
          <a:ln/>
        </p:spPr>
      </p:sp>
      <p:sp>
        <p:nvSpPr>
          <p:cNvPr id="6" name="Shape 4"/>
          <p:cNvSpPr/>
          <p:nvPr/>
        </p:nvSpPr>
        <p:spPr>
          <a:xfrm>
            <a:off x="548640" y="1325880"/>
            <a:ext cx="1063991" cy="365760"/>
          </a:xfrm>
          <a:prstGeom prst="roundRect">
            <a:avLst>
              <a:gd name="adj" fmla="val 15000"/>
            </a:avLst>
          </a:prstGeom>
          <a:solidFill>
            <a:srgbClr val="3C6034"/>
          </a:solidFill>
          <a:ln/>
        </p:spPr>
      </p:sp>
      <p:sp>
        <p:nvSpPr>
          <p:cNvPr id="7" name="Shape 5"/>
          <p:cNvSpPr/>
          <p:nvPr/>
        </p:nvSpPr>
        <p:spPr>
          <a:xfrm>
            <a:off x="10784163" y="1261872"/>
            <a:ext cx="18288" cy="493776"/>
          </a:xfrm>
          <a:prstGeom prst="rect">
            <a:avLst/>
          </a:prstGeom>
          <a:solidFill>
            <a:srgbClr val="6E7568"/>
          </a:solidFill>
          <a:ln/>
        </p:spPr>
      </p:sp>
      <p:sp>
        <p:nvSpPr>
          <p:cNvPr id="8" name="Text 6"/>
          <p:cNvSpPr/>
          <p:nvPr/>
        </p:nvSpPr>
        <p:spPr>
          <a:xfrm>
            <a:off x="10107507" y="1746504"/>
            <a:ext cx="1371600" cy="219456"/>
          </a:xfrm>
          <a:prstGeom prst="rect">
            <a:avLst/>
          </a:prstGeom>
          <a:noFill/>
          <a:ln/>
        </p:spPr>
        <p:txBody>
          <a:bodyPr wrap="square" lIns="0" tIns="0" rIns="0" bIns="0" rtlCol="0" anchor="ctr"/>
          <a:lstStyle/>
          <a:p>
            <a:pPr algn="ctr" indent="0" marL="0">
              <a:buNone/>
            </a:pPr>
            <a:r>
              <a:rPr lang="en-US" sz="850" dirty="0">
                <a:solidFill>
                  <a:srgbClr val="6E7568"/>
                </a:solidFill>
                <a:latin typeface="Calibri" pitchFamily="34" charset="0"/>
                <a:ea typeface="Calibri" pitchFamily="34" charset="-122"/>
                <a:cs typeface="Calibri" pitchFamily="34" charset="-120"/>
              </a:rPr>
              <a:t>Target 324 kg</a:t>
            </a:r>
            <a:endParaRPr lang="en-US" sz="850" dirty="0"/>
          </a:p>
        </p:txBody>
      </p:sp>
      <p:sp>
        <p:nvSpPr>
          <p:cNvPr id="9" name="Text 7"/>
          <p:cNvSpPr/>
          <p:nvPr/>
        </p:nvSpPr>
        <p:spPr>
          <a:xfrm>
            <a:off x="548640" y="2057400"/>
            <a:ext cx="11064240" cy="274320"/>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Aug target: 266 kg  →  +58 kg growth target = 324 kg</a:t>
            </a:r>
            <a:endParaRPr lang="en-US" sz="1150" dirty="0"/>
          </a:p>
        </p:txBody>
      </p:sp>
      <p:sp>
        <p:nvSpPr>
          <p:cNvPr id="10" name="Text 8"/>
          <p:cNvSpPr/>
          <p:nvPr/>
        </p:nvSpPr>
        <p:spPr>
          <a:xfrm>
            <a:off x="548640" y="2377440"/>
            <a:ext cx="11064240" cy="548640"/>
          </a:xfrm>
          <a:prstGeom prst="rect">
            <a:avLst/>
          </a:prstGeom>
          <a:noFill/>
          <a:ln/>
        </p:spPr>
        <p:txBody>
          <a:bodyPr wrap="square" lIns="0" tIns="0" rIns="0" bIns="0" rtlCol="0" anchor="ctr"/>
          <a:lstStyle/>
          <a:p>
            <a:pPr indent="0" marL="0">
              <a:buNone/>
            </a:pPr>
            <a:r>
              <a:rPr lang="en-US" sz="1250" dirty="0">
                <a:solidFill>
                  <a:srgbClr val="6E7568"/>
                </a:solidFill>
                <a:latin typeface="Calibri" pitchFamily="34" charset="0"/>
                <a:ea typeface="Calibri" pitchFamily="34" charset="-122"/>
                <a:cs typeface="Calibri" pitchFamily="34" charset="-120"/>
              </a:rPr>
              <a:t>Only 7 days into September with 33.65kg shipped (10.4% of the 324kg floor) — at the current ~4.8kg/day pace that's roughly 144kg for the month, well short of target. Hitting the floor needs about 12.6kg/day for the remaining 23 days, roughly 2.6x the current rate.</a:t>
            </a:r>
            <a:endParaRPr lang="en-US" sz="1250" dirty="0"/>
          </a:p>
        </p:txBody>
      </p:sp>
      <p:sp>
        <p:nvSpPr>
          <p:cNvPr id="11" name="Text 9"/>
          <p:cNvSpPr/>
          <p:nvPr/>
        </p:nvSpPr>
        <p:spPr>
          <a:xfrm>
            <a:off x="548640" y="2926080"/>
            <a:ext cx="11064240" cy="274320"/>
          </a:xfrm>
          <a:prstGeom prst="rect">
            <a:avLst/>
          </a:prstGeom>
          <a:noFill/>
          <a:ln/>
        </p:spPr>
        <p:txBody>
          <a:bodyPr wrap="square" lIns="0" tIns="0" rIns="0" bIns="0" rtlCol="0" anchor="ctr"/>
          <a:lstStyle/>
          <a:p>
            <a:pPr indent="0" marL="0">
              <a:buNone/>
            </a:pPr>
            <a:r>
              <a:rPr lang="en-US" sz="1200" b="1" spc="100" kern="0" dirty="0">
                <a:solidFill>
                  <a:srgbClr val="3C6034"/>
                </a:solidFill>
                <a:latin typeface="Calibri" pitchFamily="34" charset="0"/>
                <a:ea typeface="Calibri" pitchFamily="34" charset="-122"/>
                <a:cs typeface="Calibri" pitchFamily="34" charset="-120"/>
              </a:rPr>
              <a:t>MONTHLY KG GROWTH TRAJECTORY</a:t>
            </a:r>
            <a:endParaRPr lang="en-US" sz="1200" dirty="0"/>
          </a:p>
        </p:txBody>
      </p:sp>
      <p:sp>
        <p:nvSpPr>
          <p:cNvPr id="12" name="Shape 10"/>
          <p:cNvSpPr/>
          <p:nvPr/>
        </p:nvSpPr>
        <p:spPr>
          <a:xfrm>
            <a:off x="548640" y="3291840"/>
            <a:ext cx="1007669" cy="960120"/>
          </a:xfrm>
          <a:prstGeom prst="roundRect">
            <a:avLst>
              <a:gd name="adj" fmla="val 5714"/>
            </a:avLst>
          </a:prstGeom>
          <a:solidFill>
            <a:srgbClr val="E7F0E3"/>
          </a:solidFill>
          <a:ln/>
        </p:spPr>
      </p:sp>
      <p:sp>
        <p:nvSpPr>
          <p:cNvPr id="13" name="Text 11"/>
          <p:cNvSpPr/>
          <p:nvPr/>
        </p:nvSpPr>
        <p:spPr>
          <a:xfrm>
            <a:off x="548640" y="3364992"/>
            <a:ext cx="1007669" cy="256032"/>
          </a:xfrm>
          <a:prstGeom prst="rect">
            <a:avLst/>
          </a:prstGeom>
          <a:noFill/>
          <a:ln/>
        </p:spPr>
        <p:txBody>
          <a:bodyPr wrap="square" lIns="0" tIns="0" rIns="0" bIns="0" rtlCol="0" anchor="ctr"/>
          <a:lstStyle/>
          <a:p>
            <a:pPr algn="ctr" indent="0" marL="0">
              <a:buNone/>
            </a:pPr>
            <a:r>
              <a:rPr lang="en-US" sz="1000" dirty="0">
                <a:solidFill>
                  <a:srgbClr val="3C7A3F"/>
                </a:solidFill>
                <a:latin typeface="Calibri" pitchFamily="34" charset="0"/>
                <a:ea typeface="Calibri" pitchFamily="34" charset="-122"/>
                <a:cs typeface="Calibri" pitchFamily="34" charset="-120"/>
              </a:rPr>
              <a:t>Jun</a:t>
            </a:r>
            <a:endParaRPr lang="en-US" sz="1000" dirty="0"/>
          </a:p>
        </p:txBody>
      </p:sp>
      <p:sp>
        <p:nvSpPr>
          <p:cNvPr id="14" name="Text 12"/>
          <p:cNvSpPr/>
          <p:nvPr/>
        </p:nvSpPr>
        <p:spPr>
          <a:xfrm>
            <a:off x="548640"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150.5 kg</a:t>
            </a:r>
            <a:endParaRPr lang="en-US" sz="1300" dirty="0"/>
          </a:p>
        </p:txBody>
      </p:sp>
      <p:sp>
        <p:nvSpPr>
          <p:cNvPr id="15" name="Text 13"/>
          <p:cNvSpPr/>
          <p:nvPr/>
        </p:nvSpPr>
        <p:spPr>
          <a:xfrm>
            <a:off x="548640" y="3913632"/>
            <a:ext cx="1007669" cy="274320"/>
          </a:xfrm>
          <a:prstGeom prst="rect">
            <a:avLst/>
          </a:prstGeom>
          <a:noFill/>
          <a:ln/>
        </p:spPr>
        <p:txBody>
          <a:bodyPr wrap="square" lIns="0" tIns="0" rIns="0" bIns="0" rtlCol="0" anchor="ctr"/>
          <a:lstStyle/>
          <a:p>
            <a:pPr algn="ctr" indent="0" marL="0">
              <a:buNone/>
            </a:pPr>
            <a:r>
              <a:rPr lang="en-US" sz="900" dirty="0">
                <a:solidFill>
                  <a:srgbClr val="3C7A3F"/>
                </a:solidFill>
                <a:latin typeface="Calibri" pitchFamily="34" charset="0"/>
                <a:ea typeface="Calibri" pitchFamily="34" charset="-122"/>
                <a:cs typeface="Calibri" pitchFamily="34" charset="-120"/>
              </a:rPr>
              <a:t>beat 150 kg tgt</a:t>
            </a:r>
            <a:endParaRPr lang="en-US" sz="900" dirty="0"/>
          </a:p>
        </p:txBody>
      </p:sp>
      <p:sp>
        <p:nvSpPr>
          <p:cNvPr id="16" name="Shape 14"/>
          <p:cNvSpPr/>
          <p:nvPr/>
        </p:nvSpPr>
        <p:spPr>
          <a:xfrm>
            <a:off x="1666037" y="3291840"/>
            <a:ext cx="1007669" cy="960120"/>
          </a:xfrm>
          <a:prstGeom prst="roundRect">
            <a:avLst>
              <a:gd name="adj" fmla="val 5714"/>
            </a:avLst>
          </a:prstGeom>
          <a:solidFill>
            <a:srgbClr val="F4F7F2"/>
          </a:solidFill>
          <a:ln/>
        </p:spPr>
      </p:sp>
      <p:sp>
        <p:nvSpPr>
          <p:cNvPr id="17" name="Text 15"/>
          <p:cNvSpPr/>
          <p:nvPr/>
        </p:nvSpPr>
        <p:spPr>
          <a:xfrm>
            <a:off x="1666037"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Jul</a:t>
            </a:r>
            <a:endParaRPr lang="en-US" sz="1000" dirty="0"/>
          </a:p>
        </p:txBody>
      </p:sp>
      <p:sp>
        <p:nvSpPr>
          <p:cNvPr id="18" name="Text 16"/>
          <p:cNvSpPr/>
          <p:nvPr/>
        </p:nvSpPr>
        <p:spPr>
          <a:xfrm>
            <a:off x="1666037"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134.8 kg</a:t>
            </a:r>
            <a:endParaRPr lang="en-US" sz="1300" dirty="0"/>
          </a:p>
        </p:txBody>
      </p:sp>
      <p:sp>
        <p:nvSpPr>
          <p:cNvPr id="19" name="Text 17"/>
          <p:cNvSpPr/>
          <p:nvPr/>
        </p:nvSpPr>
        <p:spPr>
          <a:xfrm>
            <a:off x="1666037"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 208 kg</a:t>
            </a:r>
            <a:endParaRPr lang="en-US" sz="900" dirty="0"/>
          </a:p>
        </p:txBody>
      </p:sp>
      <p:sp>
        <p:nvSpPr>
          <p:cNvPr id="20" name="Shape 18"/>
          <p:cNvSpPr/>
          <p:nvPr/>
        </p:nvSpPr>
        <p:spPr>
          <a:xfrm>
            <a:off x="2783434" y="3291840"/>
            <a:ext cx="1007669" cy="960120"/>
          </a:xfrm>
          <a:prstGeom prst="roundRect">
            <a:avLst>
              <a:gd name="adj" fmla="val 5714"/>
            </a:avLst>
          </a:prstGeom>
          <a:solidFill>
            <a:srgbClr val="F4F7F2"/>
          </a:solidFill>
          <a:ln/>
        </p:spPr>
      </p:sp>
      <p:sp>
        <p:nvSpPr>
          <p:cNvPr id="21" name="Text 19"/>
          <p:cNvSpPr/>
          <p:nvPr/>
        </p:nvSpPr>
        <p:spPr>
          <a:xfrm>
            <a:off x="2783434"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Aug</a:t>
            </a:r>
            <a:endParaRPr lang="en-US" sz="1000" dirty="0"/>
          </a:p>
        </p:txBody>
      </p:sp>
      <p:sp>
        <p:nvSpPr>
          <p:cNvPr id="22" name="Text 20"/>
          <p:cNvSpPr/>
          <p:nvPr/>
        </p:nvSpPr>
        <p:spPr>
          <a:xfrm>
            <a:off x="2783434"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204.1 kg</a:t>
            </a:r>
            <a:endParaRPr lang="en-US" sz="1300" dirty="0"/>
          </a:p>
        </p:txBody>
      </p:sp>
      <p:sp>
        <p:nvSpPr>
          <p:cNvPr id="23" name="Text 21"/>
          <p:cNvSpPr/>
          <p:nvPr/>
        </p:nvSpPr>
        <p:spPr>
          <a:xfrm>
            <a:off x="2783434"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 266 kg</a:t>
            </a:r>
            <a:endParaRPr lang="en-US" sz="900" dirty="0"/>
          </a:p>
        </p:txBody>
      </p:sp>
      <p:sp>
        <p:nvSpPr>
          <p:cNvPr id="24" name="Shape 22"/>
          <p:cNvSpPr/>
          <p:nvPr/>
        </p:nvSpPr>
        <p:spPr>
          <a:xfrm>
            <a:off x="3900830" y="3291840"/>
            <a:ext cx="1007669" cy="960120"/>
          </a:xfrm>
          <a:prstGeom prst="roundRect">
            <a:avLst>
              <a:gd name="adj" fmla="val 5714"/>
            </a:avLst>
          </a:prstGeom>
          <a:solidFill>
            <a:srgbClr val="3C6034"/>
          </a:solidFill>
          <a:ln/>
        </p:spPr>
      </p:sp>
      <p:sp>
        <p:nvSpPr>
          <p:cNvPr id="25" name="Text 23"/>
          <p:cNvSpPr/>
          <p:nvPr/>
        </p:nvSpPr>
        <p:spPr>
          <a:xfrm>
            <a:off x="3900830" y="3364992"/>
            <a:ext cx="1007669" cy="256032"/>
          </a:xfrm>
          <a:prstGeom prst="rect">
            <a:avLst/>
          </a:prstGeom>
          <a:noFill/>
          <a:ln/>
        </p:spPr>
        <p:txBody>
          <a:bodyPr wrap="square" lIns="0" tIns="0" rIns="0" bIns="0" rtlCol="0" anchor="ctr"/>
          <a:lstStyle/>
          <a:p>
            <a:pPr algn="ctr" indent="0" marL="0">
              <a:buNone/>
            </a:pPr>
            <a:r>
              <a:rPr lang="en-US" sz="1000" dirty="0">
                <a:solidFill>
                  <a:srgbClr val="D9E4D3"/>
                </a:solidFill>
                <a:latin typeface="Calibri" pitchFamily="34" charset="0"/>
                <a:ea typeface="Calibri" pitchFamily="34" charset="-122"/>
                <a:cs typeface="Calibri" pitchFamily="34" charset="-120"/>
              </a:rPr>
              <a:t>Sep ·so far</a:t>
            </a:r>
            <a:endParaRPr lang="en-US" sz="1000" dirty="0"/>
          </a:p>
        </p:txBody>
      </p:sp>
      <p:sp>
        <p:nvSpPr>
          <p:cNvPr id="26" name="Text 24"/>
          <p:cNvSpPr/>
          <p:nvPr/>
        </p:nvSpPr>
        <p:spPr>
          <a:xfrm>
            <a:off x="3900830" y="3602736"/>
            <a:ext cx="1007669"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33.7 kg</a:t>
            </a:r>
            <a:endParaRPr lang="en-US" sz="1300" dirty="0"/>
          </a:p>
        </p:txBody>
      </p:sp>
      <p:sp>
        <p:nvSpPr>
          <p:cNvPr id="27" name="Text 25"/>
          <p:cNvSpPr/>
          <p:nvPr/>
        </p:nvSpPr>
        <p:spPr>
          <a:xfrm>
            <a:off x="3900830" y="3913632"/>
            <a:ext cx="1007669" cy="274320"/>
          </a:xfrm>
          <a:prstGeom prst="rect">
            <a:avLst/>
          </a:prstGeom>
          <a:noFill/>
          <a:ln/>
        </p:spPr>
        <p:txBody>
          <a:bodyPr wrap="square" lIns="0" tIns="0" rIns="0" bIns="0" rtlCol="0" anchor="ctr"/>
          <a:lstStyle/>
          <a:p>
            <a:pPr algn="ctr" indent="0" marL="0">
              <a:buNone/>
            </a:pPr>
            <a:r>
              <a:rPr lang="en-US" sz="900" dirty="0">
                <a:solidFill>
                  <a:srgbClr val="D9E4D3"/>
                </a:solidFill>
                <a:latin typeface="Calibri" pitchFamily="34" charset="0"/>
                <a:ea typeface="Calibri" pitchFamily="34" charset="-122"/>
                <a:cs typeface="Calibri" pitchFamily="34" charset="-120"/>
              </a:rPr>
              <a:t>of 324 kg target</a:t>
            </a:r>
            <a:endParaRPr lang="en-US" sz="900" dirty="0"/>
          </a:p>
        </p:txBody>
      </p:sp>
      <p:sp>
        <p:nvSpPr>
          <p:cNvPr id="28" name="Shape 26"/>
          <p:cNvSpPr/>
          <p:nvPr/>
        </p:nvSpPr>
        <p:spPr>
          <a:xfrm>
            <a:off x="5018227" y="3291840"/>
            <a:ext cx="1007669" cy="960120"/>
          </a:xfrm>
          <a:prstGeom prst="roundRect">
            <a:avLst>
              <a:gd name="adj" fmla="val 5714"/>
            </a:avLst>
          </a:prstGeom>
          <a:solidFill>
            <a:srgbClr val="F4F7F2"/>
          </a:solidFill>
          <a:ln/>
        </p:spPr>
      </p:sp>
      <p:sp>
        <p:nvSpPr>
          <p:cNvPr id="29" name="Text 27"/>
          <p:cNvSpPr/>
          <p:nvPr/>
        </p:nvSpPr>
        <p:spPr>
          <a:xfrm>
            <a:off x="5018227"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Oct</a:t>
            </a:r>
            <a:endParaRPr lang="en-US" sz="1000" dirty="0"/>
          </a:p>
        </p:txBody>
      </p:sp>
      <p:sp>
        <p:nvSpPr>
          <p:cNvPr id="30" name="Text 28"/>
          <p:cNvSpPr/>
          <p:nvPr/>
        </p:nvSpPr>
        <p:spPr>
          <a:xfrm>
            <a:off x="5018227"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382 kg</a:t>
            </a:r>
            <a:endParaRPr lang="en-US" sz="1300" dirty="0"/>
          </a:p>
        </p:txBody>
      </p:sp>
      <p:sp>
        <p:nvSpPr>
          <p:cNvPr id="31" name="Text 29"/>
          <p:cNvSpPr/>
          <p:nvPr/>
        </p:nvSpPr>
        <p:spPr>
          <a:xfrm>
            <a:off x="5018227"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32" name="Shape 30"/>
          <p:cNvSpPr/>
          <p:nvPr/>
        </p:nvSpPr>
        <p:spPr>
          <a:xfrm>
            <a:off x="6135624" y="3291840"/>
            <a:ext cx="1007669" cy="960120"/>
          </a:xfrm>
          <a:prstGeom prst="roundRect">
            <a:avLst>
              <a:gd name="adj" fmla="val 5714"/>
            </a:avLst>
          </a:prstGeom>
          <a:solidFill>
            <a:srgbClr val="F4F7F2"/>
          </a:solidFill>
          <a:ln/>
        </p:spPr>
      </p:sp>
      <p:sp>
        <p:nvSpPr>
          <p:cNvPr id="33" name="Text 31"/>
          <p:cNvSpPr/>
          <p:nvPr/>
        </p:nvSpPr>
        <p:spPr>
          <a:xfrm>
            <a:off x="6135624"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Nov</a:t>
            </a:r>
            <a:endParaRPr lang="en-US" sz="1000" dirty="0"/>
          </a:p>
        </p:txBody>
      </p:sp>
      <p:sp>
        <p:nvSpPr>
          <p:cNvPr id="34" name="Text 32"/>
          <p:cNvSpPr/>
          <p:nvPr/>
        </p:nvSpPr>
        <p:spPr>
          <a:xfrm>
            <a:off x="6135624"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440 kg</a:t>
            </a:r>
            <a:endParaRPr lang="en-US" sz="1300" dirty="0"/>
          </a:p>
        </p:txBody>
      </p:sp>
      <p:sp>
        <p:nvSpPr>
          <p:cNvPr id="35" name="Text 33"/>
          <p:cNvSpPr/>
          <p:nvPr/>
        </p:nvSpPr>
        <p:spPr>
          <a:xfrm>
            <a:off x="6135624"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36" name="Shape 34"/>
          <p:cNvSpPr/>
          <p:nvPr/>
        </p:nvSpPr>
        <p:spPr>
          <a:xfrm>
            <a:off x="7253021" y="3291840"/>
            <a:ext cx="1007669" cy="960120"/>
          </a:xfrm>
          <a:prstGeom prst="roundRect">
            <a:avLst>
              <a:gd name="adj" fmla="val 5714"/>
            </a:avLst>
          </a:prstGeom>
          <a:solidFill>
            <a:srgbClr val="F4F7F2"/>
          </a:solidFill>
          <a:ln/>
        </p:spPr>
      </p:sp>
      <p:sp>
        <p:nvSpPr>
          <p:cNvPr id="37" name="Text 35"/>
          <p:cNvSpPr/>
          <p:nvPr/>
        </p:nvSpPr>
        <p:spPr>
          <a:xfrm>
            <a:off x="7253021"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Dec</a:t>
            </a:r>
            <a:endParaRPr lang="en-US" sz="1000" dirty="0"/>
          </a:p>
        </p:txBody>
      </p:sp>
      <p:sp>
        <p:nvSpPr>
          <p:cNvPr id="38" name="Text 36"/>
          <p:cNvSpPr/>
          <p:nvPr/>
        </p:nvSpPr>
        <p:spPr>
          <a:xfrm>
            <a:off x="7253021"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498 kg</a:t>
            </a:r>
            <a:endParaRPr lang="en-US" sz="1300" dirty="0"/>
          </a:p>
        </p:txBody>
      </p:sp>
      <p:sp>
        <p:nvSpPr>
          <p:cNvPr id="39" name="Text 37"/>
          <p:cNvSpPr/>
          <p:nvPr/>
        </p:nvSpPr>
        <p:spPr>
          <a:xfrm>
            <a:off x="7253021"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40" name="Shape 38"/>
          <p:cNvSpPr/>
          <p:nvPr/>
        </p:nvSpPr>
        <p:spPr>
          <a:xfrm>
            <a:off x="8370418" y="3291840"/>
            <a:ext cx="1007669" cy="960120"/>
          </a:xfrm>
          <a:prstGeom prst="roundRect">
            <a:avLst>
              <a:gd name="adj" fmla="val 5714"/>
            </a:avLst>
          </a:prstGeom>
          <a:solidFill>
            <a:srgbClr val="F4F7F2"/>
          </a:solidFill>
          <a:ln/>
        </p:spPr>
      </p:sp>
      <p:sp>
        <p:nvSpPr>
          <p:cNvPr id="41" name="Text 39"/>
          <p:cNvSpPr/>
          <p:nvPr/>
        </p:nvSpPr>
        <p:spPr>
          <a:xfrm>
            <a:off x="8370418"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Jan</a:t>
            </a:r>
            <a:endParaRPr lang="en-US" sz="1000" dirty="0"/>
          </a:p>
        </p:txBody>
      </p:sp>
      <p:sp>
        <p:nvSpPr>
          <p:cNvPr id="42" name="Text 40"/>
          <p:cNvSpPr/>
          <p:nvPr/>
        </p:nvSpPr>
        <p:spPr>
          <a:xfrm>
            <a:off x="8370418"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556 kg</a:t>
            </a:r>
            <a:endParaRPr lang="en-US" sz="1300" dirty="0"/>
          </a:p>
        </p:txBody>
      </p:sp>
      <p:sp>
        <p:nvSpPr>
          <p:cNvPr id="43" name="Text 41"/>
          <p:cNvSpPr/>
          <p:nvPr/>
        </p:nvSpPr>
        <p:spPr>
          <a:xfrm>
            <a:off x="8370418"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44" name="Shape 42"/>
          <p:cNvSpPr/>
          <p:nvPr/>
        </p:nvSpPr>
        <p:spPr>
          <a:xfrm>
            <a:off x="9487814" y="3291840"/>
            <a:ext cx="1007669" cy="960120"/>
          </a:xfrm>
          <a:prstGeom prst="roundRect">
            <a:avLst>
              <a:gd name="adj" fmla="val 5714"/>
            </a:avLst>
          </a:prstGeom>
          <a:solidFill>
            <a:srgbClr val="F4F7F2"/>
          </a:solidFill>
          <a:ln/>
        </p:spPr>
      </p:sp>
      <p:sp>
        <p:nvSpPr>
          <p:cNvPr id="45" name="Text 43"/>
          <p:cNvSpPr/>
          <p:nvPr/>
        </p:nvSpPr>
        <p:spPr>
          <a:xfrm>
            <a:off x="9487814"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Feb</a:t>
            </a:r>
            <a:endParaRPr lang="en-US" sz="1000" dirty="0"/>
          </a:p>
        </p:txBody>
      </p:sp>
      <p:sp>
        <p:nvSpPr>
          <p:cNvPr id="46" name="Text 44"/>
          <p:cNvSpPr/>
          <p:nvPr/>
        </p:nvSpPr>
        <p:spPr>
          <a:xfrm>
            <a:off x="9487814"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614 kg</a:t>
            </a:r>
            <a:endParaRPr lang="en-US" sz="1300" dirty="0"/>
          </a:p>
        </p:txBody>
      </p:sp>
      <p:sp>
        <p:nvSpPr>
          <p:cNvPr id="47" name="Text 45"/>
          <p:cNvSpPr/>
          <p:nvPr/>
        </p:nvSpPr>
        <p:spPr>
          <a:xfrm>
            <a:off x="9487814"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48" name="Shape 46"/>
          <p:cNvSpPr/>
          <p:nvPr/>
        </p:nvSpPr>
        <p:spPr>
          <a:xfrm>
            <a:off x="10605211" y="3291840"/>
            <a:ext cx="1007669" cy="960120"/>
          </a:xfrm>
          <a:prstGeom prst="roundRect">
            <a:avLst>
              <a:gd name="adj" fmla="val 5714"/>
            </a:avLst>
          </a:prstGeom>
          <a:solidFill>
            <a:srgbClr val="F4F7F2"/>
          </a:solidFill>
          <a:ln/>
        </p:spPr>
      </p:sp>
      <p:sp>
        <p:nvSpPr>
          <p:cNvPr id="49" name="Text 47"/>
          <p:cNvSpPr/>
          <p:nvPr/>
        </p:nvSpPr>
        <p:spPr>
          <a:xfrm>
            <a:off x="10605211"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Mar</a:t>
            </a:r>
            <a:endParaRPr lang="en-US" sz="1000" dirty="0"/>
          </a:p>
        </p:txBody>
      </p:sp>
      <p:sp>
        <p:nvSpPr>
          <p:cNvPr id="50" name="Text 48"/>
          <p:cNvSpPr/>
          <p:nvPr/>
        </p:nvSpPr>
        <p:spPr>
          <a:xfrm>
            <a:off x="10605211"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672 kg</a:t>
            </a:r>
            <a:endParaRPr lang="en-US" sz="1300" dirty="0"/>
          </a:p>
        </p:txBody>
      </p:sp>
      <p:sp>
        <p:nvSpPr>
          <p:cNvPr id="51" name="Text 49"/>
          <p:cNvSpPr/>
          <p:nvPr/>
        </p:nvSpPr>
        <p:spPr>
          <a:xfrm>
            <a:off x="10605211"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52" name="Shape 50"/>
          <p:cNvSpPr/>
          <p:nvPr/>
        </p:nvSpPr>
        <p:spPr>
          <a:xfrm>
            <a:off x="548640" y="4526280"/>
            <a:ext cx="11064240" cy="777240"/>
          </a:xfrm>
          <a:prstGeom prst="roundRect">
            <a:avLst>
              <a:gd name="adj" fmla="val 7059"/>
            </a:avLst>
          </a:prstGeom>
          <a:solidFill>
            <a:srgbClr val="F4F7F2"/>
          </a:solidFill>
          <a:ln/>
        </p:spPr>
      </p:sp>
      <p:sp>
        <p:nvSpPr>
          <p:cNvPr id="53" name="Shape 51"/>
          <p:cNvSpPr/>
          <p:nvPr/>
        </p:nvSpPr>
        <p:spPr>
          <a:xfrm>
            <a:off x="777240" y="4690872"/>
            <a:ext cx="457200" cy="457200"/>
          </a:xfrm>
          <a:prstGeom prst="ellipse">
            <a:avLst/>
          </a:prstGeom>
          <a:solidFill>
            <a:srgbClr val="3C6034"/>
          </a:solidFill>
          <a:ln/>
        </p:spPr>
      </p:sp>
      <p:pic>
        <p:nvPicPr>
          <p:cNvPr id="54" name="Image 0" descr="preencoded.png">    </p:cNvPr>
          <p:cNvPicPr>
            <a:picLocks noChangeAspect="1"/>
          </p:cNvPicPr>
          <p:nvPr/>
        </p:nvPicPr>
        <p:blipFill>
          <a:blip r:embed="rId1"/>
          <a:stretch>
            <a:fillRect/>
          </a:stretch>
        </p:blipFill>
        <p:spPr>
          <a:xfrm>
            <a:off x="886968" y="4800600"/>
            <a:ext cx="237744" cy="237744"/>
          </a:xfrm>
          <a:prstGeom prst="rect">
            <a:avLst/>
          </a:prstGeom>
        </p:spPr>
      </p:pic>
      <p:sp>
        <p:nvSpPr>
          <p:cNvPr id="55" name="Text 52"/>
          <p:cNvSpPr/>
          <p:nvPr/>
        </p:nvSpPr>
        <p:spPr>
          <a:xfrm>
            <a:off x="1417320" y="4645152"/>
            <a:ext cx="9875520" cy="548640"/>
          </a:xfrm>
          <a:prstGeom prst="rect">
            <a:avLst/>
          </a:prstGeom>
          <a:noFill/>
          <a:ln/>
        </p:spPr>
        <p:txBody>
          <a:bodyPr wrap="square" lIns="0" tIns="0" rIns="0" bIns="0" rtlCol="0" anchor="ctr"/>
          <a:lstStyle/>
          <a:p>
            <a:pPr indent="0" marL="0">
              <a:buNone/>
            </a:pPr>
            <a:r>
              <a:rPr lang="en-US" sz="1300" b="1" dirty="0">
                <a:solidFill>
                  <a:srgbClr val="3C6034"/>
                </a:solidFill>
                <a:latin typeface="Calibri" pitchFamily="34" charset="0"/>
                <a:ea typeface="Calibri" pitchFamily="34" charset="-122"/>
                <a:cs typeface="Calibri" pitchFamily="34" charset="-120"/>
              </a:rPr>
              <a:t>Vision for the year</a:t>
            </a:r>
            <a:endParaRPr lang="en-US" sz="1300" dirty="0"/>
          </a:p>
          <a:p>
            <a:pPr indent="0" marL="0">
              <a:buNone/>
            </a:pPr>
            <a:r>
              <a:rPr lang="en-US" sz="1200" dirty="0">
                <a:solidFill>
                  <a:srgbClr val="20291F"/>
                </a:solidFill>
                <a:latin typeface="Calibri" pitchFamily="34" charset="0"/>
                <a:ea typeface="Calibri" pitchFamily="34" charset="-122"/>
                <a:cs typeface="Calibri" pitchFamily="34" charset="-120"/>
              </a:rPr>
              <a:t>At the +58kg/month pace, monthly shipments reach 672 kg by March 2027 — about 6 months from now, roughly 4.5x June 2026's 150.5 kg anchor.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No Order in 21+ Days</a:t>
            </a:r>
            <a:endParaRPr lang="en-US" sz="3000" dirty="0"/>
          </a:p>
        </p:txBody>
      </p:sp>
      <p:sp>
        <p:nvSpPr>
          <p:cNvPr id="3" name="Text 1"/>
          <p:cNvSpPr/>
          <p:nvPr/>
        </p:nvSpPr>
        <p:spPr>
          <a:xfrm>
            <a:off x="548640" y="960120"/>
            <a:ext cx="10058400" cy="365760"/>
          </a:xfrm>
          <a:prstGeom prst="rect">
            <a:avLst/>
          </a:prstGeom>
          <a:noFill/>
          <a:ln/>
        </p:spPr>
        <p:txBody>
          <a:bodyPr wrap="square" lIns="0" tIns="0" rIns="0" bIns="0" rtlCol="0" anchor="ctr"/>
          <a:lstStyle/>
          <a:p>
            <a:pPr indent="0" marL="0">
              <a:buNone/>
            </a:pPr>
            <a:r>
              <a:rPr lang="en-US" sz="1300" i="1" dirty="0">
                <a:solidFill>
                  <a:srgbClr val="6E7568"/>
                </a:solidFill>
                <a:latin typeface="Calibri" pitchFamily="34" charset="0"/>
                <a:ea typeface="Calibri" pitchFamily="34" charset="-122"/>
                <a:cs typeface="Calibri" pitchFamily="34" charset="-120"/>
              </a:rPr>
              <a:t>Follow-up candidates — not a churn verdict, just a nudge to reach out.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6675120"/>
                <a:gridCol w="2651760"/>
                <a:gridCol w="1737360"/>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Café</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Last order</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Days since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KITH, LEICESTER</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2026-06-15</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84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Forrest Coffee, Warwickshire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2026-06-15</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84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Village Bakery</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2026-06-16</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83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Chiya, Canterbury</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2026-06-16</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83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Roots, London</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2026-06-17</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82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Ours, Faversham</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2026-06-17</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82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With Milk Cafe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2026-06-22</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77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Jenna Armitage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2026-06-22</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77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5" name="Shape 2"/>
          <p:cNvSpPr/>
          <p:nvPr/>
        </p:nvSpPr>
        <p:spPr>
          <a:xfrm>
            <a:off x="548640" y="5422392"/>
            <a:ext cx="11064240" cy="777240"/>
          </a:xfrm>
          <a:prstGeom prst="roundRect">
            <a:avLst>
              <a:gd name="adj" fmla="val 7059"/>
            </a:avLst>
          </a:prstGeom>
          <a:solidFill>
            <a:srgbClr val="F4F7F2"/>
          </a:solidFill>
          <a:ln/>
        </p:spPr>
      </p:sp>
      <p:sp>
        <p:nvSpPr>
          <p:cNvPr id="6" name="Shape 3"/>
          <p:cNvSpPr/>
          <p:nvPr/>
        </p:nvSpPr>
        <p:spPr>
          <a:xfrm>
            <a:off x="777240" y="5586984"/>
            <a:ext cx="457200" cy="457200"/>
          </a:xfrm>
          <a:prstGeom prst="ellipse">
            <a:avLst/>
          </a:prstGeom>
          <a:solidFill>
            <a:srgbClr val="3C6034"/>
          </a:solidFill>
          <a:ln/>
        </p:spPr>
      </p:sp>
      <p:pic>
        <p:nvPicPr>
          <p:cNvPr id="7" name="Image 0" descr="preencoded.png">    </p:cNvPr>
          <p:cNvPicPr>
            <a:picLocks noChangeAspect="1"/>
          </p:cNvPicPr>
          <p:nvPr/>
        </p:nvPicPr>
        <p:blipFill>
          <a:blip r:embed="rId1"/>
          <a:stretch>
            <a:fillRect/>
          </a:stretch>
        </p:blipFill>
        <p:spPr>
          <a:xfrm>
            <a:off x="886968" y="5696712"/>
            <a:ext cx="237744" cy="237744"/>
          </a:xfrm>
          <a:prstGeom prst="rect">
            <a:avLst/>
          </a:prstGeom>
        </p:spPr>
      </p:pic>
      <p:sp>
        <p:nvSpPr>
          <p:cNvPr id="8" name="Text 4"/>
          <p:cNvSpPr/>
          <p:nvPr/>
        </p:nvSpPr>
        <p:spPr>
          <a:xfrm>
            <a:off x="1417320" y="5541264"/>
            <a:ext cx="9966960" cy="548640"/>
          </a:xfrm>
          <a:prstGeom prst="rect">
            <a:avLst/>
          </a:prstGeom>
          <a:noFill/>
          <a:ln/>
        </p:spPr>
        <p:txBody>
          <a:bodyPr wrap="square" lIns="0" tIns="0" rIns="0" bIns="0" rtlCol="0" anchor="ctr"/>
          <a:lstStyle/>
          <a:p>
            <a:pPr indent="0" marL="0">
              <a:buNone/>
            </a:pPr>
            <a:r>
              <a:rPr lang="en-US" sz="1300" b="1" dirty="0">
                <a:solidFill>
                  <a:srgbClr val="20291F"/>
                </a:solidFill>
                <a:latin typeface="Calibri" pitchFamily="34" charset="0"/>
                <a:ea typeface="Calibri" pitchFamily="34" charset="-122"/>
                <a:cs typeface="Calibri" pitchFamily="34" charset="-120"/>
              </a:rPr>
              <a:t>7 of 15 active partners this month</a:t>
            </a:r>
            <a:endParaRPr lang="en-US" sz="1300" dirty="0"/>
          </a:p>
          <a:p>
            <a:pPr indent="0" marL="0">
              <a:buNone/>
            </a:pPr>
            <a:r>
              <a:rPr lang="en-US" sz="1200" dirty="0">
                <a:solidFill>
                  <a:srgbClr val="6E7568"/>
                </a:solidFill>
                <a:latin typeface="Calibri" pitchFamily="34" charset="0"/>
                <a:ea typeface="Calibri" pitchFamily="34" charset="-122"/>
                <a:cs typeface="Calibri" pitchFamily="34" charset="-120"/>
              </a:rPr>
              <a:t>47% have ordered within the last 21 days — this list is the exception, not the norm.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Insights &amp; How to Improve</a:t>
            </a:r>
            <a:endParaRPr lang="en-US" sz="3000" dirty="0"/>
          </a:p>
        </p:txBody>
      </p:sp>
      <p:sp>
        <p:nvSpPr>
          <p:cNvPr id="3" name="Text 1"/>
          <p:cNvSpPr/>
          <p:nvPr/>
        </p:nvSpPr>
        <p:spPr>
          <a:xfrm>
            <a:off x="548640" y="960120"/>
            <a:ext cx="10972800" cy="365760"/>
          </a:xfrm>
          <a:prstGeom prst="rect">
            <a:avLst/>
          </a:prstGeom>
          <a:noFill/>
          <a:ln/>
        </p:spPr>
        <p:txBody>
          <a:bodyPr wrap="square" lIns="0" tIns="0" rIns="0" bIns="0" rtlCol="0" anchor="ctr"/>
          <a:lstStyle/>
          <a:p>
            <a:pPr indent="0" marL="0">
              <a:buNone/>
            </a:pPr>
            <a:r>
              <a:rPr lang="en-US" sz="1250" i="1" dirty="0">
                <a:solidFill>
                  <a:srgbClr val="6E7568"/>
                </a:solidFill>
                <a:latin typeface="Calibri" pitchFamily="34" charset="0"/>
                <a:ea typeface="Calibri" pitchFamily="34" charset="-122"/>
                <a:cs typeface="Calibri" pitchFamily="34" charset="-120"/>
              </a:rPr>
              <a:t>Grounded in this week's and this month's actual CRM numbers — what's working and what needs attention.</a:t>
            </a:r>
            <a:endParaRPr lang="en-US" sz="1250" dirty="0"/>
          </a:p>
        </p:txBody>
      </p:sp>
      <p:sp>
        <p:nvSpPr>
          <p:cNvPr id="4" name="Shape 2"/>
          <p:cNvSpPr/>
          <p:nvPr/>
        </p:nvSpPr>
        <p:spPr>
          <a:xfrm>
            <a:off x="548640" y="1417320"/>
            <a:ext cx="11064240" cy="841248"/>
          </a:xfrm>
          <a:prstGeom prst="roundRect">
            <a:avLst>
              <a:gd name="adj" fmla="val 6522"/>
            </a:avLst>
          </a:prstGeom>
          <a:solidFill>
            <a:srgbClr val="F4F7F2"/>
          </a:solidFill>
          <a:ln/>
        </p:spPr>
      </p:sp>
      <p:sp>
        <p:nvSpPr>
          <p:cNvPr id="5" name="Shape 3"/>
          <p:cNvSpPr/>
          <p:nvPr/>
        </p:nvSpPr>
        <p:spPr>
          <a:xfrm>
            <a:off x="777240" y="1600200"/>
            <a:ext cx="420624" cy="420624"/>
          </a:xfrm>
          <a:prstGeom prst="ellipse">
            <a:avLst/>
          </a:prstGeom>
          <a:solidFill>
            <a:srgbClr val="6E7568"/>
          </a:solidFill>
          <a:ln/>
        </p:spPr>
      </p:sp>
      <p:pic>
        <p:nvPicPr>
          <p:cNvPr id="6" name="Image 0" descr="preencoded.png">    </p:cNvPr>
          <p:cNvPicPr>
            <a:picLocks noChangeAspect="1"/>
          </p:cNvPicPr>
          <p:nvPr/>
        </p:nvPicPr>
        <p:blipFill>
          <a:blip r:embed="rId1"/>
          <a:stretch>
            <a:fillRect/>
          </a:stretch>
        </p:blipFill>
        <p:spPr>
          <a:xfrm>
            <a:off x="886968" y="1709928"/>
            <a:ext cx="201168" cy="201168"/>
          </a:xfrm>
          <a:prstGeom prst="rect">
            <a:avLst/>
          </a:prstGeom>
        </p:spPr>
      </p:pic>
      <p:sp>
        <p:nvSpPr>
          <p:cNvPr id="7" name="Text 4"/>
          <p:cNvSpPr/>
          <p:nvPr/>
        </p:nvSpPr>
        <p:spPr>
          <a:xfrm>
            <a:off x="1417320" y="1527048"/>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Outstanding is a bigger share than usual, but nothing's overdue</a:t>
            </a:r>
            <a:endParaRPr lang="en-US" sz="1450" dirty="0"/>
          </a:p>
        </p:txBody>
      </p:sp>
      <p:sp>
        <p:nvSpPr>
          <p:cNvPr id="8" name="Text 5"/>
          <p:cNvSpPr/>
          <p:nvPr/>
        </p:nvSpPr>
        <p:spPr>
          <a:xfrm>
            <a:off x="1417320" y="1856232"/>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£2,937 outstanding on £4,896 invoiced this week (60%) is a larger share than typical, but none of it is 30+ days overdue yet — this is about the trend, not a verdict. Worth a light nudge on the newer unpaid invoices before they age.</a:t>
            </a:r>
            <a:endParaRPr lang="en-US" sz="1150" dirty="0"/>
          </a:p>
        </p:txBody>
      </p:sp>
      <p:sp>
        <p:nvSpPr>
          <p:cNvPr id="9" name="Shape 6"/>
          <p:cNvSpPr/>
          <p:nvPr/>
        </p:nvSpPr>
        <p:spPr>
          <a:xfrm>
            <a:off x="548640" y="2441448"/>
            <a:ext cx="11064240" cy="841248"/>
          </a:xfrm>
          <a:prstGeom prst="roundRect">
            <a:avLst>
              <a:gd name="adj" fmla="val 6522"/>
            </a:avLst>
          </a:prstGeom>
          <a:solidFill>
            <a:srgbClr val="F4F7F2"/>
          </a:solidFill>
          <a:ln/>
        </p:spPr>
      </p:sp>
      <p:sp>
        <p:nvSpPr>
          <p:cNvPr id="10" name="Shape 7"/>
          <p:cNvSpPr/>
          <p:nvPr/>
        </p:nvSpPr>
        <p:spPr>
          <a:xfrm>
            <a:off x="777240" y="2624328"/>
            <a:ext cx="420624" cy="420624"/>
          </a:xfrm>
          <a:prstGeom prst="ellipse">
            <a:avLst/>
          </a:prstGeom>
          <a:solidFill>
            <a:srgbClr val="C99A3A"/>
          </a:solidFill>
          <a:ln/>
        </p:spPr>
      </p:sp>
      <p:pic>
        <p:nvPicPr>
          <p:cNvPr id="11" name="Image 1" descr="preencoded.png">    </p:cNvPr>
          <p:cNvPicPr>
            <a:picLocks noChangeAspect="1"/>
          </p:cNvPicPr>
          <p:nvPr/>
        </p:nvPicPr>
        <p:blipFill>
          <a:blip r:embed="rId2"/>
          <a:stretch>
            <a:fillRect/>
          </a:stretch>
        </p:blipFill>
        <p:spPr>
          <a:xfrm>
            <a:off x="886968" y="2734056"/>
            <a:ext cx="201168" cy="201168"/>
          </a:xfrm>
          <a:prstGeom prst="rect">
            <a:avLst/>
          </a:prstGeom>
        </p:spPr>
      </p:pic>
      <p:sp>
        <p:nvSpPr>
          <p:cNvPr id="12" name="Text 8"/>
          <p:cNvSpPr/>
          <p:nvPr/>
        </p:nvSpPr>
        <p:spPr>
          <a:xfrm>
            <a:off x="1417320" y="2551176"/>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September is 10.4% toward its 324kg floor after 7 days</a:t>
            </a:r>
            <a:endParaRPr lang="en-US" sz="1450" dirty="0"/>
          </a:p>
        </p:txBody>
      </p:sp>
      <p:sp>
        <p:nvSpPr>
          <p:cNvPr id="13" name="Text 9"/>
          <p:cNvSpPr/>
          <p:nvPr/>
        </p:nvSpPr>
        <p:spPr>
          <a:xfrm>
            <a:off x="1417320" y="2880360"/>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33.65kg shipped so far at ~4.8kg/day would land around 144kg for the month. Hitting the 324kg floor needs ~12.6kg/day for the remaining 23 days — about 2.6x the current pace. Repeat volume from this week's top accounts (WE ARE LARDER, Chiya Cafe, KOVA CAFE) is the fastest lever.</a:t>
            </a:r>
            <a:endParaRPr lang="en-US" sz="1150" dirty="0"/>
          </a:p>
        </p:txBody>
      </p:sp>
      <p:sp>
        <p:nvSpPr>
          <p:cNvPr id="14" name="Shape 10"/>
          <p:cNvSpPr/>
          <p:nvPr/>
        </p:nvSpPr>
        <p:spPr>
          <a:xfrm>
            <a:off x="548640" y="3465576"/>
            <a:ext cx="11064240" cy="841248"/>
          </a:xfrm>
          <a:prstGeom prst="roundRect">
            <a:avLst>
              <a:gd name="adj" fmla="val 6522"/>
            </a:avLst>
          </a:prstGeom>
          <a:solidFill>
            <a:srgbClr val="F4F7F2"/>
          </a:solidFill>
          <a:ln/>
        </p:spPr>
      </p:sp>
      <p:sp>
        <p:nvSpPr>
          <p:cNvPr id="15" name="Shape 11"/>
          <p:cNvSpPr/>
          <p:nvPr/>
        </p:nvSpPr>
        <p:spPr>
          <a:xfrm>
            <a:off x="777240" y="3648456"/>
            <a:ext cx="420624" cy="420624"/>
          </a:xfrm>
          <a:prstGeom prst="ellipse">
            <a:avLst/>
          </a:prstGeom>
          <a:solidFill>
            <a:srgbClr val="6E7568"/>
          </a:solidFill>
          <a:ln/>
        </p:spPr>
      </p:sp>
      <p:pic>
        <p:nvPicPr>
          <p:cNvPr id="16" name="Image 2" descr="preencoded.png">    </p:cNvPr>
          <p:cNvPicPr>
            <a:picLocks noChangeAspect="1"/>
          </p:cNvPicPr>
          <p:nvPr/>
        </p:nvPicPr>
        <p:blipFill>
          <a:blip r:embed="rId3"/>
          <a:stretch>
            <a:fillRect/>
          </a:stretch>
        </p:blipFill>
        <p:spPr>
          <a:xfrm>
            <a:off x="886968" y="3758184"/>
            <a:ext cx="201168" cy="201168"/>
          </a:xfrm>
          <a:prstGeom prst="rect">
            <a:avLst/>
          </a:prstGeom>
        </p:spPr>
      </p:pic>
      <p:sp>
        <p:nvSpPr>
          <p:cNvPr id="17" name="Text 12"/>
          <p:cNvSpPr/>
          <p:nvPr/>
        </p:nvSpPr>
        <p:spPr>
          <a:xfrm>
            <a:off x="1417320" y="3575304"/>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Neither July nor August has cleared its own floor yet</a:t>
            </a:r>
            <a:endParaRPr lang="en-US" sz="1450" dirty="0"/>
          </a:p>
        </p:txBody>
      </p:sp>
      <p:sp>
        <p:nvSpPr>
          <p:cNvPr id="18" name="Text 13"/>
          <p:cNvSpPr/>
          <p:nvPr/>
        </p:nvSpPr>
        <p:spPr>
          <a:xfrm>
            <a:off x="1417320" y="3904488"/>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July shipped 134.75kg against a 208kg target and August shipped 204.05kg against 266kg — though August's volume grew 51% month-over-month per the CRM. The +58kg/month step is currently outpacing actual growth, worth watching if September narrows that gap.</a:t>
            </a:r>
            <a:endParaRPr lang="en-US" sz="1150" dirty="0"/>
          </a:p>
        </p:txBody>
      </p:sp>
      <p:sp>
        <p:nvSpPr>
          <p:cNvPr id="19" name="Shape 14"/>
          <p:cNvSpPr/>
          <p:nvPr/>
        </p:nvSpPr>
        <p:spPr>
          <a:xfrm>
            <a:off x="548640" y="4489704"/>
            <a:ext cx="11064240" cy="841248"/>
          </a:xfrm>
          <a:prstGeom prst="roundRect">
            <a:avLst>
              <a:gd name="adj" fmla="val 6522"/>
            </a:avLst>
          </a:prstGeom>
          <a:solidFill>
            <a:srgbClr val="F4F7F2"/>
          </a:solidFill>
          <a:ln/>
        </p:spPr>
      </p:sp>
      <p:sp>
        <p:nvSpPr>
          <p:cNvPr id="20" name="Shape 15"/>
          <p:cNvSpPr/>
          <p:nvPr/>
        </p:nvSpPr>
        <p:spPr>
          <a:xfrm>
            <a:off x="777240" y="4672584"/>
            <a:ext cx="420624" cy="420624"/>
          </a:xfrm>
          <a:prstGeom prst="ellipse">
            <a:avLst/>
          </a:prstGeom>
          <a:solidFill>
            <a:srgbClr val="C99A3A"/>
          </a:solidFill>
          <a:ln/>
        </p:spPr>
      </p:sp>
      <p:pic>
        <p:nvPicPr>
          <p:cNvPr id="21" name="Image 3" descr="preencoded.png">    </p:cNvPr>
          <p:cNvPicPr>
            <a:picLocks noChangeAspect="1"/>
          </p:cNvPicPr>
          <p:nvPr/>
        </p:nvPicPr>
        <p:blipFill>
          <a:blip r:embed="rId4"/>
          <a:stretch>
            <a:fillRect/>
          </a:stretch>
        </p:blipFill>
        <p:spPr>
          <a:xfrm>
            <a:off x="886968" y="4782312"/>
            <a:ext cx="201168" cy="201168"/>
          </a:xfrm>
          <a:prstGeom prst="rect">
            <a:avLst/>
          </a:prstGeom>
        </p:spPr>
      </p:pic>
      <p:sp>
        <p:nvSpPr>
          <p:cNvPr id="22" name="Text 16"/>
          <p:cNvSpPr/>
          <p:nvPr/>
        </p:nvSpPr>
        <p:spPr>
          <a:xfrm>
            <a:off x="1417320" y="4599432"/>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8 cafés have gone quiet since the CRM's first two weeks</a:t>
            </a:r>
            <a:endParaRPr lang="en-US" sz="1450" dirty="0"/>
          </a:p>
        </p:txBody>
      </p:sp>
      <p:sp>
        <p:nvSpPr>
          <p:cNvPr id="23" name="Text 17"/>
          <p:cNvSpPr/>
          <p:nvPr/>
        </p:nvSpPr>
        <p:spPr>
          <a:xfrm>
            <a:off x="1417320" y="4928616"/>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KITH Leicester, Forrest Coffee Warwickshire, Village Bakery, Chiya Canterbury, Roots London, Ours Faversham, With Milk Cafe and Jenna Armitage last ordered 77-84 days ago, all in mid-June — a cluster worth a dedicated re-engagement push. This list is partial since visible order history starts 2026-06-10.</a:t>
            </a:r>
            <a:endParaRPr lang="en-US" sz="1150" dirty="0"/>
          </a:p>
        </p:txBody>
      </p:sp>
      <p:sp>
        <p:nvSpPr>
          <p:cNvPr id="24" name="Shape 18"/>
          <p:cNvSpPr/>
          <p:nvPr/>
        </p:nvSpPr>
        <p:spPr>
          <a:xfrm>
            <a:off x="548640" y="5513832"/>
            <a:ext cx="11064240" cy="841248"/>
          </a:xfrm>
          <a:prstGeom prst="roundRect">
            <a:avLst>
              <a:gd name="adj" fmla="val 6522"/>
            </a:avLst>
          </a:prstGeom>
          <a:solidFill>
            <a:srgbClr val="F4F7F2"/>
          </a:solidFill>
          <a:ln/>
        </p:spPr>
      </p:sp>
      <p:sp>
        <p:nvSpPr>
          <p:cNvPr id="25" name="Shape 19"/>
          <p:cNvSpPr/>
          <p:nvPr/>
        </p:nvSpPr>
        <p:spPr>
          <a:xfrm>
            <a:off x="777240" y="5696712"/>
            <a:ext cx="420624" cy="420624"/>
          </a:xfrm>
          <a:prstGeom prst="ellipse">
            <a:avLst/>
          </a:prstGeom>
          <a:solidFill>
            <a:srgbClr val="3C6034"/>
          </a:solidFill>
          <a:ln/>
        </p:spPr>
      </p:sp>
      <p:pic>
        <p:nvPicPr>
          <p:cNvPr id="26" name="Image 4" descr="preencoded.png">    </p:cNvPr>
          <p:cNvPicPr>
            <a:picLocks noChangeAspect="1"/>
          </p:cNvPicPr>
          <p:nvPr/>
        </p:nvPicPr>
        <p:blipFill>
          <a:blip r:embed="rId5"/>
          <a:stretch>
            <a:fillRect/>
          </a:stretch>
        </p:blipFill>
        <p:spPr>
          <a:xfrm>
            <a:off x="886968" y="5806440"/>
            <a:ext cx="201168" cy="201168"/>
          </a:xfrm>
          <a:prstGeom prst="rect">
            <a:avLst/>
          </a:prstGeom>
        </p:spPr>
      </p:pic>
      <p:sp>
        <p:nvSpPr>
          <p:cNvPr id="27" name="Text 20"/>
          <p:cNvSpPr/>
          <p:nvPr/>
        </p:nvSpPr>
        <p:spPr>
          <a:xfrm>
            <a:off x="1417320" y="5623560"/>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WE ARE LARDER, CARELTON is this week's and this month's top account</a:t>
            </a:r>
            <a:endParaRPr lang="en-US" sz="1450" dirty="0"/>
          </a:p>
        </p:txBody>
      </p:sp>
      <p:sp>
        <p:nvSpPr>
          <p:cNvPr id="28" name="Text 21"/>
          <p:cNvSpPr/>
          <p:nvPr/>
        </p:nvSpPr>
        <p:spPr>
          <a:xfrm>
            <a:off x="1417320" y="5952744"/>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Two 4kg orders placed the same day (£1,200 total) — the strongest single-day volume from any partner this week. Worth a personal thank-you call to help lock in the reorder habit.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Insights &amp; How to Improve (cont.)</a:t>
            </a:r>
            <a:endParaRPr lang="en-US" sz="3000" dirty="0"/>
          </a:p>
        </p:txBody>
      </p:sp>
      <p:sp>
        <p:nvSpPr>
          <p:cNvPr id="3" name="Shape 1"/>
          <p:cNvSpPr/>
          <p:nvPr/>
        </p:nvSpPr>
        <p:spPr>
          <a:xfrm>
            <a:off x="548640" y="1417320"/>
            <a:ext cx="11064240" cy="1051560"/>
          </a:xfrm>
          <a:prstGeom prst="roundRect">
            <a:avLst>
              <a:gd name="adj" fmla="val 5217"/>
            </a:avLst>
          </a:prstGeom>
          <a:solidFill>
            <a:srgbClr val="F4F7F2"/>
          </a:solidFill>
          <a:ln/>
        </p:spPr>
      </p:sp>
      <p:sp>
        <p:nvSpPr>
          <p:cNvPr id="4" name="Shape 2"/>
          <p:cNvSpPr/>
          <p:nvPr/>
        </p:nvSpPr>
        <p:spPr>
          <a:xfrm>
            <a:off x="777240" y="1600200"/>
            <a:ext cx="420624" cy="420624"/>
          </a:xfrm>
          <a:prstGeom prst="ellipse">
            <a:avLst/>
          </a:prstGeom>
          <a:solidFill>
            <a:srgbClr val="6E7568"/>
          </a:solidFill>
          <a:ln/>
        </p:spPr>
      </p:sp>
      <p:pic>
        <p:nvPicPr>
          <p:cNvPr id="5" name="Image 0" descr="preencoded.png">    </p:cNvPr>
          <p:cNvPicPr>
            <a:picLocks noChangeAspect="1"/>
          </p:cNvPicPr>
          <p:nvPr/>
        </p:nvPicPr>
        <p:blipFill>
          <a:blip r:embed="rId1"/>
          <a:stretch>
            <a:fillRect/>
          </a:stretch>
        </p:blipFill>
        <p:spPr>
          <a:xfrm>
            <a:off x="886968" y="1709928"/>
            <a:ext cx="201168" cy="201168"/>
          </a:xfrm>
          <a:prstGeom prst="rect">
            <a:avLst/>
          </a:prstGeom>
        </p:spPr>
      </p:pic>
      <p:sp>
        <p:nvSpPr>
          <p:cNvPr id="6" name="Text 3"/>
          <p:cNvSpPr/>
          <p:nvPr/>
        </p:nvSpPr>
        <p:spPr>
          <a:xfrm>
            <a:off x="1417320" y="1527048"/>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This week's 3 new-account count is unverified</a:t>
            </a:r>
            <a:endParaRPr lang="en-US" sz="1450" dirty="0"/>
          </a:p>
        </p:txBody>
      </p:sp>
      <p:sp>
        <p:nvSpPr>
          <p:cNvPr id="7" name="Text 4"/>
          <p:cNvSpPr/>
          <p:nvPr/>
        </p:nvSpPr>
        <p:spPr>
          <a:xfrm>
            <a:off x="1417320" y="1856232"/>
            <a:ext cx="10058400" cy="640080"/>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The Weekly Log's own New Accounts column reads 3. Cross-checking Raw Partners confirmed the other 12 active cafés this week all have prior order history (not new). WE ARE LARDER, TheMatchaMam and Veloce Coffee fall past the Raw Partners sheet's readable range (truncates around 'M' alphabetically), so their new-vs-existing status genuinely can't be confirmed this run — flagged as pending rather than asserted.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Kyos Matcha B2B Weekly Report — 2026-08-31 to 2026-09-06</dc:title>
  <dc:subject>PptxGenJS Presentation</dc:subject>
  <dc:creator>Kyos Matcha</dc:creator>
  <cp:lastModifiedBy>Kyos Matcha</cp:lastModifiedBy>
  <cp:revision>1</cp:revision>
  <dcterms:created xsi:type="dcterms:W3CDTF">2026-09-07T11:59:49Z</dcterms:created>
  <dcterms:modified xsi:type="dcterms:W3CDTF">2026-09-07T11:59:49Z</dcterms:modified>
</cp:coreProperties>
</file>